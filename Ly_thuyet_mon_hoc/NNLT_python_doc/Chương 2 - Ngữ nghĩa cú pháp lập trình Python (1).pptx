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8" r:id="rId1"/>
  </p:sldMasterIdLst>
  <p:notesMasterIdLst>
    <p:notesMasterId r:id="rId55"/>
  </p:notesMasterIdLst>
  <p:sldIdLst>
    <p:sldId id="256" r:id="rId2"/>
    <p:sldId id="260" r:id="rId3"/>
    <p:sldId id="266" r:id="rId4"/>
    <p:sldId id="269" r:id="rId5"/>
    <p:sldId id="270" r:id="rId6"/>
    <p:sldId id="267" r:id="rId7"/>
    <p:sldId id="258" r:id="rId8"/>
    <p:sldId id="259" r:id="rId9"/>
    <p:sldId id="261" r:id="rId10"/>
    <p:sldId id="271" r:id="rId11"/>
    <p:sldId id="272" r:id="rId12"/>
    <p:sldId id="274" r:id="rId13"/>
    <p:sldId id="273" r:id="rId14"/>
    <p:sldId id="275" r:id="rId15"/>
    <p:sldId id="276" r:id="rId16"/>
    <p:sldId id="277" r:id="rId17"/>
    <p:sldId id="262" r:id="rId18"/>
    <p:sldId id="263" r:id="rId19"/>
    <p:sldId id="278" r:id="rId20"/>
    <p:sldId id="279" r:id="rId21"/>
    <p:sldId id="280" r:id="rId22"/>
    <p:sldId id="281" r:id="rId23"/>
    <p:sldId id="282" r:id="rId24"/>
    <p:sldId id="283" r:id="rId25"/>
    <p:sldId id="284" r:id="rId26"/>
    <p:sldId id="286"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14" r:id="rId47"/>
    <p:sldId id="307" r:id="rId48"/>
    <p:sldId id="308" r:id="rId49"/>
    <p:sldId id="309" r:id="rId50"/>
    <p:sldId id="310" r:id="rId51"/>
    <p:sldId id="311" r:id="rId52"/>
    <p:sldId id="312" r:id="rId53"/>
    <p:sldId id="313"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6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EE440B-F778-4060-A72C-3292A1C34642}" type="datetimeFigureOut">
              <a:rPr lang="en-US" smtClean="0"/>
              <a:t>7/25/2024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3ED28-F11C-47BE-ADA6-47C689138C34}" type="slidenum">
              <a:rPr lang="en-US" smtClean="0"/>
              <a:t>‹#›</a:t>
            </a:fld>
            <a:endParaRPr lang="en-US"/>
          </a:p>
        </p:txBody>
      </p:sp>
    </p:spTree>
    <p:extLst>
      <p:ext uri="{BB962C8B-B14F-4D97-AF65-F5344CB8AC3E}">
        <p14:creationId xmlns:p14="http://schemas.microsoft.com/office/powerpoint/2010/main" val="1440150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13ED28-F11C-47BE-ADA6-47C689138C34}" type="slidenum">
              <a:rPr lang="en-US" smtClean="0"/>
              <a:t>23</a:t>
            </a:fld>
            <a:endParaRPr lang="en-US"/>
          </a:p>
        </p:txBody>
      </p:sp>
    </p:spTree>
    <p:extLst>
      <p:ext uri="{BB962C8B-B14F-4D97-AF65-F5344CB8AC3E}">
        <p14:creationId xmlns:p14="http://schemas.microsoft.com/office/powerpoint/2010/main" val="3462455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Times New Roman" panose="02020603050405020304" pitchFamily="18" charset="0"/>
                <a:cs typeface="Times New Roman" panose="02020603050405020304" pitchFamily="18"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D75DA6-3C6B-4A26-B9D1-6417B8261B78}" type="datetime1">
              <a:rPr lang="en-US" smtClean="0"/>
              <a:t>7/25/2024</a:t>
            </a:fld>
            <a:endParaRPr lang="en-US"/>
          </a:p>
        </p:txBody>
      </p:sp>
      <p:sp>
        <p:nvSpPr>
          <p:cNvPr id="5" name="Footer Placeholder 4"/>
          <p:cNvSpPr>
            <a:spLocks noGrp="1"/>
          </p:cNvSpPr>
          <p:nvPr>
            <p:ph type="ftr" sz="quarter" idx="11"/>
          </p:nvPr>
        </p:nvSpPr>
        <p:spPr/>
        <p:txBody>
          <a:bodyPr/>
          <a:lstStyle/>
          <a:p>
            <a:r>
              <a:rPr lang="en-US"/>
              <a:t>Ngôn ngữ lập trình Python</a:t>
            </a:r>
          </a:p>
        </p:txBody>
      </p:sp>
      <p:sp>
        <p:nvSpPr>
          <p:cNvPr id="6" name="Slide Number Placeholder 5"/>
          <p:cNvSpPr>
            <a:spLocks noGrp="1"/>
          </p:cNvSpPr>
          <p:nvPr>
            <p:ph type="sldNum" sz="quarter" idx="12"/>
          </p:nvPr>
        </p:nvSpPr>
        <p:spPr/>
        <p:txBody>
          <a:bodyPr/>
          <a:lstStyle/>
          <a:p>
            <a:fld id="{D3060201-1C40-4B39-813D-5CD9493BAEE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9979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2500">
                <a:latin typeface="Times New Roman" panose="02020603050405020304" pitchFamily="18" charset="0"/>
                <a:cs typeface="Times New Roman" panose="02020603050405020304" pitchFamily="18" charset="0"/>
              </a:defRPr>
            </a:lvl1pPr>
            <a:lvl2pPr>
              <a:defRPr sz="2500">
                <a:latin typeface="Times New Roman" panose="02020603050405020304" pitchFamily="18" charset="0"/>
                <a:cs typeface="Times New Roman" panose="02020603050405020304" pitchFamily="18" charset="0"/>
              </a:defRPr>
            </a:lvl2pPr>
            <a:lvl3pPr>
              <a:defRPr sz="2500">
                <a:latin typeface="Times New Roman" panose="02020603050405020304" pitchFamily="18" charset="0"/>
                <a:cs typeface="Times New Roman" panose="02020603050405020304" pitchFamily="18" charset="0"/>
              </a:defRPr>
            </a:lvl3pPr>
            <a:lvl4pPr>
              <a:defRPr sz="2500">
                <a:latin typeface="Times New Roman" panose="02020603050405020304" pitchFamily="18" charset="0"/>
                <a:cs typeface="Times New Roman" panose="02020603050405020304" pitchFamily="18" charset="0"/>
              </a:defRPr>
            </a:lvl4pPr>
            <a:lvl5pPr>
              <a:defRPr sz="25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p:cNvSpPr>
            <a:spLocks noGrp="1"/>
          </p:cNvSpPr>
          <p:nvPr>
            <p:ph type="ftr" sz="quarter" idx="11"/>
          </p:nvPr>
        </p:nvSpPr>
        <p:spPr/>
        <p:txBody>
          <a:bodyPr/>
          <a:lstStyle/>
          <a:p>
            <a:r>
              <a:rPr lang="en-US"/>
              <a:t>Ngôn ngữ lập trình Python</a:t>
            </a:r>
          </a:p>
        </p:txBody>
      </p:sp>
      <p:sp>
        <p:nvSpPr>
          <p:cNvPr id="6" name="Slide Number Placeholder 5"/>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309358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D12575-86EC-46A4-9880-1C8F206B1E5E}" type="datetime1">
              <a:rPr lang="en-US" smtClean="0"/>
              <a:t>7/25/2024</a:t>
            </a:fld>
            <a:endParaRPr lang="en-US"/>
          </a:p>
        </p:txBody>
      </p:sp>
      <p:sp>
        <p:nvSpPr>
          <p:cNvPr id="5" name="Footer Placeholder 4"/>
          <p:cNvSpPr>
            <a:spLocks noGrp="1"/>
          </p:cNvSpPr>
          <p:nvPr>
            <p:ph type="ftr" sz="quarter" idx="11"/>
          </p:nvPr>
        </p:nvSpPr>
        <p:spPr/>
        <p:txBody>
          <a:bodyPr/>
          <a:lstStyle/>
          <a:p>
            <a:r>
              <a:rPr lang="en-US"/>
              <a:t>Ngôn ngữ lập trình Python</a:t>
            </a:r>
          </a:p>
        </p:txBody>
      </p:sp>
      <p:sp>
        <p:nvSpPr>
          <p:cNvPr id="6" name="Slide Number Placeholder 5"/>
          <p:cNvSpPr>
            <a:spLocks noGrp="1"/>
          </p:cNvSpPr>
          <p:nvPr>
            <p:ph type="sldNum" sz="quarter" idx="12"/>
          </p:nvPr>
        </p:nvSpPr>
        <p:spPr/>
        <p:txBody>
          <a:bodyPr/>
          <a:lstStyle/>
          <a:p>
            <a:fld id="{D3060201-1C40-4B39-813D-5CD9493BAEE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37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00B2FD-2321-4A0D-8236-F8AF67B5403D}" type="datetime1">
              <a:rPr lang="en-US" smtClean="0"/>
              <a:t>7/25/2024</a:t>
            </a:fld>
            <a:endParaRPr lang="en-US"/>
          </a:p>
        </p:txBody>
      </p:sp>
      <p:sp>
        <p:nvSpPr>
          <p:cNvPr id="6" name="Footer Placeholder 5"/>
          <p:cNvSpPr>
            <a:spLocks noGrp="1"/>
          </p:cNvSpPr>
          <p:nvPr>
            <p:ph type="ftr" sz="quarter" idx="11"/>
          </p:nvPr>
        </p:nvSpPr>
        <p:spPr/>
        <p:txBody>
          <a:bodyPr/>
          <a:lstStyle/>
          <a:p>
            <a:r>
              <a:rPr lang="en-US"/>
              <a:t>Ngôn ngữ lập trình Python</a:t>
            </a:r>
          </a:p>
        </p:txBody>
      </p:sp>
      <p:sp>
        <p:nvSpPr>
          <p:cNvPr id="7" name="Slide Number Placeholder 6"/>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564149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9D0D1C-ECDB-4B55-AC82-3DD51FEACEC0}" type="datetime1">
              <a:rPr lang="en-US" smtClean="0"/>
              <a:t>7/25/2024</a:t>
            </a:fld>
            <a:endParaRPr lang="en-US"/>
          </a:p>
        </p:txBody>
      </p:sp>
      <p:sp>
        <p:nvSpPr>
          <p:cNvPr id="8" name="Footer Placeholder 7"/>
          <p:cNvSpPr>
            <a:spLocks noGrp="1"/>
          </p:cNvSpPr>
          <p:nvPr>
            <p:ph type="ftr" sz="quarter" idx="11"/>
          </p:nvPr>
        </p:nvSpPr>
        <p:spPr/>
        <p:txBody>
          <a:bodyPr/>
          <a:lstStyle/>
          <a:p>
            <a:r>
              <a:rPr lang="en-US"/>
              <a:t>Ngôn ngữ lập trình Python</a:t>
            </a:r>
          </a:p>
        </p:txBody>
      </p:sp>
      <p:sp>
        <p:nvSpPr>
          <p:cNvPr id="9" name="Slide Number Placeholder 8"/>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61655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CBD97C-39F2-4E88-B981-D2C0EEE8972B}" type="datetime1">
              <a:rPr lang="en-US" smtClean="0"/>
              <a:t>7/25/2024</a:t>
            </a:fld>
            <a:endParaRPr lang="en-US"/>
          </a:p>
        </p:txBody>
      </p:sp>
      <p:sp>
        <p:nvSpPr>
          <p:cNvPr id="4" name="Footer Placeholder 3"/>
          <p:cNvSpPr>
            <a:spLocks noGrp="1"/>
          </p:cNvSpPr>
          <p:nvPr>
            <p:ph type="ftr" sz="quarter" idx="11"/>
          </p:nvPr>
        </p:nvSpPr>
        <p:spPr/>
        <p:txBody>
          <a:bodyPr/>
          <a:lstStyle/>
          <a:p>
            <a:r>
              <a:rPr lang="en-US"/>
              <a:t>Ngôn ngữ lập trình Python</a:t>
            </a:r>
          </a:p>
        </p:txBody>
      </p:sp>
      <p:sp>
        <p:nvSpPr>
          <p:cNvPr id="5" name="Slide Number Placeholder 4"/>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524396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2E1E758-B35E-498F-9CB0-3E54F67DD90A}" type="datetime1">
              <a:rPr lang="en-US" smtClean="0"/>
              <a:t>7/25/2024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Ngôn ngữ lập trình Python</a:t>
            </a:r>
          </a:p>
        </p:txBody>
      </p:sp>
      <p:sp>
        <p:nvSpPr>
          <p:cNvPr id="9" name="Slide Number Placeholder 8"/>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96854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AA4F1B2-7C81-4B80-8C4C-E1E9512EDA79}" type="datetime1">
              <a:rPr lang="en-US" smtClean="0"/>
              <a:t>7/25/2024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Ngôn ngữ lập trình Python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3060201-1C40-4B39-813D-5CD9493BAEED}" type="slidenum">
              <a:rPr lang="en-US" smtClean="0"/>
              <a:t>‹#›</a:t>
            </a:fld>
            <a:endParaRPr lang="en-US"/>
          </a:p>
        </p:txBody>
      </p:sp>
    </p:spTree>
    <p:extLst>
      <p:ext uri="{BB962C8B-B14F-4D97-AF65-F5344CB8AC3E}">
        <p14:creationId xmlns:p14="http://schemas.microsoft.com/office/powerpoint/2010/main" val="535589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D1E96F-1EE5-4DEE-96F5-C689C234021A}" type="datetime1">
              <a:rPr lang="en-US" smtClean="0"/>
              <a:t>7/25/2024</a:t>
            </a:fld>
            <a:endParaRPr lang="en-US"/>
          </a:p>
        </p:txBody>
      </p:sp>
      <p:sp>
        <p:nvSpPr>
          <p:cNvPr id="6" name="Footer Placeholder 5"/>
          <p:cNvSpPr>
            <a:spLocks noGrp="1"/>
          </p:cNvSpPr>
          <p:nvPr>
            <p:ph type="ftr" sz="quarter" idx="11"/>
          </p:nvPr>
        </p:nvSpPr>
        <p:spPr/>
        <p:txBody>
          <a:bodyPr/>
          <a:lstStyle/>
          <a:p>
            <a:r>
              <a:rPr lang="en-US"/>
              <a:t>Ngôn ngữ lập trình Python</a:t>
            </a:r>
          </a:p>
        </p:txBody>
      </p:sp>
      <p:sp>
        <p:nvSpPr>
          <p:cNvPr id="7" name="Slide Number Placeholder 6"/>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406315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AF9A7B-E391-430D-A214-FF937744DF35}" type="datetime1">
              <a:rPr lang="en-US" smtClean="0"/>
              <a:t>7/25/2024</a:t>
            </a:fld>
            <a:endParaRPr lang="en-US"/>
          </a:p>
        </p:txBody>
      </p:sp>
      <p:sp>
        <p:nvSpPr>
          <p:cNvPr id="5" name="Footer Placeholder 4"/>
          <p:cNvSpPr>
            <a:spLocks noGrp="1"/>
          </p:cNvSpPr>
          <p:nvPr>
            <p:ph type="ftr" sz="quarter" idx="11"/>
          </p:nvPr>
        </p:nvSpPr>
        <p:spPr/>
        <p:txBody>
          <a:bodyPr/>
          <a:lstStyle/>
          <a:p>
            <a:r>
              <a:rPr lang="en-US"/>
              <a:t>Ngôn ngữ lập trình Python</a:t>
            </a:r>
          </a:p>
        </p:txBody>
      </p:sp>
      <p:sp>
        <p:nvSpPr>
          <p:cNvPr id="6" name="Slide Number Placeholder 5"/>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664870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24D05B-FCC7-4BD0-B141-DB80ED82F81D}" type="datetime1">
              <a:rPr lang="en-US" smtClean="0"/>
              <a:t>7/25/2024</a:t>
            </a:fld>
            <a:endParaRPr lang="en-US"/>
          </a:p>
        </p:txBody>
      </p:sp>
      <p:sp>
        <p:nvSpPr>
          <p:cNvPr id="5" name="Footer Placeholder 4"/>
          <p:cNvSpPr>
            <a:spLocks noGrp="1"/>
          </p:cNvSpPr>
          <p:nvPr>
            <p:ph type="ftr" sz="quarter" idx="11"/>
          </p:nvPr>
        </p:nvSpPr>
        <p:spPr/>
        <p:txBody>
          <a:bodyPr/>
          <a:lstStyle/>
          <a:p>
            <a:r>
              <a:rPr lang="en-US"/>
              <a:t>Ngôn ngữ lập trình Python</a:t>
            </a:r>
          </a:p>
        </p:txBody>
      </p:sp>
      <p:sp>
        <p:nvSpPr>
          <p:cNvPr id="6" name="Slide Number Placeholder 5"/>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999600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9C88A8E-976F-4D3B-95FB-8373A61AF87F}" type="datetime1">
              <a:rPr lang="en-US" smtClean="0"/>
              <a:t>7/25/2024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Ngôn ngữ lập trình Python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3060201-1C40-4B39-813D-5CD9493BAEED}"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270362"/>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879C2-1386-80BF-9707-F9C7494EF5AD}"/>
              </a:ext>
            </a:extLst>
          </p:cNvPr>
          <p:cNvSpPr>
            <a:spLocks noGrp="1"/>
          </p:cNvSpPr>
          <p:nvPr>
            <p:ph type="ctrTitle"/>
          </p:nvPr>
        </p:nvSpPr>
        <p:spPr>
          <a:xfrm>
            <a:off x="838200" y="596644"/>
            <a:ext cx="5500125" cy="3435606"/>
          </a:xfrm>
        </p:spPr>
        <p:txBody>
          <a:bodyPr anchor="b">
            <a:normAutofit/>
          </a:bodyPr>
          <a:lstStyle/>
          <a:p>
            <a:pPr algn="ctr"/>
            <a:r>
              <a:rPr lang="en-US" sz="6000" b="1">
                <a:latin typeface="Times New Roman" panose="02020603050405020304" pitchFamily="18" charset="0"/>
                <a:cs typeface="Times New Roman" panose="02020603050405020304" pitchFamily="18" charset="0"/>
              </a:rPr>
              <a:t>NGÔN NGỮ LẬP TRÌNH PYTHON</a:t>
            </a:r>
          </a:p>
        </p:txBody>
      </p:sp>
      <p:sp>
        <p:nvSpPr>
          <p:cNvPr id="3" name="Subtitle 2">
            <a:extLst>
              <a:ext uri="{FF2B5EF4-FFF2-40B4-BE49-F238E27FC236}">
                <a16:creationId xmlns:a16="http://schemas.microsoft.com/office/drawing/2014/main" id="{CEFC4DF1-88F0-52EF-89F2-248332D896B0}"/>
              </a:ext>
            </a:extLst>
          </p:cNvPr>
          <p:cNvSpPr>
            <a:spLocks noGrp="1"/>
          </p:cNvSpPr>
          <p:nvPr>
            <p:ph type="subTitle" idx="1"/>
          </p:nvPr>
        </p:nvSpPr>
        <p:spPr>
          <a:xfrm>
            <a:off x="838200" y="4298950"/>
            <a:ext cx="5500125" cy="1962406"/>
          </a:xfrm>
        </p:spPr>
        <p:txBody>
          <a:bodyPr>
            <a:normAutofit/>
          </a:bodyPr>
          <a:lstStyle/>
          <a:p>
            <a:r>
              <a:rPr lang="en-US" sz="1800">
                <a:latin typeface="Times New Roman" panose="02020603050405020304" pitchFamily="18" charset="0"/>
                <a:cs typeface="Times New Roman" panose="02020603050405020304" pitchFamily="18" charset="0"/>
              </a:rPr>
              <a:t>Giảng viên: ThS. Huỳnh Thanh Việt</a:t>
            </a:r>
          </a:p>
          <a:p>
            <a:r>
              <a:rPr lang="en-US" sz="1800">
                <a:latin typeface="Times New Roman" panose="02020603050405020304" pitchFamily="18" charset="0"/>
                <a:cs typeface="Times New Roman" panose="02020603050405020304" pitchFamily="18" charset="0"/>
              </a:rPr>
              <a:t>Email	: vietht@ut.edu.vn</a:t>
            </a:r>
          </a:p>
        </p:txBody>
      </p:sp>
      <p:pic>
        <p:nvPicPr>
          <p:cNvPr id="15" name="Picture 14">
            <a:extLst>
              <a:ext uri="{FF2B5EF4-FFF2-40B4-BE49-F238E27FC236}">
                <a16:creationId xmlns:a16="http://schemas.microsoft.com/office/drawing/2014/main" id="{BAC6EB04-ECA4-1049-FE6A-05E772F3ED47}"/>
              </a:ext>
            </a:extLst>
          </p:cNvPr>
          <p:cNvPicPr>
            <a:picLocks noChangeAspect="1"/>
          </p:cNvPicPr>
          <p:nvPr/>
        </p:nvPicPr>
        <p:blipFill>
          <a:blip r:embed="rId2"/>
          <a:stretch>
            <a:fillRect/>
          </a:stretch>
        </p:blipFill>
        <p:spPr>
          <a:xfrm>
            <a:off x="7125018" y="3568187"/>
            <a:ext cx="4127063" cy="2651638"/>
          </a:xfrm>
          <a:prstGeom prst="rect">
            <a:avLst/>
          </a:prstGeom>
        </p:spPr>
      </p:pic>
      <p:pic>
        <p:nvPicPr>
          <p:cNvPr id="5" name="Picture 4">
            <a:extLst>
              <a:ext uri="{FF2B5EF4-FFF2-40B4-BE49-F238E27FC236}">
                <a16:creationId xmlns:a16="http://schemas.microsoft.com/office/drawing/2014/main" id="{036006E7-3708-32EA-5876-FAFB1910101C}"/>
              </a:ext>
            </a:extLst>
          </p:cNvPr>
          <p:cNvPicPr>
            <a:picLocks noChangeAspect="1"/>
          </p:cNvPicPr>
          <p:nvPr/>
        </p:nvPicPr>
        <p:blipFill>
          <a:blip r:embed="rId3"/>
          <a:stretch>
            <a:fillRect/>
          </a:stretch>
        </p:blipFill>
        <p:spPr>
          <a:xfrm>
            <a:off x="7125018" y="599893"/>
            <a:ext cx="4127063" cy="2651638"/>
          </a:xfrm>
          <a:prstGeom prst="rect">
            <a:avLst/>
          </a:prstGeom>
        </p:spPr>
      </p:pic>
    </p:spTree>
    <p:extLst>
      <p:ext uri="{BB962C8B-B14F-4D97-AF65-F5344CB8AC3E}">
        <p14:creationId xmlns:p14="http://schemas.microsoft.com/office/powerpoint/2010/main" val="128699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C423F4-7512-02B5-E6C7-0CDB8B0C89FF}"/>
              </a:ext>
            </a:extLst>
          </p:cNvPr>
          <p:cNvSpPr>
            <a:spLocks noGrp="1"/>
          </p:cNvSpPr>
          <p:nvPr>
            <p:ph type="ctrTitle"/>
          </p:nvPr>
        </p:nvSpPr>
        <p:spPr/>
        <p:txBody>
          <a:bodyPr>
            <a:normAutofit/>
          </a:bodyPr>
          <a:lstStyle/>
          <a:p>
            <a:r>
              <a:rPr lang="en-US" sz="5000"/>
              <a:t>Chương 2:</a:t>
            </a:r>
            <a:br>
              <a:rPr lang="en-US" sz="5000"/>
            </a:br>
            <a:r>
              <a:rPr lang="vi-VN" sz="5000"/>
              <a:t>Ngữ nghĩa cú pháp lập trình Python</a:t>
            </a:r>
            <a:r>
              <a:rPr lang="en-US" sz="5000"/>
              <a:t> </a:t>
            </a:r>
          </a:p>
        </p:txBody>
      </p:sp>
      <p:sp>
        <p:nvSpPr>
          <p:cNvPr id="5" name="Subtitle 4">
            <a:extLst>
              <a:ext uri="{FF2B5EF4-FFF2-40B4-BE49-F238E27FC236}">
                <a16:creationId xmlns:a16="http://schemas.microsoft.com/office/drawing/2014/main" id="{E867ECCC-9B96-58D6-AB22-E96D4886C6E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96166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EBEA2-D48C-BA4A-94E9-64C06DAB73A4}"/>
              </a:ext>
            </a:extLst>
          </p:cNvPr>
          <p:cNvSpPr>
            <a:spLocks noGrp="1"/>
          </p:cNvSpPr>
          <p:nvPr>
            <p:ph type="title"/>
          </p:nvPr>
        </p:nvSpPr>
        <p:spPr/>
        <p:txBody>
          <a:bodyPr/>
          <a:lstStyle/>
          <a:p>
            <a:pPr algn="ctr"/>
            <a:r>
              <a:rPr lang="en-US"/>
              <a:t>Cú pháp ngôn ngữ lập trình Python</a:t>
            </a:r>
          </a:p>
        </p:txBody>
      </p:sp>
      <p:sp>
        <p:nvSpPr>
          <p:cNvPr id="3" name="Content Placeholder 2">
            <a:extLst>
              <a:ext uri="{FF2B5EF4-FFF2-40B4-BE49-F238E27FC236}">
                <a16:creationId xmlns:a16="http://schemas.microsoft.com/office/drawing/2014/main" id="{1A24B456-29E9-E1B8-DA96-245365AFB6FE}"/>
              </a:ext>
            </a:extLst>
          </p:cNvPr>
          <p:cNvSpPr>
            <a:spLocks noGrp="1"/>
          </p:cNvSpPr>
          <p:nvPr>
            <p:ph idx="1"/>
          </p:nvPr>
        </p:nvSpPr>
        <p:spPr>
          <a:xfrm>
            <a:off x="838200" y="1931350"/>
            <a:ext cx="10515600" cy="4236087"/>
          </a:xfrm>
        </p:spPr>
        <p:txBody>
          <a:bodyPr>
            <a:normAutofit/>
          </a:bodyPr>
          <a:lstStyle/>
          <a:p>
            <a:pPr>
              <a:buFont typeface="Wingdings" panose="05000000000000000000" pitchFamily="2" charset="2"/>
              <a:buChar char="v"/>
            </a:pPr>
            <a:r>
              <a:rPr lang="vi-VN" sz="2800" b="1" i="0">
                <a:solidFill>
                  <a:srgbClr val="000000"/>
                </a:solidFill>
                <a:effectLst/>
              </a:rPr>
              <a:t>Phân biệt ký tự thường hoa</a:t>
            </a:r>
            <a:endParaRPr lang="en-US" sz="2800" b="1" i="0">
              <a:solidFill>
                <a:srgbClr val="000000"/>
              </a:solidFill>
              <a:effectLst/>
            </a:endParaRPr>
          </a:p>
          <a:p>
            <a:pPr>
              <a:buFont typeface="Wingdings" panose="05000000000000000000" pitchFamily="2" charset="2"/>
              <a:buChar char="v"/>
            </a:pPr>
            <a:r>
              <a:rPr lang="en-US" sz="2800" b="1" i="0">
                <a:solidFill>
                  <a:srgbClr val="000000"/>
                </a:solidFill>
                <a:effectLst/>
              </a:rPr>
              <a:t>T</a:t>
            </a:r>
            <a:r>
              <a:rPr lang="vi-VN" sz="2800" b="1" i="0">
                <a:solidFill>
                  <a:srgbClr val="000000"/>
                </a:solidFill>
                <a:effectLst/>
              </a:rPr>
              <a:t>ừ khóa của Python</a:t>
            </a:r>
            <a:r>
              <a:rPr lang="en-US" sz="2800" b="1" i="0">
                <a:solidFill>
                  <a:srgbClr val="000000"/>
                </a:solidFill>
                <a:effectLst/>
              </a:rPr>
              <a:t>:</a:t>
            </a:r>
            <a:br>
              <a:rPr lang="vi-VN" sz="2800" b="0" i="0">
                <a:solidFill>
                  <a:srgbClr val="000000"/>
                </a:solidFill>
                <a:effectLst/>
              </a:rPr>
            </a:br>
            <a:r>
              <a:rPr lang="vi-VN" sz="2800" b="1" i="1">
                <a:solidFill>
                  <a:srgbClr val="000000"/>
                </a:solidFill>
                <a:effectLst/>
              </a:rPr>
              <a:t>and</a:t>
            </a:r>
            <a:r>
              <a:rPr lang="en-US" sz="2800" b="1" i="1">
                <a:solidFill>
                  <a:srgbClr val="000000"/>
                </a:solidFill>
                <a:effectLst/>
              </a:rPr>
              <a:t>		</a:t>
            </a:r>
            <a:r>
              <a:rPr lang="vi-VN" sz="2800" b="1" i="1">
                <a:solidFill>
                  <a:srgbClr val="000000"/>
                </a:solidFill>
                <a:effectLst/>
              </a:rPr>
              <a:t>exec </a:t>
            </a:r>
            <a:r>
              <a:rPr lang="en-US" sz="2800" b="1" i="1">
                <a:solidFill>
                  <a:srgbClr val="000000"/>
                </a:solidFill>
                <a:effectLst/>
              </a:rPr>
              <a:t>		</a:t>
            </a:r>
            <a:r>
              <a:rPr lang="vi-VN" sz="2800" b="1" i="1">
                <a:solidFill>
                  <a:srgbClr val="000000"/>
                </a:solidFill>
                <a:effectLst/>
              </a:rPr>
              <a:t>not</a:t>
            </a:r>
            <a:r>
              <a:rPr lang="en-US" sz="2800" b="1" i="1">
                <a:solidFill>
                  <a:srgbClr val="000000"/>
                </a:solidFill>
                <a:effectLst/>
              </a:rPr>
              <a:t> 		</a:t>
            </a:r>
            <a:r>
              <a:rPr lang="vi-VN" sz="2800" b="1" i="1">
                <a:solidFill>
                  <a:srgbClr val="000000"/>
                </a:solidFill>
                <a:effectLst/>
              </a:rPr>
              <a:t>as </a:t>
            </a:r>
            <a:r>
              <a:rPr lang="en-US" sz="2800" b="1" i="1">
                <a:solidFill>
                  <a:srgbClr val="000000"/>
                </a:solidFill>
                <a:effectLst/>
              </a:rPr>
              <a:t>		</a:t>
            </a:r>
            <a:r>
              <a:rPr lang="vi-VN" sz="2800" b="1" i="1">
                <a:solidFill>
                  <a:srgbClr val="000000"/>
                </a:solidFill>
                <a:effectLst/>
              </a:rPr>
              <a:t>finally </a:t>
            </a:r>
            <a:r>
              <a:rPr lang="en-US" sz="2800" b="1" i="1">
                <a:solidFill>
                  <a:srgbClr val="000000"/>
                </a:solidFill>
                <a:effectLst/>
              </a:rPr>
              <a:t>	</a:t>
            </a:r>
            <a:r>
              <a:rPr lang="vi-VN" sz="2800" b="1" i="1">
                <a:solidFill>
                  <a:srgbClr val="000000"/>
                </a:solidFill>
                <a:effectLst/>
              </a:rPr>
              <a:t>or</a:t>
            </a:r>
            <a:br>
              <a:rPr lang="vi-VN" sz="2800" b="1" i="1">
                <a:solidFill>
                  <a:srgbClr val="000000"/>
                </a:solidFill>
                <a:effectLst/>
              </a:rPr>
            </a:br>
            <a:r>
              <a:rPr lang="vi-VN" sz="2800" b="1" i="1">
                <a:solidFill>
                  <a:srgbClr val="000000"/>
                </a:solidFill>
                <a:effectLst/>
              </a:rPr>
              <a:t>assert </a:t>
            </a:r>
            <a:r>
              <a:rPr lang="en-US" sz="2800" b="1" i="1">
                <a:solidFill>
                  <a:srgbClr val="000000"/>
                </a:solidFill>
                <a:effectLst/>
              </a:rPr>
              <a:t>	</a:t>
            </a:r>
            <a:r>
              <a:rPr lang="vi-VN" sz="2800" b="1" i="1">
                <a:solidFill>
                  <a:srgbClr val="000000"/>
                </a:solidFill>
                <a:effectLst/>
              </a:rPr>
              <a:t>for </a:t>
            </a:r>
            <a:r>
              <a:rPr lang="en-US" sz="2800" b="1" i="1">
                <a:solidFill>
                  <a:srgbClr val="000000"/>
                </a:solidFill>
                <a:effectLst/>
              </a:rPr>
              <a:t>		</a:t>
            </a:r>
            <a:r>
              <a:rPr lang="vi-VN" sz="2800" b="1" i="1">
                <a:solidFill>
                  <a:srgbClr val="000000"/>
                </a:solidFill>
                <a:effectLst/>
              </a:rPr>
              <a:t>pass</a:t>
            </a:r>
            <a:r>
              <a:rPr lang="en-US" sz="2800" b="1" i="1">
                <a:solidFill>
                  <a:srgbClr val="000000"/>
                </a:solidFill>
                <a:effectLst/>
              </a:rPr>
              <a:t> 		</a:t>
            </a:r>
            <a:r>
              <a:rPr lang="vi-VN" sz="2800" b="1" i="1">
                <a:solidFill>
                  <a:srgbClr val="000000"/>
                </a:solidFill>
                <a:effectLst/>
              </a:rPr>
              <a:t>break </a:t>
            </a:r>
            <a:r>
              <a:rPr lang="en-US" sz="2800" b="1" i="1">
                <a:solidFill>
                  <a:srgbClr val="000000"/>
                </a:solidFill>
                <a:effectLst/>
              </a:rPr>
              <a:t>	</a:t>
            </a:r>
            <a:r>
              <a:rPr lang="vi-VN" sz="2800" b="1" i="1">
                <a:solidFill>
                  <a:srgbClr val="000000"/>
                </a:solidFill>
                <a:effectLst/>
              </a:rPr>
              <a:t>from </a:t>
            </a:r>
            <a:r>
              <a:rPr lang="en-US" sz="2800" b="1" i="1">
                <a:solidFill>
                  <a:srgbClr val="000000"/>
                </a:solidFill>
                <a:effectLst/>
              </a:rPr>
              <a:t>		</a:t>
            </a:r>
            <a:r>
              <a:rPr lang="vi-VN" sz="2800" b="1" i="1">
                <a:solidFill>
                  <a:srgbClr val="000000"/>
                </a:solidFill>
                <a:effectLst/>
              </a:rPr>
              <a:t>print</a:t>
            </a:r>
            <a:br>
              <a:rPr lang="vi-VN" sz="2800" b="1" i="1">
                <a:solidFill>
                  <a:srgbClr val="000000"/>
                </a:solidFill>
                <a:effectLst/>
              </a:rPr>
            </a:br>
            <a:r>
              <a:rPr lang="vi-VN" sz="2800" b="1" i="1">
                <a:solidFill>
                  <a:srgbClr val="000000"/>
                </a:solidFill>
                <a:effectLst/>
              </a:rPr>
              <a:t>class </a:t>
            </a:r>
            <a:r>
              <a:rPr lang="en-US" sz="2800" b="1" i="1">
                <a:solidFill>
                  <a:srgbClr val="000000"/>
                </a:solidFill>
                <a:effectLst/>
              </a:rPr>
              <a:t>		</a:t>
            </a:r>
            <a:r>
              <a:rPr lang="vi-VN" sz="2800" b="1" i="1">
                <a:solidFill>
                  <a:srgbClr val="000000"/>
                </a:solidFill>
                <a:effectLst/>
              </a:rPr>
              <a:t>global </a:t>
            </a:r>
            <a:r>
              <a:rPr lang="en-US" sz="2800" b="1" i="1">
                <a:solidFill>
                  <a:srgbClr val="000000"/>
                </a:solidFill>
                <a:effectLst/>
              </a:rPr>
              <a:t>	</a:t>
            </a:r>
            <a:r>
              <a:rPr lang="vi-VN" sz="2800" b="1" i="1">
                <a:solidFill>
                  <a:srgbClr val="000000"/>
                </a:solidFill>
                <a:effectLst/>
              </a:rPr>
              <a:t>raise</a:t>
            </a:r>
            <a:r>
              <a:rPr lang="en-US" sz="2800" b="1" i="1">
                <a:solidFill>
                  <a:srgbClr val="000000"/>
                </a:solidFill>
                <a:effectLst/>
              </a:rPr>
              <a:t>		</a:t>
            </a:r>
            <a:r>
              <a:rPr lang="vi-VN" sz="2800" b="1" i="1">
                <a:solidFill>
                  <a:srgbClr val="000000"/>
                </a:solidFill>
                <a:effectLst/>
              </a:rPr>
              <a:t>continue </a:t>
            </a:r>
            <a:r>
              <a:rPr lang="en-US" sz="2800" b="1" i="1">
                <a:solidFill>
                  <a:srgbClr val="000000"/>
                </a:solidFill>
                <a:effectLst/>
              </a:rPr>
              <a:t>	</a:t>
            </a:r>
            <a:r>
              <a:rPr lang="vi-VN" sz="2800" b="1" i="1">
                <a:solidFill>
                  <a:srgbClr val="000000"/>
                </a:solidFill>
                <a:effectLst/>
              </a:rPr>
              <a:t>if </a:t>
            </a:r>
            <a:r>
              <a:rPr lang="en-US" sz="2800" b="1" i="1">
                <a:solidFill>
                  <a:srgbClr val="000000"/>
                </a:solidFill>
                <a:effectLst/>
              </a:rPr>
              <a:t>		</a:t>
            </a:r>
            <a:r>
              <a:rPr lang="vi-VN" sz="2800" b="1" i="1">
                <a:solidFill>
                  <a:srgbClr val="000000"/>
                </a:solidFill>
                <a:effectLst/>
              </a:rPr>
              <a:t>return</a:t>
            </a:r>
            <a:br>
              <a:rPr lang="vi-VN" sz="2800" b="1" i="1">
                <a:solidFill>
                  <a:srgbClr val="000000"/>
                </a:solidFill>
                <a:effectLst/>
              </a:rPr>
            </a:br>
            <a:r>
              <a:rPr lang="vi-VN" sz="2800" b="1" i="1">
                <a:solidFill>
                  <a:srgbClr val="000000"/>
                </a:solidFill>
                <a:effectLst/>
              </a:rPr>
              <a:t>def </a:t>
            </a:r>
            <a:r>
              <a:rPr lang="en-US" sz="2800" b="1" i="1">
                <a:solidFill>
                  <a:srgbClr val="000000"/>
                </a:solidFill>
                <a:effectLst/>
              </a:rPr>
              <a:t>		</a:t>
            </a:r>
            <a:r>
              <a:rPr lang="vi-VN" sz="2800" b="1" i="1">
                <a:solidFill>
                  <a:srgbClr val="000000"/>
                </a:solidFill>
                <a:effectLst/>
              </a:rPr>
              <a:t>import </a:t>
            </a:r>
            <a:r>
              <a:rPr lang="en-US" sz="2800" b="1" i="1">
                <a:solidFill>
                  <a:srgbClr val="000000"/>
                </a:solidFill>
                <a:effectLst/>
              </a:rPr>
              <a:t>	</a:t>
            </a:r>
            <a:r>
              <a:rPr lang="vi-VN" sz="2800" b="1" i="1">
                <a:solidFill>
                  <a:srgbClr val="000000"/>
                </a:solidFill>
                <a:effectLst/>
              </a:rPr>
              <a:t>try</a:t>
            </a:r>
            <a:r>
              <a:rPr lang="en-US" sz="2800" b="1" i="1">
                <a:solidFill>
                  <a:srgbClr val="000000"/>
                </a:solidFill>
                <a:effectLst/>
              </a:rPr>
              <a:t> 		</a:t>
            </a:r>
            <a:r>
              <a:rPr lang="vi-VN" sz="2800" b="1" i="1">
                <a:solidFill>
                  <a:srgbClr val="000000"/>
                </a:solidFill>
                <a:effectLst/>
              </a:rPr>
              <a:t>del </a:t>
            </a:r>
            <a:r>
              <a:rPr lang="en-US" sz="2800" b="1" i="1">
                <a:solidFill>
                  <a:srgbClr val="000000"/>
                </a:solidFill>
                <a:effectLst/>
              </a:rPr>
              <a:t>		</a:t>
            </a:r>
            <a:r>
              <a:rPr lang="vi-VN" sz="2800" b="1" i="1">
                <a:solidFill>
                  <a:srgbClr val="000000"/>
                </a:solidFill>
                <a:effectLst/>
              </a:rPr>
              <a:t>in </a:t>
            </a:r>
            <a:r>
              <a:rPr lang="en-US" sz="2800" b="1" i="1">
                <a:solidFill>
                  <a:srgbClr val="000000"/>
                </a:solidFill>
                <a:effectLst/>
              </a:rPr>
              <a:t>		</a:t>
            </a:r>
            <a:r>
              <a:rPr lang="vi-VN" sz="2800" b="1" i="1">
                <a:solidFill>
                  <a:srgbClr val="000000"/>
                </a:solidFill>
                <a:effectLst/>
              </a:rPr>
              <a:t>while</a:t>
            </a:r>
            <a:br>
              <a:rPr lang="vi-VN" sz="2800" b="1" i="1">
                <a:solidFill>
                  <a:srgbClr val="000000"/>
                </a:solidFill>
                <a:effectLst/>
              </a:rPr>
            </a:br>
            <a:r>
              <a:rPr lang="vi-VN" sz="2800" b="1" i="1">
                <a:solidFill>
                  <a:srgbClr val="000000"/>
                </a:solidFill>
                <a:effectLst/>
              </a:rPr>
              <a:t>elif </a:t>
            </a:r>
            <a:r>
              <a:rPr lang="en-US" sz="2800" b="1" i="1">
                <a:solidFill>
                  <a:srgbClr val="000000"/>
                </a:solidFill>
                <a:effectLst/>
              </a:rPr>
              <a:t>		</a:t>
            </a:r>
            <a:r>
              <a:rPr lang="vi-VN" sz="2800" b="1" i="1">
                <a:solidFill>
                  <a:srgbClr val="000000"/>
                </a:solidFill>
                <a:effectLst/>
              </a:rPr>
              <a:t>is </a:t>
            </a:r>
            <a:r>
              <a:rPr lang="en-US" sz="2800" b="1" i="1">
                <a:solidFill>
                  <a:srgbClr val="000000"/>
                </a:solidFill>
                <a:effectLst/>
              </a:rPr>
              <a:t>		</a:t>
            </a:r>
            <a:r>
              <a:rPr lang="vi-VN" sz="2800" b="1" i="1">
                <a:solidFill>
                  <a:srgbClr val="000000"/>
                </a:solidFill>
                <a:effectLst/>
              </a:rPr>
              <a:t>with</a:t>
            </a:r>
            <a:r>
              <a:rPr lang="en-US" sz="2800" b="1" i="1">
                <a:solidFill>
                  <a:srgbClr val="000000"/>
                </a:solidFill>
                <a:effectLst/>
              </a:rPr>
              <a:t> 		</a:t>
            </a:r>
            <a:r>
              <a:rPr lang="vi-VN" sz="2800" b="1" i="1">
                <a:solidFill>
                  <a:srgbClr val="000000"/>
                </a:solidFill>
                <a:effectLst/>
              </a:rPr>
              <a:t>else </a:t>
            </a:r>
            <a:r>
              <a:rPr lang="en-US" sz="2800" b="1" i="1">
                <a:solidFill>
                  <a:srgbClr val="000000"/>
                </a:solidFill>
                <a:effectLst/>
              </a:rPr>
              <a:t>		</a:t>
            </a:r>
            <a:r>
              <a:rPr lang="vi-VN" sz="2800" b="1" i="1">
                <a:solidFill>
                  <a:srgbClr val="000000"/>
                </a:solidFill>
                <a:effectLst/>
              </a:rPr>
              <a:t>lambda </a:t>
            </a:r>
            <a:r>
              <a:rPr lang="en-US" sz="2800" b="1" i="1">
                <a:solidFill>
                  <a:srgbClr val="000000"/>
                </a:solidFill>
                <a:effectLst/>
              </a:rPr>
              <a:t>	</a:t>
            </a:r>
            <a:r>
              <a:rPr lang="vi-VN" sz="2800" b="1" i="1">
                <a:solidFill>
                  <a:srgbClr val="000000"/>
                </a:solidFill>
                <a:effectLst/>
              </a:rPr>
              <a:t>yield</a:t>
            </a:r>
            <a:r>
              <a:rPr lang="en-US" sz="2800" b="1" i="1">
                <a:solidFill>
                  <a:srgbClr val="000000"/>
                </a:solidFill>
                <a:effectLst/>
              </a:rPr>
              <a:t> </a:t>
            </a:r>
            <a:r>
              <a:rPr lang="vi-VN" sz="2800" b="1" i="1">
                <a:solidFill>
                  <a:srgbClr val="000000"/>
                </a:solidFill>
                <a:effectLst/>
              </a:rPr>
              <a:t>except</a:t>
            </a:r>
            <a:r>
              <a:rPr lang="vi-VN" sz="2800" b="1" i="1"/>
              <a:t> </a:t>
            </a:r>
            <a:br>
              <a:rPr lang="vi-VN" sz="2800"/>
            </a:br>
            <a:endParaRPr lang="en-US" sz="2800"/>
          </a:p>
        </p:txBody>
      </p:sp>
      <p:sp>
        <p:nvSpPr>
          <p:cNvPr id="4" name="Date Placeholder 3">
            <a:extLst>
              <a:ext uri="{FF2B5EF4-FFF2-40B4-BE49-F238E27FC236}">
                <a16:creationId xmlns:a16="http://schemas.microsoft.com/office/drawing/2014/main" id="{B814F55D-6BD7-504B-888A-C50ACFC850EC}"/>
              </a:ext>
            </a:extLst>
          </p:cNvPr>
          <p:cNvSpPr>
            <a:spLocks noGrp="1"/>
          </p:cNvSpPr>
          <p:nvPr>
            <p:ph type="dt" sz="half" idx="10"/>
          </p:nvPr>
        </p:nvSpPr>
        <p:spPr/>
        <p:txBody>
          <a:bodyPr/>
          <a:lstStyle/>
          <a:p>
            <a:fld id="{016E9D7D-1760-43DA-9383-2C72EE009B2A}" type="datetime1">
              <a:rPr lang="en-US" smtClean="0"/>
              <a:t>7/25/2024</a:t>
            </a:fld>
            <a:endParaRPr lang="en-US"/>
          </a:p>
        </p:txBody>
      </p:sp>
      <p:sp>
        <p:nvSpPr>
          <p:cNvPr id="5" name="Footer Placeholder 4">
            <a:extLst>
              <a:ext uri="{FF2B5EF4-FFF2-40B4-BE49-F238E27FC236}">
                <a16:creationId xmlns:a16="http://schemas.microsoft.com/office/drawing/2014/main" id="{C065D82F-4D21-4E92-04FD-6CADCAFCEF10}"/>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335306D4-4499-B8FA-2C2C-8E60DD711DA8}"/>
              </a:ext>
            </a:extLst>
          </p:cNvPr>
          <p:cNvSpPr>
            <a:spLocks noGrp="1"/>
          </p:cNvSpPr>
          <p:nvPr>
            <p:ph type="sldNum" sz="quarter" idx="12"/>
          </p:nvPr>
        </p:nvSpPr>
        <p:spPr/>
        <p:txBody>
          <a:bodyPr/>
          <a:lstStyle/>
          <a:p>
            <a:fld id="{D3060201-1C40-4B39-813D-5CD9493BAEED}" type="slidenum">
              <a:rPr lang="en-US" smtClean="0"/>
              <a:t>3</a:t>
            </a:fld>
            <a:endParaRPr lang="en-US"/>
          </a:p>
        </p:txBody>
      </p:sp>
    </p:spTree>
    <p:extLst>
      <p:ext uri="{BB962C8B-B14F-4D97-AF65-F5344CB8AC3E}">
        <p14:creationId xmlns:p14="http://schemas.microsoft.com/office/powerpoint/2010/main" val="4044108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9F1F7-4A40-75AD-EF16-6D560930E49B}"/>
              </a:ext>
            </a:extLst>
          </p:cNvPr>
          <p:cNvSpPr>
            <a:spLocks noGrp="1"/>
          </p:cNvSpPr>
          <p:nvPr>
            <p:ph type="title"/>
          </p:nvPr>
        </p:nvSpPr>
        <p:spPr/>
        <p:txBody>
          <a:bodyPr/>
          <a:lstStyle/>
          <a:p>
            <a:pPr algn="ctr"/>
            <a:r>
              <a:rPr lang="en-US"/>
              <a:t>Cú pháp ngôn ngữ lập trình Python</a:t>
            </a:r>
          </a:p>
        </p:txBody>
      </p:sp>
      <p:sp>
        <p:nvSpPr>
          <p:cNvPr id="3" name="Content Placeholder 2">
            <a:extLst>
              <a:ext uri="{FF2B5EF4-FFF2-40B4-BE49-F238E27FC236}">
                <a16:creationId xmlns:a16="http://schemas.microsoft.com/office/drawing/2014/main" id="{F50B384D-37E6-DD5B-79BA-F415E58E9298}"/>
              </a:ext>
            </a:extLst>
          </p:cNvPr>
          <p:cNvSpPr>
            <a:spLocks noGrp="1"/>
          </p:cNvSpPr>
          <p:nvPr>
            <p:ph idx="1"/>
          </p:nvPr>
        </p:nvSpPr>
        <p:spPr/>
        <p:txBody>
          <a:bodyPr>
            <a:noAutofit/>
          </a:bodyPr>
          <a:lstStyle/>
          <a:p>
            <a:pPr>
              <a:buFont typeface="Wingdings" panose="05000000000000000000" pitchFamily="2" charset="2"/>
              <a:buChar char="v"/>
            </a:pPr>
            <a:r>
              <a:rPr lang="vi-VN" b="0" i="0">
                <a:solidFill>
                  <a:srgbClr val="000000"/>
                </a:solidFill>
                <a:effectLst/>
                <a:latin typeface="+mj-lt"/>
              </a:rPr>
              <a:t>Sử dụng canh lề (bắt buộc) để bao các khối lệnh của</a:t>
            </a:r>
            <a:r>
              <a:rPr lang="en-US" b="0" i="0">
                <a:solidFill>
                  <a:srgbClr val="000000"/>
                </a:solidFill>
                <a:effectLst/>
                <a:latin typeface="+mj-lt"/>
              </a:rPr>
              <a:t> </a:t>
            </a:r>
            <a:r>
              <a:rPr lang="vi-VN" b="0" i="0">
                <a:solidFill>
                  <a:srgbClr val="000000"/>
                </a:solidFill>
                <a:effectLst/>
                <a:latin typeface="+mj-lt"/>
              </a:rPr>
              <a:t>hàm, lớp hoặc luồng điều khiển</a:t>
            </a:r>
            <a:endParaRPr lang="en-US" b="0" i="0">
              <a:solidFill>
                <a:srgbClr val="000000"/>
              </a:solidFill>
              <a:effectLst/>
              <a:latin typeface="+mj-lt"/>
            </a:endParaRPr>
          </a:p>
          <a:p>
            <a:pPr>
              <a:buFont typeface="Wingdings" panose="05000000000000000000" pitchFamily="2" charset="2"/>
              <a:buChar char="v"/>
            </a:pPr>
            <a:r>
              <a:rPr lang="en-US" b="0" i="0">
                <a:solidFill>
                  <a:srgbClr val="000000"/>
                </a:solidFill>
                <a:effectLst/>
                <a:latin typeface="+mj-lt"/>
              </a:rPr>
              <a:t> </a:t>
            </a:r>
            <a:r>
              <a:rPr lang="vi-VN" b="0" i="0">
                <a:solidFill>
                  <a:srgbClr val="000000"/>
                </a:solidFill>
                <a:effectLst/>
                <a:latin typeface="+mj-lt"/>
              </a:rPr>
              <a:t>Số khoảng trắng dùng để canh lề có thể nhiều ít tuỳ ý</a:t>
            </a:r>
            <a:r>
              <a:rPr lang="en-US" b="0" i="0">
                <a:solidFill>
                  <a:srgbClr val="000000"/>
                </a:solidFill>
                <a:effectLst/>
                <a:latin typeface="+mj-lt"/>
              </a:rPr>
              <a:t> </a:t>
            </a:r>
            <a:r>
              <a:rPr lang="vi-VN" b="0" i="0">
                <a:solidFill>
                  <a:srgbClr val="000000"/>
                </a:solidFill>
                <a:effectLst/>
                <a:latin typeface="+mj-lt"/>
              </a:rPr>
              <a:t>nhưng tất cả lệnh trong một khối phải được canh lề</a:t>
            </a:r>
            <a:br>
              <a:rPr lang="vi-VN" b="0" i="0">
                <a:solidFill>
                  <a:srgbClr val="000000"/>
                </a:solidFill>
                <a:effectLst/>
                <a:latin typeface="+mj-lt"/>
              </a:rPr>
            </a:br>
            <a:r>
              <a:rPr lang="vi-VN" b="0" i="0">
                <a:solidFill>
                  <a:srgbClr val="000000"/>
                </a:solidFill>
                <a:effectLst/>
                <a:latin typeface="+mj-lt"/>
              </a:rPr>
              <a:t>như nhau</a:t>
            </a:r>
            <a:endParaRPr lang="en-US" b="0" i="0">
              <a:solidFill>
                <a:srgbClr val="000000"/>
              </a:solidFill>
              <a:effectLst/>
              <a:latin typeface="+mj-lt"/>
            </a:endParaRPr>
          </a:p>
          <a:p>
            <a:pPr>
              <a:buFont typeface="Wingdings" panose="05000000000000000000" pitchFamily="2" charset="2"/>
              <a:buChar char="v"/>
            </a:pPr>
            <a:r>
              <a:rPr lang="en-US" b="1">
                <a:solidFill>
                  <a:srgbClr val="000000"/>
                </a:solidFill>
              </a:rPr>
              <a:t>Ví dụ:</a:t>
            </a:r>
          </a:p>
          <a:p>
            <a:pPr marL="0" indent="0">
              <a:buNone/>
            </a:pPr>
            <a:r>
              <a:rPr lang="en-US">
                <a:solidFill>
                  <a:srgbClr val="000000"/>
                </a:solidFill>
              </a:rPr>
              <a:t>a = 1</a:t>
            </a:r>
            <a:br>
              <a:rPr lang="vi-VN" b="0" i="0">
                <a:solidFill>
                  <a:srgbClr val="000000"/>
                </a:solidFill>
                <a:effectLst/>
              </a:rPr>
            </a:br>
            <a:r>
              <a:rPr lang="vi-VN" b="0" i="0">
                <a:solidFill>
                  <a:srgbClr val="000000"/>
                </a:solidFill>
                <a:effectLst/>
              </a:rPr>
              <a:t>if </a:t>
            </a:r>
            <a:r>
              <a:rPr lang="en-US">
                <a:solidFill>
                  <a:srgbClr val="000000"/>
                </a:solidFill>
              </a:rPr>
              <a:t>a == 1</a:t>
            </a:r>
            <a:r>
              <a:rPr lang="vi-VN" b="0" i="0">
                <a:solidFill>
                  <a:srgbClr val="000000"/>
                </a:solidFill>
                <a:effectLst/>
              </a:rPr>
              <a:t>:</a:t>
            </a:r>
            <a:br>
              <a:rPr lang="vi-VN" b="0" i="0">
                <a:solidFill>
                  <a:srgbClr val="000000"/>
                </a:solidFill>
                <a:effectLst/>
                <a:latin typeface="+mj-lt"/>
              </a:rPr>
            </a:br>
            <a:r>
              <a:rPr lang="en-US" b="0" i="0">
                <a:solidFill>
                  <a:srgbClr val="000000"/>
                </a:solidFill>
                <a:effectLst/>
                <a:latin typeface="+mj-lt"/>
              </a:rPr>
              <a:t>	</a:t>
            </a:r>
            <a:r>
              <a:rPr lang="vi-VN">
                <a:solidFill>
                  <a:srgbClr val="000000"/>
                </a:solidFill>
                <a:latin typeface="+mj-lt"/>
              </a:rPr>
              <a:t>print </a:t>
            </a:r>
            <a:r>
              <a:rPr lang="en-US">
                <a:solidFill>
                  <a:srgbClr val="000000"/>
                </a:solidFill>
                <a:latin typeface="+mj-lt"/>
              </a:rPr>
              <a:t>“success”</a:t>
            </a:r>
            <a:br>
              <a:rPr lang="vi-VN" b="0" i="0">
                <a:solidFill>
                  <a:srgbClr val="000000"/>
                </a:solidFill>
                <a:effectLst/>
                <a:latin typeface="+mj-lt"/>
              </a:rPr>
            </a:br>
            <a:r>
              <a:rPr lang="vi-VN" b="0" i="0">
                <a:solidFill>
                  <a:srgbClr val="000000"/>
                </a:solidFill>
                <a:effectLst/>
                <a:latin typeface="+mj-lt"/>
              </a:rPr>
              <a:t>else:</a:t>
            </a:r>
            <a:br>
              <a:rPr lang="vi-VN" b="0" i="0">
                <a:solidFill>
                  <a:srgbClr val="000000"/>
                </a:solidFill>
                <a:effectLst/>
                <a:latin typeface="+mj-lt"/>
              </a:rPr>
            </a:br>
            <a:r>
              <a:rPr lang="en-US" b="0" i="0">
                <a:solidFill>
                  <a:srgbClr val="000000"/>
                </a:solidFill>
                <a:effectLst/>
                <a:latin typeface="+mj-lt"/>
              </a:rPr>
              <a:t>	</a:t>
            </a:r>
            <a:r>
              <a:rPr lang="vi-VN" b="0" i="0">
                <a:solidFill>
                  <a:srgbClr val="000000"/>
                </a:solidFill>
                <a:effectLst/>
                <a:latin typeface="+mj-lt"/>
              </a:rPr>
              <a:t>print </a:t>
            </a:r>
            <a:r>
              <a:rPr lang="en-US" b="0" i="0">
                <a:solidFill>
                  <a:srgbClr val="000000"/>
                </a:solidFill>
                <a:effectLst/>
                <a:latin typeface="+mj-lt"/>
              </a:rPr>
              <a:t>‘fail’</a:t>
            </a:r>
            <a:br>
              <a:rPr lang="vi-VN">
                <a:latin typeface="+mj-lt"/>
              </a:rPr>
            </a:br>
            <a:endParaRPr lang="en-US">
              <a:latin typeface="+mj-lt"/>
            </a:endParaRPr>
          </a:p>
        </p:txBody>
      </p:sp>
      <p:sp>
        <p:nvSpPr>
          <p:cNvPr id="4" name="Date Placeholder 3">
            <a:extLst>
              <a:ext uri="{FF2B5EF4-FFF2-40B4-BE49-F238E27FC236}">
                <a16:creationId xmlns:a16="http://schemas.microsoft.com/office/drawing/2014/main" id="{407E4E8E-E80C-9C79-F267-9E86B2B63082}"/>
              </a:ext>
            </a:extLst>
          </p:cNvPr>
          <p:cNvSpPr>
            <a:spLocks noGrp="1"/>
          </p:cNvSpPr>
          <p:nvPr>
            <p:ph type="dt" sz="half" idx="10"/>
          </p:nvPr>
        </p:nvSpPr>
        <p:spPr/>
        <p:txBody>
          <a:bodyPr/>
          <a:lstStyle/>
          <a:p>
            <a:fld id="{2B895576-EB3D-4C9C-BA18-A1BCE24F9C0B}" type="datetime1">
              <a:rPr lang="en-US" smtClean="0"/>
              <a:t>7/25/2024</a:t>
            </a:fld>
            <a:endParaRPr lang="en-US"/>
          </a:p>
        </p:txBody>
      </p:sp>
      <p:sp>
        <p:nvSpPr>
          <p:cNvPr id="5" name="Footer Placeholder 4">
            <a:extLst>
              <a:ext uri="{FF2B5EF4-FFF2-40B4-BE49-F238E27FC236}">
                <a16:creationId xmlns:a16="http://schemas.microsoft.com/office/drawing/2014/main" id="{D751247C-9945-774F-5F66-98856FC80DBA}"/>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5497E6F1-28CC-F2C3-82E3-AB99ED9A275B}"/>
              </a:ext>
            </a:extLst>
          </p:cNvPr>
          <p:cNvSpPr>
            <a:spLocks noGrp="1"/>
          </p:cNvSpPr>
          <p:nvPr>
            <p:ph type="sldNum" sz="quarter" idx="12"/>
          </p:nvPr>
        </p:nvSpPr>
        <p:spPr/>
        <p:txBody>
          <a:bodyPr/>
          <a:lstStyle/>
          <a:p>
            <a:fld id="{D3060201-1C40-4B39-813D-5CD9493BAEED}" type="slidenum">
              <a:rPr lang="en-US" smtClean="0"/>
              <a:t>4</a:t>
            </a:fld>
            <a:endParaRPr lang="en-US"/>
          </a:p>
        </p:txBody>
      </p:sp>
    </p:spTree>
    <p:extLst>
      <p:ext uri="{BB962C8B-B14F-4D97-AF65-F5344CB8AC3E}">
        <p14:creationId xmlns:p14="http://schemas.microsoft.com/office/powerpoint/2010/main" val="1704650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D338F-0CB7-39E0-9B32-B077CA4A3248}"/>
              </a:ext>
            </a:extLst>
          </p:cNvPr>
          <p:cNvSpPr>
            <a:spLocks noGrp="1"/>
          </p:cNvSpPr>
          <p:nvPr>
            <p:ph type="title"/>
          </p:nvPr>
        </p:nvSpPr>
        <p:spPr/>
        <p:txBody>
          <a:bodyPr/>
          <a:lstStyle/>
          <a:p>
            <a:pPr algn="ctr"/>
            <a:r>
              <a:rPr lang="en-US"/>
              <a:t>Cú pháp ngôn ngữ lập trình Python</a:t>
            </a:r>
          </a:p>
        </p:txBody>
      </p:sp>
      <p:sp>
        <p:nvSpPr>
          <p:cNvPr id="3" name="Content Placeholder 2">
            <a:extLst>
              <a:ext uri="{FF2B5EF4-FFF2-40B4-BE49-F238E27FC236}">
                <a16:creationId xmlns:a16="http://schemas.microsoft.com/office/drawing/2014/main" id="{F85E96D1-D514-7DDC-CF65-6C1141F0231E}"/>
              </a:ext>
            </a:extLst>
          </p:cNvPr>
          <p:cNvSpPr>
            <a:spLocks noGrp="1"/>
          </p:cNvSpPr>
          <p:nvPr>
            <p:ph idx="1"/>
          </p:nvPr>
        </p:nvSpPr>
        <p:spPr/>
        <p:txBody>
          <a:bodyPr>
            <a:noAutofit/>
          </a:bodyPr>
          <a:lstStyle/>
          <a:p>
            <a:pPr>
              <a:buFont typeface="Wingdings" panose="05000000000000000000" pitchFamily="2" charset="2"/>
              <a:buChar char="v"/>
            </a:pPr>
            <a:r>
              <a:rPr lang="vi-VN" sz="2800" b="1">
                <a:solidFill>
                  <a:srgbClr val="000000"/>
                </a:solidFill>
                <a:latin typeface="+mj-lt"/>
              </a:rPr>
              <a:t>Lệnh được viết trên nhiều dòng sử dụng ký tự \</a:t>
            </a:r>
            <a:br>
              <a:rPr lang="vi-VN" sz="2800">
                <a:solidFill>
                  <a:srgbClr val="000000"/>
                </a:solidFill>
                <a:latin typeface="+mj-lt"/>
              </a:rPr>
            </a:br>
            <a:r>
              <a:rPr lang="vi-VN" sz="2800">
                <a:solidFill>
                  <a:srgbClr val="000000"/>
                </a:solidFill>
                <a:latin typeface="+mj-lt"/>
              </a:rPr>
              <a:t>total = </a:t>
            </a:r>
            <a:r>
              <a:rPr lang="en-US" sz="2800">
                <a:solidFill>
                  <a:srgbClr val="000000"/>
                </a:solidFill>
              </a:rPr>
              <a:t>num</a:t>
            </a:r>
            <a:r>
              <a:rPr lang="vi-VN" sz="2800">
                <a:solidFill>
                  <a:srgbClr val="000000"/>
                </a:solidFill>
              </a:rPr>
              <a:t>_on</a:t>
            </a:r>
            <a:r>
              <a:rPr lang="en-US" sz="2800">
                <a:solidFill>
                  <a:srgbClr val="000000"/>
                </a:solidFill>
              </a:rPr>
              <a:t>e</a:t>
            </a:r>
            <a:r>
              <a:rPr lang="vi-VN" sz="2800">
                <a:solidFill>
                  <a:srgbClr val="000000"/>
                </a:solidFill>
              </a:rPr>
              <a:t> </a:t>
            </a:r>
            <a:r>
              <a:rPr lang="vi-VN" sz="2800">
                <a:solidFill>
                  <a:srgbClr val="000000"/>
                </a:solidFill>
                <a:latin typeface="+mj-lt"/>
              </a:rPr>
              <a:t>+ \</a:t>
            </a:r>
            <a:br>
              <a:rPr lang="vi-VN" sz="2800">
                <a:solidFill>
                  <a:srgbClr val="000000"/>
                </a:solidFill>
                <a:latin typeface="+mj-lt"/>
              </a:rPr>
            </a:br>
            <a:r>
              <a:rPr lang="en-US" sz="2800">
                <a:solidFill>
                  <a:srgbClr val="000000"/>
                </a:solidFill>
                <a:latin typeface="+mj-lt"/>
              </a:rPr>
              <a:t>	</a:t>
            </a:r>
            <a:r>
              <a:rPr lang="en-US" sz="2800">
                <a:solidFill>
                  <a:srgbClr val="000000"/>
                </a:solidFill>
              </a:rPr>
              <a:t>num</a:t>
            </a:r>
            <a:r>
              <a:rPr lang="vi-VN" sz="2800">
                <a:solidFill>
                  <a:srgbClr val="000000"/>
                </a:solidFill>
              </a:rPr>
              <a:t>_two </a:t>
            </a:r>
            <a:r>
              <a:rPr lang="vi-VN" sz="2800">
                <a:solidFill>
                  <a:srgbClr val="000000"/>
                </a:solidFill>
                <a:latin typeface="+mj-lt"/>
              </a:rPr>
              <a:t>+ \</a:t>
            </a:r>
            <a:br>
              <a:rPr lang="vi-VN" sz="2800">
                <a:solidFill>
                  <a:srgbClr val="000000"/>
                </a:solidFill>
                <a:latin typeface="+mj-lt"/>
              </a:rPr>
            </a:br>
            <a:r>
              <a:rPr lang="en-US" sz="2800">
                <a:solidFill>
                  <a:srgbClr val="000000"/>
                </a:solidFill>
                <a:latin typeface="+mj-lt"/>
              </a:rPr>
              <a:t>	</a:t>
            </a:r>
            <a:r>
              <a:rPr lang="en-US" sz="2800">
                <a:solidFill>
                  <a:srgbClr val="000000"/>
                </a:solidFill>
              </a:rPr>
              <a:t>num</a:t>
            </a:r>
            <a:r>
              <a:rPr lang="vi-VN" sz="2800">
                <a:solidFill>
                  <a:srgbClr val="000000"/>
                </a:solidFill>
              </a:rPr>
              <a:t>_three </a:t>
            </a:r>
            <a:endParaRPr lang="en-US" sz="2800">
              <a:solidFill>
                <a:srgbClr val="000000"/>
              </a:solidFill>
            </a:endParaRPr>
          </a:p>
          <a:p>
            <a:pPr>
              <a:buFont typeface="Wingdings" panose="05000000000000000000" pitchFamily="2" charset="2"/>
              <a:buChar char="v"/>
            </a:pPr>
            <a:r>
              <a:rPr lang="en-US" sz="2800">
                <a:solidFill>
                  <a:srgbClr val="000000"/>
                </a:solidFill>
                <a:latin typeface="+mj-lt"/>
              </a:rPr>
              <a:t> </a:t>
            </a:r>
            <a:r>
              <a:rPr lang="vi-VN" sz="2800" b="1">
                <a:solidFill>
                  <a:srgbClr val="000000"/>
                </a:solidFill>
                <a:latin typeface="+mj-lt"/>
              </a:rPr>
              <a:t>Lệnh được bao bằng các cặp dấu ngoặc: [], {}, ()</a:t>
            </a:r>
            <a:r>
              <a:rPr lang="en-US" sz="2800" b="1">
                <a:solidFill>
                  <a:srgbClr val="000000"/>
                </a:solidFill>
                <a:latin typeface="+mj-lt"/>
              </a:rPr>
              <a:t> </a:t>
            </a:r>
            <a:r>
              <a:rPr lang="vi-VN" sz="2800" b="1">
                <a:solidFill>
                  <a:srgbClr val="000000"/>
                </a:solidFill>
                <a:latin typeface="+mj-lt"/>
              </a:rPr>
              <a:t>không cần phải sử dụng ký tự \ để tiếp tục dòng</a:t>
            </a:r>
            <a:br>
              <a:rPr lang="vi-VN" sz="2800">
                <a:solidFill>
                  <a:srgbClr val="000000"/>
                </a:solidFill>
                <a:latin typeface="+mj-lt"/>
              </a:rPr>
            </a:br>
            <a:r>
              <a:rPr lang="vi-VN" sz="2800">
                <a:solidFill>
                  <a:srgbClr val="000000"/>
                </a:solidFill>
                <a:latin typeface="+mj-lt"/>
              </a:rPr>
              <a:t>days = ['Monday', 'Tuesday', 'Wednesday',</a:t>
            </a:r>
            <a:br>
              <a:rPr lang="vi-VN" sz="2800">
                <a:solidFill>
                  <a:srgbClr val="000000"/>
                </a:solidFill>
                <a:latin typeface="+mj-lt"/>
              </a:rPr>
            </a:br>
            <a:r>
              <a:rPr lang="en-US" sz="2800">
                <a:solidFill>
                  <a:srgbClr val="000000"/>
                </a:solidFill>
                <a:latin typeface="+mj-lt"/>
              </a:rPr>
              <a:t>	   </a:t>
            </a:r>
            <a:r>
              <a:rPr lang="vi-VN" sz="2800">
                <a:solidFill>
                  <a:srgbClr val="000000"/>
                </a:solidFill>
                <a:latin typeface="+mj-lt"/>
              </a:rPr>
              <a:t>'Thursday', 'Friday’]</a:t>
            </a:r>
            <a:endParaRPr lang="en-US" sz="2800">
              <a:solidFill>
                <a:srgbClr val="000000"/>
              </a:solidFill>
              <a:latin typeface="+mj-lt"/>
            </a:endParaRPr>
          </a:p>
          <a:p>
            <a:pPr>
              <a:buFont typeface="Wingdings" panose="05000000000000000000" pitchFamily="2" charset="2"/>
              <a:buChar char="v"/>
            </a:pPr>
            <a:r>
              <a:rPr lang="vi-VN" sz="2800" b="1">
                <a:solidFill>
                  <a:srgbClr val="000000"/>
                </a:solidFill>
                <a:latin typeface="+mj-lt"/>
              </a:rPr>
              <a:t> Dấu ; để cách nhiều lệnh trên dòng</a:t>
            </a:r>
            <a:br>
              <a:rPr lang="vi-VN" sz="2800">
                <a:solidFill>
                  <a:srgbClr val="000000"/>
                </a:solidFill>
                <a:latin typeface="+mj-lt"/>
              </a:rPr>
            </a:br>
            <a:r>
              <a:rPr lang="en-US" sz="2800">
                <a:solidFill>
                  <a:srgbClr val="000000"/>
                </a:solidFill>
              </a:rPr>
              <a:t>a = 1; b = 2; c = 3</a:t>
            </a:r>
            <a:br>
              <a:rPr lang="vi-VN" sz="2800">
                <a:solidFill>
                  <a:srgbClr val="000000"/>
                </a:solidFill>
              </a:rPr>
            </a:br>
            <a:endParaRPr lang="en-US" sz="2800">
              <a:solidFill>
                <a:srgbClr val="000000"/>
              </a:solidFill>
            </a:endParaRPr>
          </a:p>
        </p:txBody>
      </p:sp>
      <p:sp>
        <p:nvSpPr>
          <p:cNvPr id="4" name="Date Placeholder 3">
            <a:extLst>
              <a:ext uri="{FF2B5EF4-FFF2-40B4-BE49-F238E27FC236}">
                <a16:creationId xmlns:a16="http://schemas.microsoft.com/office/drawing/2014/main" id="{36C78422-AA16-3C88-AA8F-E7EE76DD65B2}"/>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39F07623-0164-B13F-ABE2-02B9F6BACFED}"/>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4D314FE9-65F1-D033-F2BB-62F9827145BE}"/>
              </a:ext>
            </a:extLst>
          </p:cNvPr>
          <p:cNvSpPr>
            <a:spLocks noGrp="1"/>
          </p:cNvSpPr>
          <p:nvPr>
            <p:ph type="sldNum" sz="quarter" idx="12"/>
          </p:nvPr>
        </p:nvSpPr>
        <p:spPr/>
        <p:txBody>
          <a:bodyPr/>
          <a:lstStyle/>
          <a:p>
            <a:fld id="{D3060201-1C40-4B39-813D-5CD9493BAEED}" type="slidenum">
              <a:rPr lang="en-US" smtClean="0"/>
              <a:t>5</a:t>
            </a:fld>
            <a:endParaRPr lang="en-US"/>
          </a:p>
        </p:txBody>
      </p:sp>
    </p:spTree>
    <p:extLst>
      <p:ext uri="{BB962C8B-B14F-4D97-AF65-F5344CB8AC3E}">
        <p14:creationId xmlns:p14="http://schemas.microsoft.com/office/powerpoint/2010/main" val="502327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7B115-9D30-00D3-8A16-513125FA4372}"/>
              </a:ext>
            </a:extLst>
          </p:cNvPr>
          <p:cNvSpPr>
            <a:spLocks noGrp="1"/>
          </p:cNvSpPr>
          <p:nvPr>
            <p:ph type="title"/>
          </p:nvPr>
        </p:nvSpPr>
        <p:spPr/>
        <p:txBody>
          <a:bodyPr/>
          <a:lstStyle/>
          <a:p>
            <a:pPr algn="ctr"/>
            <a:r>
              <a:rPr lang="en-US"/>
              <a:t>Chú thích</a:t>
            </a:r>
          </a:p>
        </p:txBody>
      </p:sp>
      <p:sp>
        <p:nvSpPr>
          <p:cNvPr id="3" name="Content Placeholder 2">
            <a:extLst>
              <a:ext uri="{FF2B5EF4-FFF2-40B4-BE49-F238E27FC236}">
                <a16:creationId xmlns:a16="http://schemas.microsoft.com/office/drawing/2014/main" id="{1A13E899-6BB5-6A9A-232C-2DEA5AF4DC5B}"/>
              </a:ext>
            </a:extLst>
          </p:cNvPr>
          <p:cNvSpPr>
            <a:spLocks noGrp="1"/>
          </p:cNvSpPr>
          <p:nvPr>
            <p:ph idx="1"/>
          </p:nvPr>
        </p:nvSpPr>
        <p:spPr/>
        <p:txBody>
          <a:bodyPr>
            <a:normAutofit/>
          </a:bodyPr>
          <a:lstStyle/>
          <a:p>
            <a:pPr>
              <a:buFont typeface="Wingdings" panose="05000000000000000000" pitchFamily="2" charset="2"/>
              <a:buChar char="v"/>
            </a:pPr>
            <a:r>
              <a:rPr lang="vi-VN" sz="2800" b="1" i="0">
                <a:solidFill>
                  <a:srgbClr val="000000"/>
                </a:solidFill>
                <a:effectLst/>
              </a:rPr>
              <a:t>Sử dụng # để chú thích 1 dòng trong chương trình</a:t>
            </a:r>
            <a:br>
              <a:rPr lang="vi-VN" sz="2800" b="0" i="0">
                <a:solidFill>
                  <a:srgbClr val="000000"/>
                </a:solidFill>
                <a:effectLst/>
              </a:rPr>
            </a:br>
            <a:r>
              <a:rPr lang="vi-VN" sz="2800" b="0" i="0">
                <a:solidFill>
                  <a:srgbClr val="000000"/>
                </a:solidFill>
                <a:effectLst/>
              </a:rPr>
              <a:t># comment</a:t>
            </a:r>
            <a:endParaRPr lang="en-US" sz="2800" b="0" i="0">
              <a:solidFill>
                <a:srgbClr val="000000"/>
              </a:solidFill>
              <a:effectLst/>
            </a:endParaRPr>
          </a:p>
          <a:p>
            <a:pPr>
              <a:buFont typeface="Wingdings" panose="05000000000000000000" pitchFamily="2" charset="2"/>
              <a:buChar char="v"/>
            </a:pPr>
            <a:r>
              <a:rPr lang="vi-VN" sz="2800" b="1" i="0">
                <a:solidFill>
                  <a:srgbClr val="000000"/>
                </a:solidFill>
                <a:effectLst/>
              </a:rPr>
              <a:t>Sử dụng </a:t>
            </a:r>
            <a:r>
              <a:rPr lang="vi-VN" sz="2800" b="0" i="0">
                <a:solidFill>
                  <a:srgbClr val="000000"/>
                </a:solidFill>
                <a:effectLst/>
              </a:rPr>
              <a:t>'''</a:t>
            </a:r>
            <a:r>
              <a:rPr lang="vi-VN" sz="2800" b="1" i="0">
                <a:solidFill>
                  <a:srgbClr val="000000"/>
                </a:solidFill>
                <a:effectLst/>
              </a:rPr>
              <a:t> để chú thích 1 đoạn</a:t>
            </a:r>
            <a:br>
              <a:rPr lang="vi-VN" sz="2800" b="0" i="0">
                <a:solidFill>
                  <a:srgbClr val="000000"/>
                </a:solidFill>
                <a:effectLst/>
              </a:rPr>
            </a:br>
            <a:r>
              <a:rPr lang="vi-VN" sz="2800" b="0" i="0">
                <a:solidFill>
                  <a:srgbClr val="000000"/>
                </a:solidFill>
                <a:effectLst/>
              </a:rPr>
              <a:t>'''</a:t>
            </a:r>
            <a:br>
              <a:rPr lang="vi-VN" sz="2800" b="0" i="0">
                <a:solidFill>
                  <a:srgbClr val="000000"/>
                </a:solidFill>
                <a:effectLst/>
              </a:rPr>
            </a:br>
            <a:r>
              <a:rPr lang="vi-VN" sz="2800" b="0" i="0">
                <a:solidFill>
                  <a:srgbClr val="000000"/>
                </a:solidFill>
                <a:effectLst/>
              </a:rPr>
              <a:t>print</a:t>
            </a:r>
            <a:r>
              <a:rPr lang="en-US" sz="2800" b="0" i="0">
                <a:solidFill>
                  <a:srgbClr val="000000"/>
                </a:solidFill>
                <a:effectLst/>
              </a:rPr>
              <a:t>(</a:t>
            </a:r>
            <a:r>
              <a:rPr lang="vi-VN" sz="2800" b="0" i="0">
                <a:solidFill>
                  <a:srgbClr val="000000"/>
                </a:solidFill>
                <a:effectLst/>
              </a:rPr>
              <a:t>"</a:t>
            </a:r>
            <a:r>
              <a:rPr lang="en-US" sz="2800" b="0" i="0">
                <a:solidFill>
                  <a:srgbClr val="000000"/>
                </a:solidFill>
                <a:effectLst/>
              </a:rPr>
              <a:t>This is Python comment 1</a:t>
            </a:r>
            <a:r>
              <a:rPr lang="vi-VN" sz="2800" b="0" i="0">
                <a:solidFill>
                  <a:srgbClr val="000000"/>
                </a:solidFill>
                <a:effectLst/>
              </a:rPr>
              <a:t>")</a:t>
            </a:r>
            <a:br>
              <a:rPr lang="vi-VN" sz="2800" b="0" i="0">
                <a:solidFill>
                  <a:srgbClr val="000000"/>
                </a:solidFill>
                <a:effectLst/>
              </a:rPr>
            </a:br>
            <a:r>
              <a:rPr lang="vi-VN" sz="2800" b="0" i="0">
                <a:solidFill>
                  <a:srgbClr val="000000"/>
                </a:solidFill>
                <a:effectLst/>
              </a:rPr>
              <a:t>print ("</a:t>
            </a:r>
            <a:r>
              <a:rPr lang="en-US" sz="2800" b="0" i="0">
                <a:solidFill>
                  <a:srgbClr val="000000"/>
                </a:solidFill>
                <a:effectLst/>
              </a:rPr>
              <a:t>This is Python comment 2</a:t>
            </a:r>
            <a:r>
              <a:rPr lang="vi-VN" sz="2800" b="0" i="0">
                <a:solidFill>
                  <a:srgbClr val="000000"/>
                </a:solidFill>
                <a:effectLst/>
              </a:rPr>
              <a:t>")</a:t>
            </a:r>
            <a:br>
              <a:rPr lang="vi-VN" sz="2800" b="0" i="0">
                <a:solidFill>
                  <a:srgbClr val="000000"/>
                </a:solidFill>
                <a:effectLst/>
              </a:rPr>
            </a:br>
            <a:r>
              <a:rPr lang="vi-VN" sz="2800" b="0" i="0">
                <a:solidFill>
                  <a:srgbClr val="000000"/>
                </a:solidFill>
                <a:effectLst/>
              </a:rPr>
              <a:t>'''</a:t>
            </a:r>
            <a:br>
              <a:rPr lang="vi-VN" sz="2800"/>
            </a:br>
            <a:endParaRPr lang="en-US" sz="2800"/>
          </a:p>
        </p:txBody>
      </p:sp>
      <p:sp>
        <p:nvSpPr>
          <p:cNvPr id="4" name="Date Placeholder 3">
            <a:extLst>
              <a:ext uri="{FF2B5EF4-FFF2-40B4-BE49-F238E27FC236}">
                <a16:creationId xmlns:a16="http://schemas.microsoft.com/office/drawing/2014/main" id="{3F577CE7-346B-E39E-57D3-94C1931CDD4D}"/>
              </a:ext>
            </a:extLst>
          </p:cNvPr>
          <p:cNvSpPr>
            <a:spLocks noGrp="1"/>
          </p:cNvSpPr>
          <p:nvPr>
            <p:ph type="dt" sz="half" idx="10"/>
          </p:nvPr>
        </p:nvSpPr>
        <p:spPr/>
        <p:txBody>
          <a:bodyPr/>
          <a:lstStyle/>
          <a:p>
            <a:fld id="{20DD530B-AC5C-472D-8C5D-2CC260DB3397}" type="datetime1">
              <a:rPr lang="en-US" smtClean="0"/>
              <a:t>7/25/2024</a:t>
            </a:fld>
            <a:endParaRPr lang="en-US"/>
          </a:p>
        </p:txBody>
      </p:sp>
      <p:sp>
        <p:nvSpPr>
          <p:cNvPr id="5" name="Footer Placeholder 4">
            <a:extLst>
              <a:ext uri="{FF2B5EF4-FFF2-40B4-BE49-F238E27FC236}">
                <a16:creationId xmlns:a16="http://schemas.microsoft.com/office/drawing/2014/main" id="{4F5E027D-416E-0A51-7607-3D83399E0872}"/>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12C6CEF6-5701-222C-0D0B-EE7DE83485A5}"/>
              </a:ext>
            </a:extLst>
          </p:cNvPr>
          <p:cNvSpPr>
            <a:spLocks noGrp="1"/>
          </p:cNvSpPr>
          <p:nvPr>
            <p:ph type="sldNum" sz="quarter" idx="12"/>
          </p:nvPr>
        </p:nvSpPr>
        <p:spPr/>
        <p:txBody>
          <a:bodyPr/>
          <a:lstStyle/>
          <a:p>
            <a:fld id="{D3060201-1C40-4B39-813D-5CD9493BAEED}" type="slidenum">
              <a:rPr lang="en-US" smtClean="0"/>
              <a:t>6</a:t>
            </a:fld>
            <a:endParaRPr lang="en-US"/>
          </a:p>
        </p:txBody>
      </p:sp>
    </p:spTree>
    <p:extLst>
      <p:ext uri="{BB962C8B-B14F-4D97-AF65-F5344CB8AC3E}">
        <p14:creationId xmlns:p14="http://schemas.microsoft.com/office/powerpoint/2010/main" val="2739793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6AFF2-A8AA-979A-15C4-71B14680C068}"/>
              </a:ext>
            </a:extLst>
          </p:cNvPr>
          <p:cNvSpPr>
            <a:spLocks noGrp="1"/>
          </p:cNvSpPr>
          <p:nvPr>
            <p:ph type="title"/>
          </p:nvPr>
        </p:nvSpPr>
        <p:spPr/>
        <p:txBody>
          <a:bodyPr/>
          <a:lstStyle/>
          <a:p>
            <a:pPr algn="ctr"/>
            <a:r>
              <a:rPr lang="en-US"/>
              <a:t>Biến(variables)</a:t>
            </a:r>
          </a:p>
        </p:txBody>
      </p:sp>
      <p:sp>
        <p:nvSpPr>
          <p:cNvPr id="3" name="Content Placeholder 2">
            <a:extLst>
              <a:ext uri="{FF2B5EF4-FFF2-40B4-BE49-F238E27FC236}">
                <a16:creationId xmlns:a16="http://schemas.microsoft.com/office/drawing/2014/main" id="{BD05BBEC-B90D-1FF3-42C3-2B61813CACBE}"/>
              </a:ext>
            </a:extLst>
          </p:cNvPr>
          <p:cNvSpPr>
            <a:spLocks noGrp="1"/>
          </p:cNvSpPr>
          <p:nvPr>
            <p:ph idx="1"/>
          </p:nvPr>
        </p:nvSpPr>
        <p:spPr/>
        <p:txBody>
          <a:bodyPr>
            <a:normAutofit/>
          </a:bodyPr>
          <a:lstStyle/>
          <a:p>
            <a:pPr marL="0" indent="0" algn="just">
              <a:lnSpc>
                <a:spcPct val="100000"/>
              </a:lnSpc>
              <a:buNone/>
            </a:pPr>
            <a:r>
              <a:rPr lang="vi-VN" altLang="zh-CN" sz="2500" i="1">
                <a:solidFill>
                  <a:srgbClr val="FF0000"/>
                </a:solidFill>
                <a:ea typeface="Cambria" panose="02040503050406030204" pitchFamily="18" charset="0"/>
              </a:rPr>
              <a:t>B</a:t>
            </a:r>
            <a:r>
              <a:rPr lang="en-US" altLang="zh-CN" sz="2500" i="1">
                <a:solidFill>
                  <a:srgbClr val="FF0000"/>
                </a:solidFill>
                <a:ea typeface="Cambria" panose="02040503050406030204" pitchFamily="18" charset="0"/>
              </a:rPr>
              <a:t>iến dùng để chứa một giá trị nào đó</a:t>
            </a:r>
          </a:p>
          <a:p>
            <a:pPr marL="0" indent="0" algn="just">
              <a:lnSpc>
                <a:spcPct val="100000"/>
              </a:lnSpc>
              <a:buNone/>
            </a:pPr>
            <a:r>
              <a:rPr lang="en-US" altLang="zh-CN" sz="2500">
                <a:ea typeface="Cambria" panose="02040503050406030204" pitchFamily="18" charset="0"/>
              </a:rPr>
              <a:t>Để tạo một biến trong Python, ta chỉ cần gán giá trị cho biến </a:t>
            </a:r>
            <a:r>
              <a:rPr lang="en-US" altLang="zh-CN" sz="2500" i="1">
                <a:ea typeface="Cambria" panose="02040503050406030204" pitchFamily="18" charset="0"/>
              </a:rPr>
              <a:t>(Tùy vào giá trị gán vào là gì thì biến sẽ có </a:t>
            </a:r>
            <a:r>
              <a:rPr lang="en-US" altLang="zh-CN" sz="2500" b="1" i="1">
                <a:ea typeface="Cambria" panose="02040503050406030204" pitchFamily="18" charset="0"/>
              </a:rPr>
              <a:t>kiểu dữ liệu </a:t>
            </a:r>
            <a:r>
              <a:rPr lang="en-US" altLang="zh-CN" sz="2500" i="1">
                <a:ea typeface="Cambria" panose="02040503050406030204" pitchFamily="18" charset="0"/>
              </a:rPr>
              <a:t>đó)</a:t>
            </a:r>
          </a:p>
          <a:p>
            <a:pPr marL="0" indent="0" algn="just">
              <a:lnSpc>
                <a:spcPct val="100000"/>
              </a:lnSpc>
              <a:buNone/>
            </a:pPr>
            <a:r>
              <a:rPr lang="en-US" altLang="zh-CN" sz="2500">
                <a:ea typeface="Cambria" panose="02040503050406030204" pitchFamily="18" charset="0"/>
              </a:rPr>
              <a:t>Ví dụ:</a:t>
            </a:r>
          </a:p>
          <a:p>
            <a:pPr lvl="2" algn="just">
              <a:lnSpc>
                <a:spcPct val="100000"/>
              </a:lnSpc>
            </a:pPr>
            <a:r>
              <a:rPr lang="en-US" altLang="zh-CN" sz="2500">
                <a:solidFill>
                  <a:srgbClr val="FF0000"/>
                </a:solidFill>
                <a:ea typeface="Cambria" panose="02040503050406030204" pitchFamily="18" charset="0"/>
              </a:rPr>
              <a:t>fullName</a:t>
            </a:r>
            <a:r>
              <a:rPr lang="en-US" altLang="zh-CN" sz="2500">
                <a:ea typeface="Cambria" panose="02040503050406030204" pitchFamily="18" charset="0"/>
              </a:rPr>
              <a:t> = </a:t>
            </a:r>
            <a:r>
              <a:rPr lang="en-US" altLang="zh-CN" sz="2500">
                <a:solidFill>
                  <a:schemeClr val="accent1"/>
                </a:solidFill>
                <a:ea typeface="Cambria" panose="02040503050406030204" pitchFamily="18" charset="0"/>
              </a:rPr>
              <a:t>“Nguyen Van A”</a:t>
            </a:r>
          </a:p>
          <a:p>
            <a:pPr lvl="2" algn="just">
              <a:lnSpc>
                <a:spcPct val="100000"/>
              </a:lnSpc>
            </a:pPr>
            <a:r>
              <a:rPr lang="en-US" altLang="zh-CN" sz="2500">
                <a:solidFill>
                  <a:srgbClr val="FF0000"/>
                </a:solidFill>
                <a:ea typeface="Cambria" panose="02040503050406030204" pitchFamily="18" charset="0"/>
              </a:rPr>
              <a:t>number1</a:t>
            </a:r>
            <a:r>
              <a:rPr lang="en-US" altLang="zh-CN" sz="2500">
                <a:ea typeface="Cambria" panose="02040503050406030204" pitchFamily="18" charset="0"/>
              </a:rPr>
              <a:t> = </a:t>
            </a:r>
            <a:r>
              <a:rPr lang="en-US" altLang="zh-CN" sz="2500">
                <a:solidFill>
                  <a:schemeClr val="accent1"/>
                </a:solidFill>
                <a:ea typeface="Cambria" panose="02040503050406030204" pitchFamily="18" charset="0"/>
              </a:rPr>
              <a:t>20</a:t>
            </a:r>
          </a:p>
          <a:p>
            <a:pPr lvl="2" algn="just">
              <a:lnSpc>
                <a:spcPct val="100000"/>
              </a:lnSpc>
            </a:pPr>
            <a:r>
              <a:rPr lang="en-US" altLang="zh-CN" sz="2500">
                <a:solidFill>
                  <a:srgbClr val="FF0000"/>
                </a:solidFill>
                <a:ea typeface="Cambria" panose="02040503050406030204" pitchFamily="18" charset="0"/>
              </a:rPr>
              <a:t>number2 </a:t>
            </a:r>
            <a:r>
              <a:rPr lang="en-US" altLang="zh-CN" sz="2500">
                <a:ea typeface="Cambria" panose="02040503050406030204" pitchFamily="18" charset="0"/>
              </a:rPr>
              <a:t>= </a:t>
            </a:r>
            <a:r>
              <a:rPr lang="en-US" altLang="zh-CN" sz="2500">
                <a:solidFill>
                  <a:schemeClr val="accent1"/>
                </a:solidFill>
                <a:ea typeface="Cambria" panose="02040503050406030204" pitchFamily="18" charset="0"/>
              </a:rPr>
              <a:t>8.5</a:t>
            </a:r>
          </a:p>
          <a:p>
            <a:pPr lvl="2" algn="just">
              <a:lnSpc>
                <a:spcPct val="100000"/>
              </a:lnSpc>
            </a:pPr>
            <a:endParaRPr lang="en-US" altLang="zh-CN" sz="2500">
              <a:ea typeface="Cambria" panose="02040503050406030204" pitchFamily="18" charset="0"/>
            </a:endParaRPr>
          </a:p>
          <a:p>
            <a:pPr algn="just">
              <a:lnSpc>
                <a:spcPct val="100000"/>
              </a:lnSpc>
            </a:pPr>
            <a:endParaRPr lang="en-VN" sz="2500">
              <a:ea typeface="Cambria" panose="02040503050406030204" pitchFamily="18" charset="0"/>
            </a:endParaRPr>
          </a:p>
        </p:txBody>
      </p:sp>
      <p:sp>
        <p:nvSpPr>
          <p:cNvPr id="4" name="Date Placeholder 3">
            <a:extLst>
              <a:ext uri="{FF2B5EF4-FFF2-40B4-BE49-F238E27FC236}">
                <a16:creationId xmlns:a16="http://schemas.microsoft.com/office/drawing/2014/main" id="{9C086712-2F22-4EBF-EE17-004D1C6F59ED}"/>
              </a:ext>
            </a:extLst>
          </p:cNvPr>
          <p:cNvSpPr>
            <a:spLocks noGrp="1"/>
          </p:cNvSpPr>
          <p:nvPr>
            <p:ph type="dt" sz="half" idx="10"/>
          </p:nvPr>
        </p:nvSpPr>
        <p:spPr/>
        <p:txBody>
          <a:bodyPr/>
          <a:lstStyle/>
          <a:p>
            <a:fld id="{0FBE6057-65B8-486A-AB65-935B5863734E}" type="datetime1">
              <a:rPr lang="en-US" smtClean="0"/>
              <a:t>7/25/2024</a:t>
            </a:fld>
            <a:endParaRPr lang="en-US"/>
          </a:p>
        </p:txBody>
      </p:sp>
      <p:sp>
        <p:nvSpPr>
          <p:cNvPr id="5" name="Footer Placeholder 4">
            <a:extLst>
              <a:ext uri="{FF2B5EF4-FFF2-40B4-BE49-F238E27FC236}">
                <a16:creationId xmlns:a16="http://schemas.microsoft.com/office/drawing/2014/main" id="{C8073FDB-F26F-AC20-CF88-E3DCDB33231E}"/>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31F1F5E5-FC58-E547-6F71-69CA85449284}"/>
              </a:ext>
            </a:extLst>
          </p:cNvPr>
          <p:cNvSpPr>
            <a:spLocks noGrp="1"/>
          </p:cNvSpPr>
          <p:nvPr>
            <p:ph type="sldNum" sz="quarter" idx="12"/>
          </p:nvPr>
        </p:nvSpPr>
        <p:spPr/>
        <p:txBody>
          <a:bodyPr/>
          <a:lstStyle/>
          <a:p>
            <a:fld id="{D3060201-1C40-4B39-813D-5CD9493BAEED}" type="slidenum">
              <a:rPr lang="en-US" smtClean="0"/>
              <a:t>7</a:t>
            </a:fld>
            <a:endParaRPr lang="en-US"/>
          </a:p>
        </p:txBody>
      </p:sp>
    </p:spTree>
    <p:extLst>
      <p:ext uri="{BB962C8B-B14F-4D97-AF65-F5344CB8AC3E}">
        <p14:creationId xmlns:p14="http://schemas.microsoft.com/office/powerpoint/2010/main" val="1136799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8E999-CF7B-230C-F52C-F05CAD976E63}"/>
              </a:ext>
            </a:extLst>
          </p:cNvPr>
          <p:cNvSpPr>
            <a:spLocks noGrp="1"/>
          </p:cNvSpPr>
          <p:nvPr>
            <p:ph type="title"/>
          </p:nvPr>
        </p:nvSpPr>
        <p:spPr/>
        <p:txBody>
          <a:bodyPr>
            <a:normAutofit/>
          </a:bodyPr>
          <a:lstStyle/>
          <a:p>
            <a:pPr algn="ctr"/>
            <a:r>
              <a:rPr lang="en-US" altLang="zh-CN" sz="5000"/>
              <a:t>Kiểu Dữ Liệu (Data Type)</a:t>
            </a:r>
            <a:endParaRPr lang="en-US" sz="5000" dirty="0"/>
          </a:p>
        </p:txBody>
      </p:sp>
      <p:sp>
        <p:nvSpPr>
          <p:cNvPr id="3" name="Content Placeholder 2">
            <a:extLst>
              <a:ext uri="{FF2B5EF4-FFF2-40B4-BE49-F238E27FC236}">
                <a16:creationId xmlns:a16="http://schemas.microsoft.com/office/drawing/2014/main" id="{EA5DDC0F-E36B-E89C-19ED-EC50D7758A36}"/>
              </a:ext>
            </a:extLst>
          </p:cNvPr>
          <p:cNvSpPr>
            <a:spLocks noGrp="1"/>
          </p:cNvSpPr>
          <p:nvPr>
            <p:ph idx="1"/>
          </p:nvPr>
        </p:nvSpPr>
        <p:spPr/>
        <p:txBody>
          <a:bodyPr>
            <a:noAutofit/>
          </a:bodyPr>
          <a:lstStyle/>
          <a:p>
            <a:pPr marL="0" indent="0" algn="just">
              <a:lnSpc>
                <a:spcPct val="110000"/>
              </a:lnSpc>
              <a:buNone/>
            </a:pPr>
            <a:r>
              <a:rPr lang="en-US" altLang="zh-CN" sz="2500">
                <a:ea typeface="Cambria" panose="02040503050406030204" pitchFamily="18" charset="0"/>
              </a:rPr>
              <a:t>Mỗi kiểu dữ liệu khác nhau sẽ có ý nghĩa và thực hiện những công việc khác nhau tùy vào nhu cầu người sử dụng</a:t>
            </a:r>
          </a:p>
          <a:p>
            <a:pPr marL="0" indent="0" algn="just">
              <a:lnSpc>
                <a:spcPct val="110000"/>
              </a:lnSpc>
              <a:buNone/>
            </a:pPr>
            <a:r>
              <a:rPr lang="en-US" altLang="zh-CN" sz="2500">
                <a:ea typeface="Cambria" panose="02040503050406030204" pitchFamily="18" charset="0"/>
              </a:rPr>
              <a:t>Trong Python có các kiểu dữ liệu như sau:</a:t>
            </a:r>
          </a:p>
          <a:p>
            <a:pPr marL="0" indent="0" algn="just">
              <a:lnSpc>
                <a:spcPct val="110000"/>
              </a:lnSpc>
              <a:buNone/>
            </a:pPr>
            <a:r>
              <a:rPr lang="en-US" altLang="zh-CN" sz="2500">
                <a:solidFill>
                  <a:schemeClr val="accent1"/>
                </a:solidFill>
                <a:ea typeface="Cambria" panose="02040503050406030204" pitchFamily="18" charset="0"/>
              </a:rPr>
              <a:t>Text Type:              </a:t>
            </a:r>
            <a:r>
              <a:rPr lang="en-US" altLang="zh-CN" sz="2500">
                <a:solidFill>
                  <a:schemeClr val="accent2"/>
                </a:solidFill>
                <a:ea typeface="Cambria" panose="02040503050406030204" pitchFamily="18" charset="0"/>
              </a:rPr>
              <a:t>str</a:t>
            </a:r>
          </a:p>
          <a:p>
            <a:pPr marL="0" indent="0" algn="just">
              <a:lnSpc>
                <a:spcPct val="110000"/>
              </a:lnSpc>
              <a:buNone/>
            </a:pPr>
            <a:r>
              <a:rPr lang="en-US" altLang="zh-CN" sz="2500">
                <a:solidFill>
                  <a:schemeClr val="accent1"/>
                </a:solidFill>
                <a:ea typeface="Cambria" panose="02040503050406030204" pitchFamily="18" charset="0"/>
              </a:rPr>
              <a:t>Numeric Types:   </a:t>
            </a:r>
            <a:r>
              <a:rPr lang="en-US" altLang="zh-CN" sz="2500">
                <a:solidFill>
                  <a:schemeClr val="accent2"/>
                </a:solidFill>
                <a:ea typeface="Cambria" panose="02040503050406030204" pitchFamily="18" charset="0"/>
              </a:rPr>
              <a:t>int, float, complex</a:t>
            </a:r>
          </a:p>
          <a:p>
            <a:pPr marL="0" indent="0" algn="just">
              <a:lnSpc>
                <a:spcPct val="110000"/>
              </a:lnSpc>
              <a:buNone/>
            </a:pPr>
            <a:r>
              <a:rPr lang="en-US" altLang="zh-CN" sz="2500">
                <a:solidFill>
                  <a:schemeClr val="accent1"/>
                </a:solidFill>
                <a:ea typeface="Cambria" panose="02040503050406030204" pitchFamily="18" charset="0"/>
              </a:rPr>
              <a:t>Boolean Type:      </a:t>
            </a:r>
            <a:r>
              <a:rPr lang="en-US" altLang="zh-CN" sz="2500">
                <a:solidFill>
                  <a:schemeClr val="accent2"/>
                </a:solidFill>
                <a:ea typeface="Cambria" panose="02040503050406030204" pitchFamily="18" charset="0"/>
              </a:rPr>
              <a:t>bool</a:t>
            </a:r>
          </a:p>
          <a:p>
            <a:pPr marL="0" indent="0" algn="just">
              <a:lnSpc>
                <a:spcPct val="110000"/>
              </a:lnSpc>
              <a:buNone/>
            </a:pPr>
            <a:r>
              <a:rPr lang="en-US" altLang="zh-CN" sz="2500">
                <a:solidFill>
                  <a:schemeClr val="accent1"/>
                </a:solidFill>
                <a:ea typeface="Cambria" panose="02040503050406030204" pitchFamily="18" charset="0"/>
              </a:rPr>
              <a:t>Sequence Types: </a:t>
            </a:r>
            <a:r>
              <a:rPr lang="en-US" altLang="zh-CN" sz="2500">
                <a:solidFill>
                  <a:schemeClr val="accent2"/>
                </a:solidFill>
                <a:ea typeface="Cambria" panose="02040503050406030204" pitchFamily="18" charset="0"/>
              </a:rPr>
              <a:t>list, tuple</a:t>
            </a:r>
          </a:p>
          <a:p>
            <a:pPr marL="0" indent="0" algn="just">
              <a:lnSpc>
                <a:spcPct val="110000"/>
              </a:lnSpc>
              <a:buNone/>
            </a:pPr>
            <a:r>
              <a:rPr lang="en-US" altLang="zh-CN" sz="2500">
                <a:solidFill>
                  <a:schemeClr val="accent1"/>
                </a:solidFill>
                <a:ea typeface="Cambria" panose="02040503050406030204" pitchFamily="18" charset="0"/>
              </a:rPr>
              <a:t>Mapping Type:    </a:t>
            </a:r>
            <a:r>
              <a:rPr lang="en-US" altLang="zh-CN" sz="2500">
                <a:solidFill>
                  <a:schemeClr val="accent2"/>
                </a:solidFill>
                <a:ea typeface="Cambria" panose="02040503050406030204" pitchFamily="18" charset="0"/>
              </a:rPr>
              <a:t>dict</a:t>
            </a:r>
            <a:endParaRPr lang="en-US" altLang="zh-CN" sz="2500" b="1">
              <a:solidFill>
                <a:schemeClr val="accent2"/>
              </a:solidFill>
              <a:ea typeface="Cambria" panose="02040503050406030204" pitchFamily="18" charset="0"/>
            </a:endParaRPr>
          </a:p>
          <a:p>
            <a:pPr marL="0" indent="0" algn="just">
              <a:lnSpc>
                <a:spcPct val="110000"/>
              </a:lnSpc>
              <a:buNone/>
            </a:pPr>
            <a:r>
              <a:rPr lang="en-US" altLang="zh-CN" sz="2500" b="1">
                <a:solidFill>
                  <a:schemeClr val="accent2"/>
                </a:solidFill>
                <a:ea typeface="Cambria" panose="02040503050406030204" pitchFamily="18" charset="0"/>
              </a:rPr>
              <a:t>….</a:t>
            </a:r>
            <a:endParaRPr lang="en-US" altLang="zh-CN" sz="2500">
              <a:solidFill>
                <a:schemeClr val="accent2"/>
              </a:solidFill>
              <a:ea typeface="Cambria" panose="02040503050406030204" pitchFamily="18" charset="0"/>
            </a:endParaRPr>
          </a:p>
          <a:p>
            <a:pPr marL="0" indent="0" algn="just">
              <a:buNone/>
            </a:pPr>
            <a:endParaRPr lang="en-US" sz="2500">
              <a:ea typeface="Cambria" panose="02040503050406030204" pitchFamily="18" charset="0"/>
            </a:endParaRPr>
          </a:p>
        </p:txBody>
      </p:sp>
      <p:pic>
        <p:nvPicPr>
          <p:cNvPr id="4" name="Picture 3" descr="A diagram of a type of text&#10;&#10;Description automatically generated">
            <a:extLst>
              <a:ext uri="{FF2B5EF4-FFF2-40B4-BE49-F238E27FC236}">
                <a16:creationId xmlns:a16="http://schemas.microsoft.com/office/drawing/2014/main" id="{52D38AD1-C31D-8979-0933-05EE3A334536}"/>
              </a:ext>
            </a:extLst>
          </p:cNvPr>
          <p:cNvPicPr>
            <a:picLocks noChangeAspect="1"/>
          </p:cNvPicPr>
          <p:nvPr/>
        </p:nvPicPr>
        <p:blipFill>
          <a:blip r:embed="rId2"/>
          <a:stretch>
            <a:fillRect/>
          </a:stretch>
        </p:blipFill>
        <p:spPr>
          <a:xfrm>
            <a:off x="6774561" y="2739531"/>
            <a:ext cx="4579239" cy="3590123"/>
          </a:xfrm>
          <a:prstGeom prst="rect">
            <a:avLst/>
          </a:prstGeom>
        </p:spPr>
      </p:pic>
      <p:sp>
        <p:nvSpPr>
          <p:cNvPr id="5" name="Date Placeholder 4">
            <a:extLst>
              <a:ext uri="{FF2B5EF4-FFF2-40B4-BE49-F238E27FC236}">
                <a16:creationId xmlns:a16="http://schemas.microsoft.com/office/drawing/2014/main" id="{1E6CD59B-9804-FEC9-2A1E-2C04ACEACC52}"/>
              </a:ext>
            </a:extLst>
          </p:cNvPr>
          <p:cNvSpPr>
            <a:spLocks noGrp="1"/>
          </p:cNvSpPr>
          <p:nvPr>
            <p:ph type="dt" sz="half" idx="10"/>
          </p:nvPr>
        </p:nvSpPr>
        <p:spPr/>
        <p:txBody>
          <a:bodyPr/>
          <a:lstStyle/>
          <a:p>
            <a:fld id="{C91F251D-189B-4915-A949-8EC9435B6D2C}" type="datetime1">
              <a:rPr lang="en-US" smtClean="0"/>
              <a:t>7/25/2024</a:t>
            </a:fld>
            <a:endParaRPr lang="en-US"/>
          </a:p>
        </p:txBody>
      </p:sp>
      <p:sp>
        <p:nvSpPr>
          <p:cNvPr id="6" name="Footer Placeholder 5">
            <a:extLst>
              <a:ext uri="{FF2B5EF4-FFF2-40B4-BE49-F238E27FC236}">
                <a16:creationId xmlns:a16="http://schemas.microsoft.com/office/drawing/2014/main" id="{6526033D-6460-8246-2CA0-72155977856F}"/>
              </a:ext>
            </a:extLst>
          </p:cNvPr>
          <p:cNvSpPr>
            <a:spLocks noGrp="1"/>
          </p:cNvSpPr>
          <p:nvPr>
            <p:ph type="ftr" sz="quarter" idx="11"/>
          </p:nvPr>
        </p:nvSpPr>
        <p:spPr/>
        <p:txBody>
          <a:bodyPr/>
          <a:lstStyle/>
          <a:p>
            <a:r>
              <a:rPr lang="en-US"/>
              <a:t>Ngôn ngữ lập trình Python</a:t>
            </a:r>
          </a:p>
        </p:txBody>
      </p:sp>
      <p:sp>
        <p:nvSpPr>
          <p:cNvPr id="7" name="Slide Number Placeholder 6">
            <a:extLst>
              <a:ext uri="{FF2B5EF4-FFF2-40B4-BE49-F238E27FC236}">
                <a16:creationId xmlns:a16="http://schemas.microsoft.com/office/drawing/2014/main" id="{21C57A32-52E7-5E4D-C15A-B3B1D256B842}"/>
              </a:ext>
            </a:extLst>
          </p:cNvPr>
          <p:cNvSpPr>
            <a:spLocks noGrp="1"/>
          </p:cNvSpPr>
          <p:nvPr>
            <p:ph type="sldNum" sz="quarter" idx="12"/>
          </p:nvPr>
        </p:nvSpPr>
        <p:spPr/>
        <p:txBody>
          <a:bodyPr/>
          <a:lstStyle/>
          <a:p>
            <a:fld id="{D3060201-1C40-4B39-813D-5CD9493BAEED}" type="slidenum">
              <a:rPr lang="en-US" smtClean="0"/>
              <a:t>8</a:t>
            </a:fld>
            <a:endParaRPr lang="en-US"/>
          </a:p>
        </p:txBody>
      </p:sp>
    </p:spTree>
    <p:extLst>
      <p:ext uri="{BB962C8B-B14F-4D97-AF65-F5344CB8AC3E}">
        <p14:creationId xmlns:p14="http://schemas.microsoft.com/office/powerpoint/2010/main" val="3283548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8E999-CF7B-230C-F52C-F05CAD976E63}"/>
              </a:ext>
            </a:extLst>
          </p:cNvPr>
          <p:cNvSpPr>
            <a:spLocks noGrp="1"/>
          </p:cNvSpPr>
          <p:nvPr>
            <p:ph type="title"/>
          </p:nvPr>
        </p:nvSpPr>
        <p:spPr/>
        <p:txBody>
          <a:bodyPr>
            <a:normAutofit/>
          </a:bodyPr>
          <a:lstStyle/>
          <a:p>
            <a:pPr algn="ctr"/>
            <a:r>
              <a:rPr lang="en-US" sz="4900"/>
              <a:t>Kiểm Tra Data Type</a:t>
            </a:r>
          </a:p>
        </p:txBody>
      </p:sp>
      <p:sp>
        <p:nvSpPr>
          <p:cNvPr id="3" name="Content Placeholder 2">
            <a:extLst>
              <a:ext uri="{FF2B5EF4-FFF2-40B4-BE49-F238E27FC236}">
                <a16:creationId xmlns:a16="http://schemas.microsoft.com/office/drawing/2014/main" id="{EA5DDC0F-E36B-E89C-19ED-EC50D7758A36}"/>
              </a:ext>
            </a:extLst>
          </p:cNvPr>
          <p:cNvSpPr>
            <a:spLocks noGrp="1"/>
          </p:cNvSpPr>
          <p:nvPr>
            <p:ph idx="1"/>
          </p:nvPr>
        </p:nvSpPr>
        <p:spPr/>
        <p:txBody>
          <a:bodyPr>
            <a:noAutofit/>
          </a:bodyPr>
          <a:lstStyle/>
          <a:p>
            <a:pPr marL="0" indent="0" algn="just">
              <a:lnSpc>
                <a:spcPct val="100000"/>
              </a:lnSpc>
              <a:buNone/>
            </a:pPr>
            <a:r>
              <a:rPr lang="en-US" altLang="zh-CN" sz="2500">
                <a:ea typeface="Cambria" panose="02040503050406030204" pitchFamily="18" charset="0"/>
              </a:rPr>
              <a:t>Để kiểm tra một biến có kiểu dữ liệu gì, ta dùng hàm type(var_name) có sẵn trong Python hay còn gọi là những built-in functions.</a:t>
            </a:r>
          </a:p>
          <a:p>
            <a:pPr marL="0" indent="0" algn="just">
              <a:lnSpc>
                <a:spcPct val="100000"/>
              </a:lnSpc>
              <a:buNone/>
            </a:pPr>
            <a:r>
              <a:rPr lang="en-US" altLang="zh-CN" sz="2500" b="1">
                <a:ea typeface="Cambria" panose="02040503050406030204" pitchFamily="18" charset="0"/>
              </a:rPr>
              <a:t>Ví dụ:</a:t>
            </a:r>
          </a:p>
          <a:p>
            <a:pPr marL="0" indent="0">
              <a:lnSpc>
                <a:spcPct val="100000"/>
              </a:lnSpc>
              <a:buNone/>
            </a:pPr>
            <a:r>
              <a:rPr lang="en-US" sz="2500">
                <a:ea typeface="Cambria" panose="02040503050406030204" pitchFamily="18" charset="0"/>
              </a:rPr>
              <a:t>complexNo = 2 + 3j</a:t>
            </a:r>
          </a:p>
          <a:p>
            <a:pPr marL="0" indent="0">
              <a:lnSpc>
                <a:spcPct val="100000"/>
              </a:lnSpc>
              <a:buNone/>
            </a:pPr>
            <a:r>
              <a:rPr lang="en-US" sz="2500">
                <a:ea typeface="Cambria" panose="02040503050406030204" pitchFamily="18" charset="0"/>
              </a:rPr>
              <a:t>print(complexNo)</a:t>
            </a:r>
          </a:p>
          <a:p>
            <a:pPr marL="0" indent="0">
              <a:lnSpc>
                <a:spcPct val="100000"/>
              </a:lnSpc>
              <a:buNone/>
            </a:pPr>
            <a:r>
              <a:rPr lang="en-US" sz="2500">
                <a:ea typeface="Cambria" panose="02040503050406030204" pitchFamily="18" charset="0"/>
              </a:rPr>
              <a:t>print(type(complexNo))</a:t>
            </a:r>
          </a:p>
          <a:p>
            <a:pPr marL="0" indent="0">
              <a:lnSpc>
                <a:spcPct val="100000"/>
              </a:lnSpc>
              <a:buNone/>
            </a:pPr>
            <a:r>
              <a:rPr lang="en-US" sz="2500" b="1">
                <a:ea typeface="Cambria" panose="02040503050406030204" pitchFamily="18" charset="0"/>
                <a:sym typeface="Wingdings" panose="05000000000000000000" pitchFamily="2" charset="2"/>
              </a:rPr>
              <a:t>#output: </a:t>
            </a:r>
          </a:p>
          <a:p>
            <a:pPr marL="0" indent="0">
              <a:lnSpc>
                <a:spcPct val="100000"/>
              </a:lnSpc>
              <a:buNone/>
            </a:pPr>
            <a:r>
              <a:rPr lang="en-US" sz="2500">
                <a:ea typeface="Cambria" panose="02040503050406030204" pitchFamily="18" charset="0"/>
                <a:sym typeface="Wingdings" panose="05000000000000000000" pitchFamily="2" charset="2"/>
              </a:rPr>
              <a:t>(2+3j)</a:t>
            </a:r>
          </a:p>
          <a:p>
            <a:pPr marL="0" indent="0">
              <a:lnSpc>
                <a:spcPct val="100000"/>
              </a:lnSpc>
              <a:buNone/>
            </a:pPr>
            <a:r>
              <a:rPr lang="en-US" sz="2500">
                <a:ea typeface="Cambria" panose="02040503050406030204" pitchFamily="18" charset="0"/>
                <a:sym typeface="Wingdings" panose="05000000000000000000" pitchFamily="2" charset="2"/>
              </a:rPr>
              <a:t>&lt;class 'complex'&gt;</a:t>
            </a:r>
            <a:endParaRPr lang="en-US" sz="2500">
              <a:ea typeface="Cambria" panose="02040503050406030204" pitchFamily="18" charset="0"/>
            </a:endParaRPr>
          </a:p>
          <a:p>
            <a:pPr algn="just">
              <a:lnSpc>
                <a:spcPct val="100000"/>
              </a:lnSpc>
            </a:pPr>
            <a:endParaRPr lang="en-US" sz="2500">
              <a:ea typeface="Cambria" panose="02040503050406030204" pitchFamily="18" charset="0"/>
            </a:endParaRPr>
          </a:p>
        </p:txBody>
      </p:sp>
      <p:sp>
        <p:nvSpPr>
          <p:cNvPr id="4" name="Date Placeholder 3">
            <a:extLst>
              <a:ext uri="{FF2B5EF4-FFF2-40B4-BE49-F238E27FC236}">
                <a16:creationId xmlns:a16="http://schemas.microsoft.com/office/drawing/2014/main" id="{FEE82A42-97DE-94FA-0F44-E6A8434CD888}"/>
              </a:ext>
            </a:extLst>
          </p:cNvPr>
          <p:cNvSpPr>
            <a:spLocks noGrp="1"/>
          </p:cNvSpPr>
          <p:nvPr>
            <p:ph type="dt" sz="half" idx="10"/>
          </p:nvPr>
        </p:nvSpPr>
        <p:spPr/>
        <p:txBody>
          <a:bodyPr/>
          <a:lstStyle/>
          <a:p>
            <a:fld id="{57B88882-F7AE-4D25-8A36-D4C7CC0F895C}" type="datetime1">
              <a:rPr lang="en-US" smtClean="0"/>
              <a:t>7/25/2024</a:t>
            </a:fld>
            <a:endParaRPr lang="en-US"/>
          </a:p>
        </p:txBody>
      </p:sp>
      <p:sp>
        <p:nvSpPr>
          <p:cNvPr id="5" name="Footer Placeholder 4">
            <a:extLst>
              <a:ext uri="{FF2B5EF4-FFF2-40B4-BE49-F238E27FC236}">
                <a16:creationId xmlns:a16="http://schemas.microsoft.com/office/drawing/2014/main" id="{65B1CC77-D17A-230B-A688-1532AFEC8316}"/>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94B171EA-C8E9-F313-6B4E-65AD854A89E8}"/>
              </a:ext>
            </a:extLst>
          </p:cNvPr>
          <p:cNvSpPr>
            <a:spLocks noGrp="1"/>
          </p:cNvSpPr>
          <p:nvPr>
            <p:ph type="sldNum" sz="quarter" idx="12"/>
          </p:nvPr>
        </p:nvSpPr>
        <p:spPr/>
        <p:txBody>
          <a:bodyPr/>
          <a:lstStyle/>
          <a:p>
            <a:fld id="{D3060201-1C40-4B39-813D-5CD9493BAEED}" type="slidenum">
              <a:rPr lang="en-US" smtClean="0"/>
              <a:t>9</a:t>
            </a:fld>
            <a:endParaRPr lang="en-US"/>
          </a:p>
        </p:txBody>
      </p:sp>
    </p:spTree>
    <p:extLst>
      <p:ext uri="{BB962C8B-B14F-4D97-AF65-F5344CB8AC3E}">
        <p14:creationId xmlns:p14="http://schemas.microsoft.com/office/powerpoint/2010/main" val="1599024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C9AE8-3CEF-2035-32CE-662D1AED6CE5}"/>
              </a:ext>
            </a:extLst>
          </p:cNvPr>
          <p:cNvSpPr>
            <a:spLocks noGrp="1"/>
          </p:cNvSpPr>
          <p:nvPr>
            <p:ph type="title"/>
          </p:nvPr>
        </p:nvSpPr>
        <p:spPr/>
        <p:txBody>
          <a:bodyPr/>
          <a:lstStyle/>
          <a:p>
            <a:pPr algn="ctr"/>
            <a:r>
              <a:rPr lang="en-US"/>
              <a:t>Các kiểu dữ liệu trong Python</a:t>
            </a:r>
          </a:p>
        </p:txBody>
      </p:sp>
      <p:sp>
        <p:nvSpPr>
          <p:cNvPr id="3" name="Content Placeholder 2">
            <a:extLst>
              <a:ext uri="{FF2B5EF4-FFF2-40B4-BE49-F238E27FC236}">
                <a16:creationId xmlns:a16="http://schemas.microsoft.com/office/drawing/2014/main" id="{11631B70-3255-BDBD-6F3A-E90069B12D59}"/>
              </a:ext>
            </a:extLst>
          </p:cNvPr>
          <p:cNvSpPr>
            <a:spLocks noGrp="1"/>
          </p:cNvSpPr>
          <p:nvPr>
            <p:ph idx="1"/>
          </p:nvPr>
        </p:nvSpPr>
        <p:spPr/>
        <p:txBody>
          <a:bodyPr/>
          <a:lstStyle/>
          <a:p>
            <a:pPr>
              <a:buFont typeface="Wingdings" panose="05000000000000000000" pitchFamily="2" charset="2"/>
              <a:buChar char="v"/>
            </a:pPr>
            <a:r>
              <a:rPr lang="en-US" b="1"/>
              <a:t> Kiểu số nguyên(int)</a:t>
            </a:r>
          </a:p>
          <a:p>
            <a:pPr marL="0" indent="0">
              <a:buNone/>
            </a:pPr>
            <a:r>
              <a:rPr lang="en-US"/>
              <a:t>Đại diện cho các số nguyên. </a:t>
            </a:r>
          </a:p>
          <a:p>
            <a:pPr>
              <a:buFont typeface="Wingdings" panose="05000000000000000000" pitchFamily="2" charset="2"/>
              <a:buChar char="v"/>
            </a:pPr>
            <a:r>
              <a:rPr lang="en-US" b="1"/>
              <a:t>Kiểu số thực(float)</a:t>
            </a:r>
          </a:p>
          <a:p>
            <a:pPr marL="0" indent="0">
              <a:buNone/>
            </a:pPr>
            <a:r>
              <a:rPr lang="en-US"/>
              <a:t>Đại diện cho các số thực</a:t>
            </a:r>
          </a:p>
          <a:p>
            <a:pPr>
              <a:buFont typeface="Wingdings" panose="05000000000000000000" pitchFamily="2" charset="2"/>
              <a:buChar char="v"/>
            </a:pPr>
            <a:r>
              <a:rPr lang="en-US" b="1"/>
              <a:t>Kiểu logic(Boolean): True, False</a:t>
            </a:r>
          </a:p>
          <a:p>
            <a:pPr>
              <a:buFont typeface="Wingdings" panose="05000000000000000000" pitchFamily="2" charset="2"/>
              <a:buChar char="v"/>
            </a:pPr>
            <a:r>
              <a:rPr lang="en-US" b="1"/>
              <a:t>Kiểu string</a:t>
            </a:r>
          </a:p>
          <a:p>
            <a:pPr marL="0" indent="0">
              <a:buNone/>
            </a:pPr>
            <a:r>
              <a:rPr lang="en-US"/>
              <a:t>Nằm trong cặp dấu nháy đơn hoặc nháy kép</a:t>
            </a:r>
          </a:p>
        </p:txBody>
      </p:sp>
      <p:sp>
        <p:nvSpPr>
          <p:cNvPr id="4" name="Date Placeholder 3">
            <a:extLst>
              <a:ext uri="{FF2B5EF4-FFF2-40B4-BE49-F238E27FC236}">
                <a16:creationId xmlns:a16="http://schemas.microsoft.com/office/drawing/2014/main" id="{6A308DA7-D6D6-338B-6873-DE3D6FEC3CCD}"/>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E0629A69-77B5-7804-0AF7-B66AF521A7D8}"/>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CF70AF57-DED8-6005-8010-94B434E9029E}"/>
              </a:ext>
            </a:extLst>
          </p:cNvPr>
          <p:cNvSpPr>
            <a:spLocks noGrp="1"/>
          </p:cNvSpPr>
          <p:nvPr>
            <p:ph type="sldNum" sz="quarter" idx="12"/>
          </p:nvPr>
        </p:nvSpPr>
        <p:spPr/>
        <p:txBody>
          <a:bodyPr/>
          <a:lstStyle/>
          <a:p>
            <a:fld id="{D3060201-1C40-4B39-813D-5CD9493BAEED}" type="slidenum">
              <a:rPr lang="en-US" smtClean="0"/>
              <a:t>10</a:t>
            </a:fld>
            <a:endParaRPr lang="en-US"/>
          </a:p>
        </p:txBody>
      </p:sp>
    </p:spTree>
    <p:extLst>
      <p:ext uri="{BB962C8B-B14F-4D97-AF65-F5344CB8AC3E}">
        <p14:creationId xmlns:p14="http://schemas.microsoft.com/office/powerpoint/2010/main" val="3597992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504F3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2A3DB57-DEF2-C289-36B5-062D1D4E7039}"/>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Các kiểu dữ liệu trong Python</a:t>
            </a:r>
          </a:p>
        </p:txBody>
      </p:sp>
      <p:sp>
        <p:nvSpPr>
          <p:cNvPr id="3" name="Content Placeholder 2">
            <a:extLst>
              <a:ext uri="{FF2B5EF4-FFF2-40B4-BE49-F238E27FC236}">
                <a16:creationId xmlns:a16="http://schemas.microsoft.com/office/drawing/2014/main" id="{9E9D2F30-E2E5-FF62-C7F6-970B68F97D7A}"/>
              </a:ext>
            </a:extLst>
          </p:cNvPr>
          <p:cNvSpPr>
            <a:spLocks noGrp="1"/>
          </p:cNvSpPr>
          <p:nvPr>
            <p:ph idx="1"/>
          </p:nvPr>
        </p:nvSpPr>
        <p:spPr>
          <a:xfrm>
            <a:off x="492371" y="2653800"/>
            <a:ext cx="3084844" cy="3335519"/>
          </a:xfrm>
        </p:spPr>
        <p:txBody>
          <a:bodyPr>
            <a:normAutofit/>
          </a:bodyPr>
          <a:lstStyle/>
          <a:p>
            <a:pPr>
              <a:buFont typeface="Wingdings" panose="05000000000000000000" pitchFamily="2" charset="2"/>
              <a:buChar char="v"/>
            </a:pPr>
            <a:r>
              <a:rPr lang="en-US" sz="1500" b="1">
                <a:solidFill>
                  <a:srgbClr val="FFFFFF"/>
                </a:solidFill>
              </a:rPr>
              <a:t>Kiểu list</a:t>
            </a:r>
          </a:p>
        </p:txBody>
      </p:sp>
      <p:sp>
        <p:nvSpPr>
          <p:cNvPr id="23" name="Rectangle 22">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FAA1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descr="A screenshot of a computer&#10;&#10;Description automatically generated">
            <a:extLst>
              <a:ext uri="{FF2B5EF4-FFF2-40B4-BE49-F238E27FC236}">
                <a16:creationId xmlns:a16="http://schemas.microsoft.com/office/drawing/2014/main" id="{1DDA1EC7-E9FF-D7AA-00CD-6FAE9B6C4BE2}"/>
              </a:ext>
            </a:extLst>
          </p:cNvPr>
          <p:cNvPicPr>
            <a:picLocks noChangeAspect="1"/>
          </p:cNvPicPr>
          <p:nvPr/>
        </p:nvPicPr>
        <p:blipFill>
          <a:blip r:embed="rId2"/>
          <a:stretch>
            <a:fillRect/>
          </a:stretch>
        </p:blipFill>
        <p:spPr>
          <a:xfrm>
            <a:off x="4742017" y="1998875"/>
            <a:ext cx="6798082" cy="2860249"/>
          </a:xfrm>
          <a:prstGeom prst="rect">
            <a:avLst/>
          </a:prstGeom>
        </p:spPr>
      </p:pic>
      <p:sp>
        <p:nvSpPr>
          <p:cNvPr id="5" name="Footer Placeholder 4">
            <a:extLst>
              <a:ext uri="{FF2B5EF4-FFF2-40B4-BE49-F238E27FC236}">
                <a16:creationId xmlns:a16="http://schemas.microsoft.com/office/drawing/2014/main" id="{A3C32816-D4A7-B4E5-0983-F4B9C431C5F3}"/>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8DFA2C06-DB93-BD62-4F85-47989D8EFB06}"/>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F7F38A0D-B49D-3A04-3485-80FEC0FFD932}"/>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11</a:t>
            </a:fld>
            <a:endParaRPr lang="en-US">
              <a:solidFill>
                <a:schemeClr val="tx2"/>
              </a:solidFill>
            </a:endParaRPr>
          </a:p>
        </p:txBody>
      </p:sp>
    </p:spTree>
    <p:extLst>
      <p:ext uri="{BB962C8B-B14F-4D97-AF65-F5344CB8AC3E}">
        <p14:creationId xmlns:p14="http://schemas.microsoft.com/office/powerpoint/2010/main" val="1190556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44C3061-D558-447B-A988-09ECE14461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9339771-9C8F-497E-8974-E09A86FEEB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374A4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2A3DB57-DEF2-C289-36B5-062D1D4E7039}"/>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Các kiểu dữ liệu trong Python</a:t>
            </a:r>
          </a:p>
        </p:txBody>
      </p:sp>
      <p:sp>
        <p:nvSpPr>
          <p:cNvPr id="8" name="Content Placeholder 7">
            <a:extLst>
              <a:ext uri="{FF2B5EF4-FFF2-40B4-BE49-F238E27FC236}">
                <a16:creationId xmlns:a16="http://schemas.microsoft.com/office/drawing/2014/main" id="{2781B73D-A36C-FBCC-7E21-2947305BA9D4}"/>
              </a:ext>
            </a:extLst>
          </p:cNvPr>
          <p:cNvSpPr>
            <a:spLocks noGrp="1"/>
          </p:cNvSpPr>
          <p:nvPr>
            <p:ph idx="1"/>
          </p:nvPr>
        </p:nvSpPr>
        <p:spPr>
          <a:xfrm>
            <a:off x="492371" y="2653800"/>
            <a:ext cx="3084844" cy="3335519"/>
          </a:xfrm>
        </p:spPr>
        <p:txBody>
          <a:bodyPr>
            <a:noAutofit/>
          </a:bodyPr>
          <a:lstStyle/>
          <a:p>
            <a:pPr algn="just"/>
            <a:r>
              <a:rPr lang="en-US" sz="2000" b="1" i="1">
                <a:solidFill>
                  <a:schemeClr val="bg1"/>
                </a:solidFill>
              </a:rPr>
              <a:t>Kiểu </a:t>
            </a:r>
            <a:r>
              <a:rPr lang="vi-VN" sz="2000" b="1" i="1">
                <a:solidFill>
                  <a:schemeClr val="bg1"/>
                </a:solidFill>
              </a:rPr>
              <a:t>list </a:t>
            </a:r>
            <a:r>
              <a:rPr lang="vi-VN" sz="2000" i="1">
                <a:solidFill>
                  <a:schemeClr val="bg1"/>
                </a:solidFill>
              </a:rPr>
              <a:t>là một kiểu dữ liệu cấu trúc dữ liệu cơ bản và mạnh mẽ, cho phép lưu trữ một tập hợp các phần tử có thứ tự. List là một dạng dữ liệu dạng sequence, có thể chứa các phần tử của bất kỳ kiểu dữ liệu nào, bao gồm cả số nguyên, số thực, chuỗi, danh sách, tuple, dictionary và các đối tượng khác trong Python.</a:t>
            </a:r>
            <a:endParaRPr lang="en-US" sz="2000" i="1">
              <a:solidFill>
                <a:schemeClr val="bg1"/>
              </a:solidFill>
            </a:endParaRPr>
          </a:p>
        </p:txBody>
      </p:sp>
      <p:sp>
        <p:nvSpPr>
          <p:cNvPr id="4" name="Date Placeholder 3">
            <a:extLst>
              <a:ext uri="{FF2B5EF4-FFF2-40B4-BE49-F238E27FC236}">
                <a16:creationId xmlns:a16="http://schemas.microsoft.com/office/drawing/2014/main" id="{8DFA2C06-DB93-BD62-4F85-47989D8EFB06}"/>
              </a:ext>
            </a:extLst>
          </p:cNvPr>
          <p:cNvSpPr>
            <a:spLocks noGrp="1"/>
          </p:cNvSpPr>
          <p:nvPr>
            <p:ph type="dt" sz="half" idx="10"/>
          </p:nvPr>
        </p:nvSpPr>
        <p:spPr>
          <a:xfrm>
            <a:off x="492370" y="6459785"/>
            <a:ext cx="1735371"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19" name="Rectangle 18">
            <a:extLst>
              <a:ext uri="{FF2B5EF4-FFF2-40B4-BE49-F238E27FC236}">
                <a16:creationId xmlns:a16="http://schemas.microsoft.com/office/drawing/2014/main" id="{BDB54B0B-6CFB-4B92-A5DC-5DCD05BE5B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EF990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 name="Picture 9">
            <a:extLst>
              <a:ext uri="{FF2B5EF4-FFF2-40B4-BE49-F238E27FC236}">
                <a16:creationId xmlns:a16="http://schemas.microsoft.com/office/drawing/2014/main" id="{465C88B0-7C9A-61FB-0BB1-B90F9E83B893}"/>
              </a:ext>
            </a:extLst>
          </p:cNvPr>
          <p:cNvPicPr>
            <a:picLocks noChangeAspect="1"/>
          </p:cNvPicPr>
          <p:nvPr/>
        </p:nvPicPr>
        <p:blipFill rotWithShape="1">
          <a:blip r:embed="rId2"/>
          <a:srcRect r="4938" b="2"/>
          <a:stretch/>
        </p:blipFill>
        <p:spPr>
          <a:xfrm>
            <a:off x="4742017" y="640080"/>
            <a:ext cx="6798082" cy="5577840"/>
          </a:xfrm>
          <a:prstGeom prst="rect">
            <a:avLst/>
          </a:prstGeom>
        </p:spPr>
      </p:pic>
      <p:sp>
        <p:nvSpPr>
          <p:cNvPr id="5" name="Footer Placeholder 4">
            <a:extLst>
              <a:ext uri="{FF2B5EF4-FFF2-40B4-BE49-F238E27FC236}">
                <a16:creationId xmlns:a16="http://schemas.microsoft.com/office/drawing/2014/main" id="{A3C32816-D4A7-B4E5-0983-F4B9C431C5F3}"/>
              </a:ext>
            </a:extLst>
          </p:cNvPr>
          <p:cNvSpPr>
            <a:spLocks noGrp="1"/>
          </p:cNvSpPr>
          <p:nvPr>
            <p:ph type="ftr" sz="quarter" idx="11"/>
          </p:nvPr>
        </p:nvSpPr>
        <p:spPr>
          <a:xfrm>
            <a:off x="4742017" y="6459785"/>
            <a:ext cx="3757243" cy="365125"/>
          </a:xfrm>
        </p:spPr>
        <p:txBody>
          <a:bodyPr>
            <a:normAutofit/>
          </a:bodyPr>
          <a:lstStyle/>
          <a:p>
            <a:pPr algn="l">
              <a:spcAft>
                <a:spcPts val="600"/>
              </a:spcAft>
            </a:pPr>
            <a:r>
              <a:rPr lang="en-US">
                <a:solidFill>
                  <a:schemeClr val="tx2"/>
                </a:solidFill>
              </a:rPr>
              <a:t>Ngôn ngữ lập trình Python</a:t>
            </a:r>
          </a:p>
        </p:txBody>
      </p:sp>
      <p:sp>
        <p:nvSpPr>
          <p:cNvPr id="6" name="Slide Number Placeholder 5">
            <a:extLst>
              <a:ext uri="{FF2B5EF4-FFF2-40B4-BE49-F238E27FC236}">
                <a16:creationId xmlns:a16="http://schemas.microsoft.com/office/drawing/2014/main" id="{F7F38A0D-B49D-3A04-3485-80FEC0FFD932}"/>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12</a:t>
            </a:fld>
            <a:endParaRPr lang="en-US">
              <a:solidFill>
                <a:schemeClr val="tx2"/>
              </a:solidFill>
            </a:endParaRPr>
          </a:p>
        </p:txBody>
      </p:sp>
    </p:spTree>
    <p:extLst>
      <p:ext uri="{BB962C8B-B14F-4D97-AF65-F5344CB8AC3E}">
        <p14:creationId xmlns:p14="http://schemas.microsoft.com/office/powerpoint/2010/main" val="930933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524938"/>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B7F278A-029B-EBD3-79FC-3A1362D2188E}"/>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Các kiểu dữ liệu trong Python</a:t>
            </a:r>
          </a:p>
        </p:txBody>
      </p:sp>
      <p:sp>
        <p:nvSpPr>
          <p:cNvPr id="12" name="Content Placeholder 11">
            <a:extLst>
              <a:ext uri="{FF2B5EF4-FFF2-40B4-BE49-F238E27FC236}">
                <a16:creationId xmlns:a16="http://schemas.microsoft.com/office/drawing/2014/main" id="{E7EA369C-1C0F-38FE-C522-3580CEA8634E}"/>
              </a:ext>
            </a:extLst>
          </p:cNvPr>
          <p:cNvSpPr>
            <a:spLocks noGrp="1"/>
          </p:cNvSpPr>
          <p:nvPr>
            <p:ph idx="1"/>
          </p:nvPr>
        </p:nvSpPr>
        <p:spPr>
          <a:xfrm>
            <a:off x="492371" y="2653800"/>
            <a:ext cx="3084844" cy="3335519"/>
          </a:xfrm>
        </p:spPr>
        <p:txBody>
          <a:bodyPr>
            <a:normAutofit/>
          </a:bodyPr>
          <a:lstStyle/>
          <a:p>
            <a:pPr>
              <a:buFont typeface="Wingdings" panose="05000000000000000000" pitchFamily="2" charset="2"/>
              <a:buChar char="v"/>
            </a:pPr>
            <a:r>
              <a:rPr lang="en-US" b="1" i="1">
                <a:solidFill>
                  <a:srgbClr val="FFFFFF"/>
                </a:solidFill>
              </a:rPr>
              <a:t>Kiểu set:</a:t>
            </a:r>
            <a:r>
              <a:rPr lang="en-US" i="1">
                <a:solidFill>
                  <a:srgbClr val="FFFFFF"/>
                </a:solidFill>
              </a:rPr>
              <a:t> </a:t>
            </a:r>
            <a:r>
              <a:rPr lang="vi-VN" i="1">
                <a:solidFill>
                  <a:srgbClr val="FFFFFF"/>
                </a:solidFill>
              </a:rPr>
              <a:t>set là một cấu trúc dữ liệu dùng để lưu trữ các phần tử duy nhất, không theo thứ tự cụ thể</a:t>
            </a:r>
            <a:endParaRPr lang="en-US" b="1">
              <a:solidFill>
                <a:srgbClr val="FFFFFF"/>
              </a:solidFill>
            </a:endParaRPr>
          </a:p>
        </p:txBody>
      </p:sp>
      <p:sp>
        <p:nvSpPr>
          <p:cNvPr id="37" name="Rectangle 36">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FAD0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 name="Content Placeholder 7">
            <a:extLst>
              <a:ext uri="{FF2B5EF4-FFF2-40B4-BE49-F238E27FC236}">
                <a16:creationId xmlns:a16="http://schemas.microsoft.com/office/drawing/2014/main" id="{50C32BFE-C2A6-B36B-8BFA-06628E11837F}"/>
              </a:ext>
            </a:extLst>
          </p:cNvPr>
          <p:cNvPicPr>
            <a:picLocks noChangeAspect="1"/>
          </p:cNvPicPr>
          <p:nvPr/>
        </p:nvPicPr>
        <p:blipFill>
          <a:blip r:embed="rId2"/>
          <a:stretch>
            <a:fillRect/>
          </a:stretch>
        </p:blipFill>
        <p:spPr>
          <a:xfrm>
            <a:off x="4742017" y="1217907"/>
            <a:ext cx="6798082" cy="4422186"/>
          </a:xfrm>
          <a:prstGeom prst="rect">
            <a:avLst/>
          </a:prstGeom>
        </p:spPr>
      </p:pic>
      <p:sp>
        <p:nvSpPr>
          <p:cNvPr id="5" name="Footer Placeholder 4">
            <a:extLst>
              <a:ext uri="{FF2B5EF4-FFF2-40B4-BE49-F238E27FC236}">
                <a16:creationId xmlns:a16="http://schemas.microsoft.com/office/drawing/2014/main" id="{99C69441-AFCE-101D-196E-EFF702DE85E5}"/>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EEDDF3E9-C350-E7CE-1FCC-0C03497D741F}"/>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4B9E0609-ABA3-8F38-A2E2-5F8295530D8F}"/>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13</a:t>
            </a:fld>
            <a:endParaRPr lang="en-US">
              <a:solidFill>
                <a:schemeClr val="tx2"/>
              </a:solidFill>
            </a:endParaRPr>
          </a:p>
        </p:txBody>
      </p:sp>
    </p:spTree>
    <p:extLst>
      <p:ext uri="{BB962C8B-B14F-4D97-AF65-F5344CB8AC3E}">
        <p14:creationId xmlns:p14="http://schemas.microsoft.com/office/powerpoint/2010/main" val="43730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515135"/>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B7F278A-029B-EBD3-79FC-3A1362D2188E}"/>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Các kiểu dữ liệu trong Python</a:t>
            </a:r>
          </a:p>
        </p:txBody>
      </p:sp>
      <p:sp>
        <p:nvSpPr>
          <p:cNvPr id="12" name="Content Placeholder 11">
            <a:extLst>
              <a:ext uri="{FF2B5EF4-FFF2-40B4-BE49-F238E27FC236}">
                <a16:creationId xmlns:a16="http://schemas.microsoft.com/office/drawing/2014/main" id="{E7EA369C-1C0F-38FE-C522-3580CEA8634E}"/>
              </a:ext>
            </a:extLst>
          </p:cNvPr>
          <p:cNvSpPr>
            <a:spLocks noGrp="1"/>
          </p:cNvSpPr>
          <p:nvPr>
            <p:ph idx="1"/>
          </p:nvPr>
        </p:nvSpPr>
        <p:spPr>
          <a:xfrm>
            <a:off x="492371" y="2653800"/>
            <a:ext cx="3084844" cy="3335519"/>
          </a:xfrm>
        </p:spPr>
        <p:txBody>
          <a:bodyPr>
            <a:normAutofit/>
          </a:bodyPr>
          <a:lstStyle/>
          <a:p>
            <a:pPr algn="just">
              <a:buFont typeface="Wingdings" panose="05000000000000000000" pitchFamily="2" charset="2"/>
              <a:buChar char="v"/>
            </a:pPr>
            <a:r>
              <a:rPr lang="en-US" sz="1500" i="1">
                <a:solidFill>
                  <a:srgbClr val="FFFFFF"/>
                </a:solidFill>
              </a:rPr>
              <a:t> </a:t>
            </a:r>
            <a:r>
              <a:rPr lang="en-US" i="1">
                <a:solidFill>
                  <a:srgbClr val="FFFFFF"/>
                </a:solidFill>
              </a:rPr>
              <a:t>Kiểu set: </a:t>
            </a:r>
            <a:r>
              <a:rPr lang="vi-VN" i="1">
                <a:solidFill>
                  <a:srgbClr val="FFFFFF"/>
                </a:solidFill>
              </a:rPr>
              <a:t>set là một cấu trúc dữ liệu dùng để lưu trữ các phần tử duy nhất, không theo thứ tự cụ thể</a:t>
            </a:r>
            <a:endParaRPr lang="en-US" i="1">
              <a:solidFill>
                <a:srgbClr val="FFFFFF"/>
              </a:solidFill>
            </a:endParaRPr>
          </a:p>
        </p:txBody>
      </p:sp>
      <p:sp>
        <p:nvSpPr>
          <p:cNvPr id="21" name="Rectangle 20">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FAD0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a:extLst>
              <a:ext uri="{FF2B5EF4-FFF2-40B4-BE49-F238E27FC236}">
                <a16:creationId xmlns:a16="http://schemas.microsoft.com/office/drawing/2014/main" id="{CB5EFBA3-8A65-DD36-F1A8-7FA6E00245C1}"/>
              </a:ext>
            </a:extLst>
          </p:cNvPr>
          <p:cNvPicPr>
            <a:picLocks noChangeAspect="1"/>
          </p:cNvPicPr>
          <p:nvPr/>
        </p:nvPicPr>
        <p:blipFill>
          <a:blip r:embed="rId2"/>
          <a:stretch>
            <a:fillRect/>
          </a:stretch>
        </p:blipFill>
        <p:spPr>
          <a:xfrm>
            <a:off x="5396672" y="640080"/>
            <a:ext cx="5488772" cy="5577840"/>
          </a:xfrm>
          <a:prstGeom prst="rect">
            <a:avLst/>
          </a:prstGeom>
        </p:spPr>
      </p:pic>
      <p:sp>
        <p:nvSpPr>
          <p:cNvPr id="5" name="Footer Placeholder 4">
            <a:extLst>
              <a:ext uri="{FF2B5EF4-FFF2-40B4-BE49-F238E27FC236}">
                <a16:creationId xmlns:a16="http://schemas.microsoft.com/office/drawing/2014/main" id="{99C69441-AFCE-101D-196E-EFF702DE85E5}"/>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EEDDF3E9-C350-E7CE-1FCC-0C03497D741F}"/>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4B9E0609-ABA3-8F38-A2E2-5F8295530D8F}"/>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14</a:t>
            </a:fld>
            <a:endParaRPr lang="en-US">
              <a:solidFill>
                <a:schemeClr val="tx2"/>
              </a:solidFill>
            </a:endParaRPr>
          </a:p>
        </p:txBody>
      </p:sp>
    </p:spTree>
    <p:extLst>
      <p:ext uri="{BB962C8B-B14F-4D97-AF65-F5344CB8AC3E}">
        <p14:creationId xmlns:p14="http://schemas.microsoft.com/office/powerpoint/2010/main" val="1484428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30334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B7F278A-029B-EBD3-79FC-3A1362D2188E}"/>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Các kiểu dữ liệu trong Python</a:t>
            </a:r>
          </a:p>
        </p:txBody>
      </p:sp>
      <p:sp>
        <p:nvSpPr>
          <p:cNvPr id="12" name="Content Placeholder 11">
            <a:extLst>
              <a:ext uri="{FF2B5EF4-FFF2-40B4-BE49-F238E27FC236}">
                <a16:creationId xmlns:a16="http://schemas.microsoft.com/office/drawing/2014/main" id="{E7EA369C-1C0F-38FE-C522-3580CEA8634E}"/>
              </a:ext>
            </a:extLst>
          </p:cNvPr>
          <p:cNvSpPr>
            <a:spLocks noGrp="1"/>
          </p:cNvSpPr>
          <p:nvPr>
            <p:ph idx="1"/>
          </p:nvPr>
        </p:nvSpPr>
        <p:spPr>
          <a:xfrm>
            <a:off x="492371" y="2653800"/>
            <a:ext cx="3084844" cy="3335519"/>
          </a:xfrm>
        </p:spPr>
        <p:txBody>
          <a:bodyPr>
            <a:normAutofit/>
          </a:bodyPr>
          <a:lstStyle/>
          <a:p>
            <a:pPr algn="just">
              <a:buFont typeface="Wingdings" panose="05000000000000000000" pitchFamily="2" charset="2"/>
              <a:buChar char="v"/>
            </a:pPr>
            <a:r>
              <a:rPr lang="en-US" sz="1500" i="1">
                <a:solidFill>
                  <a:srgbClr val="FFFFFF"/>
                </a:solidFill>
              </a:rPr>
              <a:t> </a:t>
            </a:r>
            <a:r>
              <a:rPr lang="en-US" sz="2000" i="1">
                <a:solidFill>
                  <a:srgbClr val="FFFFFF"/>
                </a:solidFill>
              </a:rPr>
              <a:t>Kiểu tuple: tuple là dạng bất biến (immutable), có nghĩa là sau khi tạo ra tuple, bạn không thể thay đổi các phần tử bên trong tuple đó.</a:t>
            </a:r>
          </a:p>
          <a:p>
            <a:pPr marL="0" indent="0" algn="just">
              <a:buNone/>
            </a:pPr>
            <a:endParaRPr lang="en-US" sz="1500" i="1">
              <a:solidFill>
                <a:srgbClr val="FFFFFF"/>
              </a:solidFill>
            </a:endParaRPr>
          </a:p>
        </p:txBody>
      </p:sp>
      <p:sp>
        <p:nvSpPr>
          <p:cNvPr id="21" name="Rectangle 20">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ED960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Footer Placeholder 4">
            <a:extLst>
              <a:ext uri="{FF2B5EF4-FFF2-40B4-BE49-F238E27FC236}">
                <a16:creationId xmlns:a16="http://schemas.microsoft.com/office/drawing/2014/main" id="{99C69441-AFCE-101D-196E-EFF702DE85E5}"/>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EEDDF3E9-C350-E7CE-1FCC-0C03497D741F}"/>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4B9E0609-ABA3-8F38-A2E2-5F8295530D8F}"/>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15</a:t>
            </a:fld>
            <a:endParaRPr lang="en-US">
              <a:solidFill>
                <a:schemeClr val="tx2"/>
              </a:solidFill>
            </a:endParaRPr>
          </a:p>
        </p:txBody>
      </p:sp>
      <p:pic>
        <p:nvPicPr>
          <p:cNvPr id="10" name="Picture 9">
            <a:extLst>
              <a:ext uri="{FF2B5EF4-FFF2-40B4-BE49-F238E27FC236}">
                <a16:creationId xmlns:a16="http://schemas.microsoft.com/office/drawing/2014/main" id="{13E18CDE-9CFB-E376-E1A5-6DA6C31D67D0}"/>
              </a:ext>
            </a:extLst>
          </p:cNvPr>
          <p:cNvPicPr>
            <a:picLocks noChangeAspect="1"/>
          </p:cNvPicPr>
          <p:nvPr/>
        </p:nvPicPr>
        <p:blipFill>
          <a:blip r:embed="rId2"/>
          <a:stretch>
            <a:fillRect/>
          </a:stretch>
        </p:blipFill>
        <p:spPr>
          <a:xfrm>
            <a:off x="4176712" y="320174"/>
            <a:ext cx="7957788" cy="6080625"/>
          </a:xfrm>
          <a:prstGeom prst="rect">
            <a:avLst/>
          </a:prstGeom>
        </p:spPr>
      </p:pic>
    </p:spTree>
    <p:extLst>
      <p:ext uri="{BB962C8B-B14F-4D97-AF65-F5344CB8AC3E}">
        <p14:creationId xmlns:p14="http://schemas.microsoft.com/office/powerpoint/2010/main" val="379718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4837155-5FB8-4A96-864C-066D5C6556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85918EE-77B5-4057-BB22-B9CE13905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54280" cy="6858000"/>
          </a:xfrm>
          <a:prstGeom prst="rect">
            <a:avLst/>
          </a:prstGeom>
          <a:solidFill>
            <a:srgbClr val="376745"/>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B7F278A-029B-EBD3-79FC-3A1362D2188E}"/>
              </a:ext>
            </a:extLst>
          </p:cNvPr>
          <p:cNvSpPr>
            <a:spLocks noGrp="1"/>
          </p:cNvSpPr>
          <p:nvPr>
            <p:ph type="title"/>
          </p:nvPr>
        </p:nvSpPr>
        <p:spPr>
          <a:xfrm>
            <a:off x="789676" y="516835"/>
            <a:ext cx="3325125" cy="1966169"/>
          </a:xfrm>
        </p:spPr>
        <p:txBody>
          <a:bodyPr>
            <a:normAutofit/>
          </a:bodyPr>
          <a:lstStyle/>
          <a:p>
            <a:r>
              <a:rPr lang="en-US" sz="3600">
                <a:solidFill>
                  <a:srgbClr val="FFFFFF"/>
                </a:solidFill>
              </a:rPr>
              <a:t>Các kiểu dữ liệu trong Python</a:t>
            </a:r>
          </a:p>
        </p:txBody>
      </p:sp>
      <p:sp>
        <p:nvSpPr>
          <p:cNvPr id="12" name="Content Placeholder 11">
            <a:extLst>
              <a:ext uri="{FF2B5EF4-FFF2-40B4-BE49-F238E27FC236}">
                <a16:creationId xmlns:a16="http://schemas.microsoft.com/office/drawing/2014/main" id="{E7EA369C-1C0F-38FE-C522-3580CEA8634E}"/>
              </a:ext>
            </a:extLst>
          </p:cNvPr>
          <p:cNvSpPr>
            <a:spLocks noGrp="1"/>
          </p:cNvSpPr>
          <p:nvPr>
            <p:ph idx="1"/>
          </p:nvPr>
        </p:nvSpPr>
        <p:spPr>
          <a:xfrm>
            <a:off x="789674" y="2516094"/>
            <a:ext cx="3325125" cy="3372877"/>
          </a:xfrm>
        </p:spPr>
        <p:txBody>
          <a:bodyPr>
            <a:normAutofit lnSpcReduction="10000"/>
          </a:bodyPr>
          <a:lstStyle/>
          <a:p>
            <a:pPr algn="just">
              <a:buFont typeface="Wingdings" panose="05000000000000000000" pitchFamily="2" charset="2"/>
              <a:buChar char="v"/>
            </a:pPr>
            <a:r>
              <a:rPr lang="en-US" b="1" i="1">
                <a:solidFill>
                  <a:schemeClr val="bg1"/>
                </a:solidFill>
              </a:rPr>
              <a:t>Kiểu </a:t>
            </a:r>
            <a:r>
              <a:rPr lang="vi-VN" b="1" i="1">
                <a:solidFill>
                  <a:schemeClr val="bg1"/>
                </a:solidFill>
              </a:rPr>
              <a:t>dictionary</a:t>
            </a:r>
            <a:r>
              <a:rPr lang="vi-VN" i="1">
                <a:solidFill>
                  <a:schemeClr val="bg1"/>
                </a:solidFill>
              </a:rPr>
              <a:t> (từ điển) là một cấu trúc dữ liệu mạnh mẽ được sử dụng để lưu trữ các cặp khóa - giá trị. Dictionary cho phép bạn lưu trữ và truy cập các giá trị thông qua các khóa một cách hiệu quả và linh hoạt.</a:t>
            </a:r>
            <a:endParaRPr lang="en-US" i="1">
              <a:solidFill>
                <a:schemeClr val="bg1"/>
              </a:solidFill>
            </a:endParaRPr>
          </a:p>
        </p:txBody>
      </p:sp>
      <p:sp>
        <p:nvSpPr>
          <p:cNvPr id="21" name="Rectangle 20">
            <a:extLst>
              <a:ext uri="{FF2B5EF4-FFF2-40B4-BE49-F238E27FC236}">
                <a16:creationId xmlns:a16="http://schemas.microsoft.com/office/drawing/2014/main" id="{9DC7B070-A583-45C7-AF93-0E8F020EF6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0272" y="0"/>
            <a:ext cx="64008" cy="6858000"/>
          </a:xfrm>
          <a:prstGeom prst="rect">
            <a:avLst/>
          </a:prstGeom>
          <a:solidFill>
            <a:srgbClr val="FDA20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a:extLst>
              <a:ext uri="{FF2B5EF4-FFF2-40B4-BE49-F238E27FC236}">
                <a16:creationId xmlns:a16="http://schemas.microsoft.com/office/drawing/2014/main" id="{F04D5004-ECD8-152A-4AA8-DB2CAA01D6EE}"/>
              </a:ext>
            </a:extLst>
          </p:cNvPr>
          <p:cNvPicPr>
            <a:picLocks noChangeAspect="1"/>
          </p:cNvPicPr>
          <p:nvPr/>
        </p:nvPicPr>
        <p:blipFill>
          <a:blip r:embed="rId2"/>
          <a:stretch>
            <a:fillRect/>
          </a:stretch>
        </p:blipFill>
        <p:spPr>
          <a:xfrm>
            <a:off x="4834774" y="270165"/>
            <a:ext cx="7060621" cy="3159628"/>
          </a:xfrm>
          <a:prstGeom prst="rect">
            <a:avLst/>
          </a:prstGeom>
        </p:spPr>
      </p:pic>
      <p:pic>
        <p:nvPicPr>
          <p:cNvPr id="9" name="Picture 8">
            <a:extLst>
              <a:ext uri="{FF2B5EF4-FFF2-40B4-BE49-F238E27FC236}">
                <a16:creationId xmlns:a16="http://schemas.microsoft.com/office/drawing/2014/main" id="{940C8268-7DE2-1FB6-AADE-98A84E5F37D9}"/>
              </a:ext>
            </a:extLst>
          </p:cNvPr>
          <p:cNvPicPr>
            <a:picLocks noChangeAspect="1"/>
          </p:cNvPicPr>
          <p:nvPr/>
        </p:nvPicPr>
        <p:blipFill>
          <a:blip r:embed="rId3"/>
          <a:stretch>
            <a:fillRect/>
          </a:stretch>
        </p:blipFill>
        <p:spPr>
          <a:xfrm>
            <a:off x="4834774" y="3667124"/>
            <a:ext cx="7097064" cy="2714625"/>
          </a:xfrm>
          <a:prstGeom prst="rect">
            <a:avLst/>
          </a:prstGeom>
        </p:spPr>
      </p:pic>
      <p:sp>
        <p:nvSpPr>
          <p:cNvPr id="4" name="Date Placeholder 3">
            <a:extLst>
              <a:ext uri="{FF2B5EF4-FFF2-40B4-BE49-F238E27FC236}">
                <a16:creationId xmlns:a16="http://schemas.microsoft.com/office/drawing/2014/main" id="{EEDDF3E9-C350-E7CE-1FCC-0C03497D741F}"/>
              </a:ext>
            </a:extLst>
          </p:cNvPr>
          <p:cNvSpPr>
            <a:spLocks noGrp="1"/>
          </p:cNvSpPr>
          <p:nvPr>
            <p:ph type="dt" sz="half" idx="10"/>
          </p:nvPr>
        </p:nvSpPr>
        <p:spPr>
          <a:xfrm>
            <a:off x="723153" y="6459785"/>
            <a:ext cx="2109498"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99C69441-AFCE-101D-196E-EFF702DE85E5}"/>
              </a:ext>
            </a:extLst>
          </p:cNvPr>
          <p:cNvSpPr>
            <a:spLocks noGrp="1"/>
          </p:cNvSpPr>
          <p:nvPr>
            <p:ph type="ftr" sz="quarter" idx="11"/>
          </p:nvPr>
        </p:nvSpPr>
        <p:spPr>
          <a:xfrm>
            <a:off x="5364202" y="6459785"/>
            <a:ext cx="3757243" cy="365125"/>
          </a:xfrm>
        </p:spPr>
        <p:txBody>
          <a:bodyPr>
            <a:normAutofit/>
          </a:bodyPr>
          <a:lstStyle/>
          <a:p>
            <a:pPr algn="l">
              <a:spcAft>
                <a:spcPts val="600"/>
              </a:spcAft>
            </a:pPr>
            <a:r>
              <a:rPr lang="en-US">
                <a:solidFill>
                  <a:schemeClr val="tx1">
                    <a:lumMod val="75000"/>
                    <a:lumOff val="25000"/>
                  </a:schemeClr>
                </a:solidFill>
              </a:rPr>
              <a:t>Ngôn ngữ lập trình Python</a:t>
            </a:r>
          </a:p>
        </p:txBody>
      </p:sp>
      <p:sp>
        <p:nvSpPr>
          <p:cNvPr id="6" name="Slide Number Placeholder 5">
            <a:extLst>
              <a:ext uri="{FF2B5EF4-FFF2-40B4-BE49-F238E27FC236}">
                <a16:creationId xmlns:a16="http://schemas.microsoft.com/office/drawing/2014/main" id="{4B9E0609-ABA3-8F38-A2E2-5F8295530D8F}"/>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16</a:t>
            </a:fld>
            <a:endParaRPr lang="en-US">
              <a:solidFill>
                <a:schemeClr val="tx2"/>
              </a:solidFill>
            </a:endParaRPr>
          </a:p>
        </p:txBody>
      </p:sp>
    </p:spTree>
    <p:extLst>
      <p:ext uri="{BB962C8B-B14F-4D97-AF65-F5344CB8AC3E}">
        <p14:creationId xmlns:p14="http://schemas.microsoft.com/office/powerpoint/2010/main" val="1956556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67D7F-13C7-98E9-FBB6-D56E0C942391}"/>
              </a:ext>
            </a:extLst>
          </p:cNvPr>
          <p:cNvSpPr>
            <a:spLocks noGrp="1"/>
          </p:cNvSpPr>
          <p:nvPr>
            <p:ph type="title"/>
          </p:nvPr>
        </p:nvSpPr>
        <p:spPr/>
        <p:txBody>
          <a:bodyPr/>
          <a:lstStyle/>
          <a:p>
            <a:pPr algn="ctr"/>
            <a:r>
              <a:rPr lang="en-US"/>
              <a:t>Chuyển kiểu dữ liệu</a:t>
            </a:r>
          </a:p>
        </p:txBody>
      </p:sp>
      <p:sp>
        <p:nvSpPr>
          <p:cNvPr id="3" name="Content Placeholder 2">
            <a:extLst>
              <a:ext uri="{FF2B5EF4-FFF2-40B4-BE49-F238E27FC236}">
                <a16:creationId xmlns:a16="http://schemas.microsoft.com/office/drawing/2014/main" id="{24F7F304-1AB6-D5DF-889E-F370506BBD37}"/>
              </a:ext>
            </a:extLst>
          </p:cNvPr>
          <p:cNvSpPr>
            <a:spLocks noGrp="1"/>
          </p:cNvSpPr>
          <p:nvPr>
            <p:ph idx="1"/>
          </p:nvPr>
        </p:nvSpPr>
        <p:spPr>
          <a:xfrm>
            <a:off x="838200" y="1940875"/>
            <a:ext cx="11087100" cy="4236087"/>
          </a:xfrm>
        </p:spPr>
        <p:txBody>
          <a:bodyPr>
            <a:noAutofit/>
          </a:bodyPr>
          <a:lstStyle/>
          <a:p>
            <a:pPr>
              <a:lnSpc>
                <a:spcPct val="80000"/>
              </a:lnSpc>
              <a:buFont typeface="Wingdings" panose="05000000000000000000" pitchFamily="2" charset="2"/>
              <a:buChar char="v"/>
            </a:pPr>
            <a:r>
              <a:rPr lang="fr-FR" sz="2400" b="1"/>
              <a:t> Chuyển thành số nguyên</a:t>
            </a:r>
          </a:p>
          <a:p>
            <a:pPr marL="0" indent="0">
              <a:lnSpc>
                <a:spcPct val="80000"/>
              </a:lnSpc>
              <a:buNone/>
            </a:pPr>
            <a:r>
              <a:rPr lang="fr-FR" sz="2400"/>
              <a:t>x = 5.7 </a:t>
            </a:r>
          </a:p>
          <a:p>
            <a:pPr marL="0" indent="0">
              <a:lnSpc>
                <a:spcPct val="80000"/>
              </a:lnSpc>
              <a:buNone/>
            </a:pPr>
            <a:r>
              <a:rPr lang="fr-FR" sz="2400"/>
              <a:t>y = int(x)</a:t>
            </a:r>
          </a:p>
          <a:p>
            <a:pPr marL="0" indent="0">
              <a:lnSpc>
                <a:spcPct val="80000"/>
              </a:lnSpc>
              <a:buNone/>
            </a:pPr>
            <a:r>
              <a:rPr lang="fr-FR" sz="2400"/>
              <a:t> print(y) </a:t>
            </a:r>
          </a:p>
          <a:p>
            <a:pPr marL="0" indent="0">
              <a:lnSpc>
                <a:spcPct val="80000"/>
              </a:lnSpc>
              <a:buNone/>
            </a:pPr>
            <a:r>
              <a:rPr lang="fr-FR" sz="2400"/>
              <a:t># Output: 5</a:t>
            </a:r>
          </a:p>
          <a:p>
            <a:pPr>
              <a:lnSpc>
                <a:spcPct val="80000"/>
              </a:lnSpc>
              <a:buFont typeface="Wingdings" panose="05000000000000000000" pitchFamily="2" charset="2"/>
              <a:buChar char="v"/>
            </a:pPr>
            <a:r>
              <a:rPr lang="fr-FR" sz="2400" b="1"/>
              <a:t> Chuyển thành số thực</a:t>
            </a:r>
          </a:p>
          <a:p>
            <a:pPr marL="0" indent="0">
              <a:lnSpc>
                <a:spcPct val="80000"/>
              </a:lnSpc>
              <a:buNone/>
            </a:pPr>
            <a:r>
              <a:rPr lang="es-ES" sz="2400"/>
              <a:t>x = 5 </a:t>
            </a:r>
          </a:p>
          <a:p>
            <a:pPr marL="0" indent="0">
              <a:lnSpc>
                <a:spcPct val="80000"/>
              </a:lnSpc>
              <a:buNone/>
            </a:pPr>
            <a:r>
              <a:rPr lang="es-ES" sz="2400"/>
              <a:t>y = float(x) </a:t>
            </a:r>
          </a:p>
          <a:p>
            <a:pPr marL="0" indent="0">
              <a:lnSpc>
                <a:spcPct val="80000"/>
              </a:lnSpc>
              <a:buNone/>
            </a:pPr>
            <a:r>
              <a:rPr lang="es-ES" sz="2400"/>
              <a:t>print(y) # Output: 5.0</a:t>
            </a:r>
            <a:endParaRPr lang="en-US" sz="2500"/>
          </a:p>
        </p:txBody>
      </p:sp>
      <p:sp>
        <p:nvSpPr>
          <p:cNvPr id="5" name="Date Placeholder 4">
            <a:extLst>
              <a:ext uri="{FF2B5EF4-FFF2-40B4-BE49-F238E27FC236}">
                <a16:creationId xmlns:a16="http://schemas.microsoft.com/office/drawing/2014/main" id="{FAC6A71A-E5EB-B107-474E-87C033630107}"/>
              </a:ext>
            </a:extLst>
          </p:cNvPr>
          <p:cNvSpPr>
            <a:spLocks noGrp="1"/>
          </p:cNvSpPr>
          <p:nvPr>
            <p:ph type="dt" sz="half" idx="10"/>
          </p:nvPr>
        </p:nvSpPr>
        <p:spPr/>
        <p:txBody>
          <a:bodyPr/>
          <a:lstStyle/>
          <a:p>
            <a:fld id="{47C56162-0367-4AA4-8A89-698E81E234AC}" type="datetime1">
              <a:rPr lang="en-US" smtClean="0"/>
              <a:t>7/25/2024</a:t>
            </a:fld>
            <a:endParaRPr lang="en-US"/>
          </a:p>
        </p:txBody>
      </p:sp>
      <p:sp>
        <p:nvSpPr>
          <p:cNvPr id="6" name="Footer Placeholder 5">
            <a:extLst>
              <a:ext uri="{FF2B5EF4-FFF2-40B4-BE49-F238E27FC236}">
                <a16:creationId xmlns:a16="http://schemas.microsoft.com/office/drawing/2014/main" id="{EDD1BFDB-B6BD-06F8-C3D9-501BEFD1DD13}"/>
              </a:ext>
            </a:extLst>
          </p:cNvPr>
          <p:cNvSpPr>
            <a:spLocks noGrp="1"/>
          </p:cNvSpPr>
          <p:nvPr>
            <p:ph type="ftr" sz="quarter" idx="11"/>
          </p:nvPr>
        </p:nvSpPr>
        <p:spPr/>
        <p:txBody>
          <a:bodyPr/>
          <a:lstStyle/>
          <a:p>
            <a:r>
              <a:rPr lang="en-US"/>
              <a:t>Ngôn ngữ lập trình Python</a:t>
            </a:r>
          </a:p>
        </p:txBody>
      </p:sp>
      <p:sp>
        <p:nvSpPr>
          <p:cNvPr id="7" name="Slide Number Placeholder 6">
            <a:extLst>
              <a:ext uri="{FF2B5EF4-FFF2-40B4-BE49-F238E27FC236}">
                <a16:creationId xmlns:a16="http://schemas.microsoft.com/office/drawing/2014/main" id="{27D03C1C-2526-3D6A-3F4E-B4FF6BDEAF10}"/>
              </a:ext>
            </a:extLst>
          </p:cNvPr>
          <p:cNvSpPr>
            <a:spLocks noGrp="1"/>
          </p:cNvSpPr>
          <p:nvPr>
            <p:ph type="sldNum" sz="quarter" idx="12"/>
          </p:nvPr>
        </p:nvSpPr>
        <p:spPr/>
        <p:txBody>
          <a:bodyPr/>
          <a:lstStyle/>
          <a:p>
            <a:fld id="{D3060201-1C40-4B39-813D-5CD9493BAEED}" type="slidenum">
              <a:rPr lang="en-US" smtClean="0"/>
              <a:t>17</a:t>
            </a:fld>
            <a:endParaRPr lang="en-US"/>
          </a:p>
        </p:txBody>
      </p:sp>
    </p:spTree>
    <p:extLst>
      <p:ext uri="{BB962C8B-B14F-4D97-AF65-F5344CB8AC3E}">
        <p14:creationId xmlns:p14="http://schemas.microsoft.com/office/powerpoint/2010/main" val="1234730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7D38-8F94-D087-463E-00F48395AEC2}"/>
              </a:ext>
            </a:extLst>
          </p:cNvPr>
          <p:cNvSpPr>
            <a:spLocks noGrp="1"/>
          </p:cNvSpPr>
          <p:nvPr>
            <p:ph type="title"/>
          </p:nvPr>
        </p:nvSpPr>
        <p:spPr/>
        <p:txBody>
          <a:bodyPr/>
          <a:lstStyle/>
          <a:p>
            <a:pPr algn="ctr"/>
            <a:r>
              <a:rPr lang="en-US"/>
              <a:t>Chuyển kiểu dữ liệu</a:t>
            </a:r>
          </a:p>
        </p:txBody>
      </p:sp>
      <p:sp>
        <p:nvSpPr>
          <p:cNvPr id="3" name="Content Placeholder 2">
            <a:extLst>
              <a:ext uri="{FF2B5EF4-FFF2-40B4-BE49-F238E27FC236}">
                <a16:creationId xmlns:a16="http://schemas.microsoft.com/office/drawing/2014/main" id="{5875CBBD-AB4C-5763-3B6B-AE3EEB7EEA3A}"/>
              </a:ext>
            </a:extLst>
          </p:cNvPr>
          <p:cNvSpPr>
            <a:spLocks noGrp="1"/>
          </p:cNvSpPr>
          <p:nvPr>
            <p:ph idx="1"/>
          </p:nvPr>
        </p:nvSpPr>
        <p:spPr/>
        <p:txBody>
          <a:bodyPr>
            <a:noAutofit/>
          </a:bodyPr>
          <a:lstStyle/>
          <a:p>
            <a:pPr>
              <a:lnSpc>
                <a:spcPct val="100000"/>
              </a:lnSpc>
              <a:buFont typeface="Wingdings" panose="05000000000000000000" pitchFamily="2" charset="2"/>
              <a:buChar char="v"/>
            </a:pPr>
            <a:r>
              <a:rPr lang="es-ES" sz="2500" b="1"/>
              <a:t>Chuyển thành kiểu chuỗi(string)</a:t>
            </a:r>
          </a:p>
          <a:p>
            <a:pPr marL="0" indent="0">
              <a:lnSpc>
                <a:spcPct val="100000"/>
              </a:lnSpc>
              <a:buNone/>
            </a:pPr>
            <a:r>
              <a:rPr lang="es-ES" sz="2500"/>
              <a:t>x = 123 </a:t>
            </a:r>
          </a:p>
          <a:p>
            <a:pPr marL="0" indent="0">
              <a:lnSpc>
                <a:spcPct val="100000"/>
              </a:lnSpc>
              <a:buNone/>
            </a:pPr>
            <a:r>
              <a:rPr lang="es-ES" sz="2500"/>
              <a:t>y = str(x) </a:t>
            </a:r>
          </a:p>
          <a:p>
            <a:pPr marL="0" indent="0">
              <a:lnSpc>
                <a:spcPct val="100000"/>
              </a:lnSpc>
              <a:buNone/>
            </a:pPr>
            <a:r>
              <a:rPr lang="es-ES" sz="2500"/>
              <a:t>print(y) # Output: '123’</a:t>
            </a:r>
          </a:p>
          <a:p>
            <a:pPr>
              <a:lnSpc>
                <a:spcPct val="100000"/>
              </a:lnSpc>
              <a:buFont typeface="Wingdings" panose="05000000000000000000" pitchFamily="2" charset="2"/>
              <a:buChar char="v"/>
            </a:pPr>
            <a:r>
              <a:rPr lang="es-ES" sz="2500" b="1"/>
              <a:t>Chuyển thành kiểu logic(boolean)</a:t>
            </a:r>
          </a:p>
          <a:p>
            <a:pPr marL="0" indent="0">
              <a:lnSpc>
                <a:spcPct val="100000"/>
              </a:lnSpc>
              <a:buNone/>
            </a:pPr>
            <a:r>
              <a:rPr lang="en-US" sz="2500"/>
              <a:t>x = 1 </a:t>
            </a:r>
          </a:p>
          <a:p>
            <a:pPr marL="0" indent="0">
              <a:lnSpc>
                <a:spcPct val="100000"/>
              </a:lnSpc>
              <a:buNone/>
            </a:pPr>
            <a:r>
              <a:rPr lang="en-US" sz="2500"/>
              <a:t>y = bool(x) </a:t>
            </a:r>
          </a:p>
          <a:p>
            <a:pPr marL="0" indent="0">
              <a:lnSpc>
                <a:spcPct val="100000"/>
              </a:lnSpc>
              <a:buNone/>
            </a:pPr>
            <a:r>
              <a:rPr lang="en-US" sz="2500"/>
              <a:t>print(y) # Output: True</a:t>
            </a:r>
            <a:endParaRPr lang="es-ES" sz="2500"/>
          </a:p>
        </p:txBody>
      </p:sp>
      <p:sp>
        <p:nvSpPr>
          <p:cNvPr id="4" name="Date Placeholder 3">
            <a:extLst>
              <a:ext uri="{FF2B5EF4-FFF2-40B4-BE49-F238E27FC236}">
                <a16:creationId xmlns:a16="http://schemas.microsoft.com/office/drawing/2014/main" id="{5BE1E60F-3D30-6AF3-4DB1-644027A39233}"/>
              </a:ext>
            </a:extLst>
          </p:cNvPr>
          <p:cNvSpPr>
            <a:spLocks noGrp="1"/>
          </p:cNvSpPr>
          <p:nvPr>
            <p:ph type="dt" sz="half" idx="10"/>
          </p:nvPr>
        </p:nvSpPr>
        <p:spPr/>
        <p:txBody>
          <a:bodyPr/>
          <a:lstStyle/>
          <a:p>
            <a:fld id="{36A1F343-0311-45D8-9C0E-32F642C3E76E}" type="datetime1">
              <a:rPr lang="en-US" smtClean="0"/>
              <a:t>7/25/2024</a:t>
            </a:fld>
            <a:endParaRPr lang="en-US"/>
          </a:p>
        </p:txBody>
      </p:sp>
      <p:sp>
        <p:nvSpPr>
          <p:cNvPr id="5" name="Footer Placeholder 4">
            <a:extLst>
              <a:ext uri="{FF2B5EF4-FFF2-40B4-BE49-F238E27FC236}">
                <a16:creationId xmlns:a16="http://schemas.microsoft.com/office/drawing/2014/main" id="{ADDFD768-9012-33B6-9927-0AB37A1CFEB7}"/>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87B99012-CD39-CEEA-4E14-268EA7AEABAA}"/>
              </a:ext>
            </a:extLst>
          </p:cNvPr>
          <p:cNvSpPr>
            <a:spLocks noGrp="1"/>
          </p:cNvSpPr>
          <p:nvPr>
            <p:ph type="sldNum" sz="quarter" idx="12"/>
          </p:nvPr>
        </p:nvSpPr>
        <p:spPr/>
        <p:txBody>
          <a:bodyPr/>
          <a:lstStyle/>
          <a:p>
            <a:fld id="{D3060201-1C40-4B39-813D-5CD9493BAEED}" type="slidenum">
              <a:rPr lang="en-US" smtClean="0"/>
              <a:t>18</a:t>
            </a:fld>
            <a:endParaRPr lang="en-US"/>
          </a:p>
        </p:txBody>
      </p:sp>
    </p:spTree>
    <p:extLst>
      <p:ext uri="{BB962C8B-B14F-4D97-AF65-F5344CB8AC3E}">
        <p14:creationId xmlns:p14="http://schemas.microsoft.com/office/powerpoint/2010/main" val="4112411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7D38-8F94-D087-463E-00F48395AEC2}"/>
              </a:ext>
            </a:extLst>
          </p:cNvPr>
          <p:cNvSpPr>
            <a:spLocks noGrp="1"/>
          </p:cNvSpPr>
          <p:nvPr>
            <p:ph type="title"/>
          </p:nvPr>
        </p:nvSpPr>
        <p:spPr/>
        <p:txBody>
          <a:bodyPr/>
          <a:lstStyle/>
          <a:p>
            <a:pPr algn="ctr"/>
            <a:r>
              <a:rPr lang="en-US"/>
              <a:t>Chuyển kiểu dữ liệu</a:t>
            </a:r>
          </a:p>
        </p:txBody>
      </p:sp>
      <p:sp>
        <p:nvSpPr>
          <p:cNvPr id="3" name="Content Placeholder 2">
            <a:extLst>
              <a:ext uri="{FF2B5EF4-FFF2-40B4-BE49-F238E27FC236}">
                <a16:creationId xmlns:a16="http://schemas.microsoft.com/office/drawing/2014/main" id="{5875CBBD-AB4C-5763-3B6B-AE3EEB7EEA3A}"/>
              </a:ext>
            </a:extLst>
          </p:cNvPr>
          <p:cNvSpPr>
            <a:spLocks noGrp="1"/>
          </p:cNvSpPr>
          <p:nvPr>
            <p:ph idx="1"/>
          </p:nvPr>
        </p:nvSpPr>
        <p:spPr/>
        <p:txBody>
          <a:bodyPr>
            <a:noAutofit/>
          </a:bodyPr>
          <a:lstStyle/>
          <a:p>
            <a:pPr>
              <a:lnSpc>
                <a:spcPct val="100000"/>
              </a:lnSpc>
              <a:buFont typeface="Wingdings" panose="05000000000000000000" pitchFamily="2" charset="2"/>
              <a:buChar char="v"/>
            </a:pPr>
            <a:r>
              <a:rPr lang="es-ES" sz="2500" b="1"/>
              <a:t>Chuyển thành kiểu tuple</a:t>
            </a:r>
          </a:p>
          <a:p>
            <a:pPr>
              <a:lnSpc>
                <a:spcPct val="100000"/>
              </a:lnSpc>
              <a:buFont typeface="Wingdings" panose="05000000000000000000" pitchFamily="2" charset="2"/>
              <a:buChar char="v"/>
            </a:pPr>
            <a:r>
              <a:rPr lang="es-ES" sz="2500" b="1"/>
              <a:t>Chuyển thành kiểu set</a:t>
            </a:r>
            <a:endParaRPr lang="es-ES" b="1"/>
          </a:p>
          <a:p>
            <a:pPr>
              <a:lnSpc>
                <a:spcPct val="100000"/>
              </a:lnSpc>
              <a:buFont typeface="Wingdings" panose="05000000000000000000" pitchFamily="2" charset="2"/>
              <a:buChar char="v"/>
            </a:pPr>
            <a:r>
              <a:rPr lang="es-ES" sz="2500" b="1"/>
              <a:t>Chuyển sang kiểu dictionary</a:t>
            </a:r>
          </a:p>
          <a:p>
            <a:pPr>
              <a:lnSpc>
                <a:spcPct val="100000"/>
              </a:lnSpc>
              <a:buFont typeface="Wingdings" panose="05000000000000000000" pitchFamily="2" charset="2"/>
              <a:buChar char="v"/>
            </a:pPr>
            <a:r>
              <a:rPr lang="es-ES" sz="2500" b="1"/>
              <a:t>Chuyển sang kiểu list</a:t>
            </a:r>
          </a:p>
        </p:txBody>
      </p:sp>
      <p:sp>
        <p:nvSpPr>
          <p:cNvPr id="4" name="Date Placeholder 3">
            <a:extLst>
              <a:ext uri="{FF2B5EF4-FFF2-40B4-BE49-F238E27FC236}">
                <a16:creationId xmlns:a16="http://schemas.microsoft.com/office/drawing/2014/main" id="{5BE1E60F-3D30-6AF3-4DB1-644027A39233}"/>
              </a:ext>
            </a:extLst>
          </p:cNvPr>
          <p:cNvSpPr>
            <a:spLocks noGrp="1"/>
          </p:cNvSpPr>
          <p:nvPr>
            <p:ph type="dt" sz="half" idx="10"/>
          </p:nvPr>
        </p:nvSpPr>
        <p:spPr/>
        <p:txBody>
          <a:bodyPr/>
          <a:lstStyle/>
          <a:p>
            <a:fld id="{36A1F343-0311-45D8-9C0E-32F642C3E76E}" type="datetime1">
              <a:rPr lang="en-US" smtClean="0"/>
              <a:t>7/25/2024</a:t>
            </a:fld>
            <a:endParaRPr lang="en-US"/>
          </a:p>
        </p:txBody>
      </p:sp>
      <p:sp>
        <p:nvSpPr>
          <p:cNvPr id="5" name="Footer Placeholder 4">
            <a:extLst>
              <a:ext uri="{FF2B5EF4-FFF2-40B4-BE49-F238E27FC236}">
                <a16:creationId xmlns:a16="http://schemas.microsoft.com/office/drawing/2014/main" id="{ADDFD768-9012-33B6-9927-0AB37A1CFEB7}"/>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87B99012-CD39-CEEA-4E14-268EA7AEABAA}"/>
              </a:ext>
            </a:extLst>
          </p:cNvPr>
          <p:cNvSpPr>
            <a:spLocks noGrp="1"/>
          </p:cNvSpPr>
          <p:nvPr>
            <p:ph type="sldNum" sz="quarter" idx="12"/>
          </p:nvPr>
        </p:nvSpPr>
        <p:spPr/>
        <p:txBody>
          <a:bodyPr/>
          <a:lstStyle/>
          <a:p>
            <a:fld id="{D3060201-1C40-4B39-813D-5CD9493BAEED}" type="slidenum">
              <a:rPr lang="en-US" smtClean="0"/>
              <a:t>19</a:t>
            </a:fld>
            <a:endParaRPr lang="en-US"/>
          </a:p>
        </p:txBody>
      </p:sp>
    </p:spTree>
    <p:extLst>
      <p:ext uri="{BB962C8B-B14F-4D97-AF65-F5344CB8AC3E}">
        <p14:creationId xmlns:p14="http://schemas.microsoft.com/office/powerpoint/2010/main" val="3036026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7D38-8F94-D087-463E-00F48395AEC2}"/>
              </a:ext>
            </a:extLst>
          </p:cNvPr>
          <p:cNvSpPr>
            <a:spLocks noGrp="1"/>
          </p:cNvSpPr>
          <p:nvPr>
            <p:ph type="title"/>
          </p:nvPr>
        </p:nvSpPr>
        <p:spPr/>
        <p:txBody>
          <a:bodyPr/>
          <a:lstStyle/>
          <a:p>
            <a:pPr algn="ctr"/>
            <a:r>
              <a:rPr lang="en-US"/>
              <a:t>Toán tử trong Python</a:t>
            </a:r>
          </a:p>
        </p:txBody>
      </p:sp>
      <p:sp>
        <p:nvSpPr>
          <p:cNvPr id="3" name="Content Placeholder 2">
            <a:extLst>
              <a:ext uri="{FF2B5EF4-FFF2-40B4-BE49-F238E27FC236}">
                <a16:creationId xmlns:a16="http://schemas.microsoft.com/office/drawing/2014/main" id="{5875CBBD-AB4C-5763-3B6B-AE3EEB7EEA3A}"/>
              </a:ext>
            </a:extLst>
          </p:cNvPr>
          <p:cNvSpPr>
            <a:spLocks noGrp="1"/>
          </p:cNvSpPr>
          <p:nvPr>
            <p:ph idx="1"/>
          </p:nvPr>
        </p:nvSpPr>
        <p:spPr>
          <a:xfrm>
            <a:off x="1127760" y="1864784"/>
            <a:ext cx="10058400" cy="4023360"/>
          </a:xfrm>
        </p:spPr>
        <p:txBody>
          <a:bodyPr>
            <a:noAutofit/>
          </a:bodyPr>
          <a:lstStyle/>
          <a:p>
            <a:pPr>
              <a:lnSpc>
                <a:spcPct val="100000"/>
              </a:lnSpc>
              <a:buFont typeface="Wingdings" panose="05000000000000000000" pitchFamily="2" charset="2"/>
              <a:buChar char="v"/>
            </a:pPr>
            <a:r>
              <a:rPr lang="en-US" b="1" i="0">
                <a:solidFill>
                  <a:srgbClr val="000000"/>
                </a:solidFill>
                <a:effectLst/>
              </a:rPr>
              <a:t>Python hỗ trợ các loại toán tử sau:</a:t>
            </a:r>
          </a:p>
          <a:p>
            <a:pPr lvl="1">
              <a:lnSpc>
                <a:spcPct val="100000"/>
              </a:lnSpc>
              <a:buFont typeface="Courier New" panose="02070309020205020404" pitchFamily="49" charset="0"/>
              <a:buChar char="o"/>
            </a:pPr>
            <a:r>
              <a:rPr lang="en-US" b="0" i="0">
                <a:solidFill>
                  <a:srgbClr val="000000"/>
                </a:solidFill>
                <a:effectLst/>
              </a:rPr>
              <a:t>Toán tử số học</a:t>
            </a:r>
          </a:p>
          <a:p>
            <a:pPr lvl="1">
              <a:lnSpc>
                <a:spcPct val="100000"/>
              </a:lnSpc>
              <a:buFont typeface="Courier New" panose="02070309020205020404" pitchFamily="49" charset="0"/>
              <a:buChar char="o"/>
            </a:pPr>
            <a:r>
              <a:rPr lang="en-US">
                <a:solidFill>
                  <a:srgbClr val="000000"/>
                </a:solidFill>
              </a:rPr>
              <a:t>Toán tử quan hệ (còn gọi là toán tử so sánh)</a:t>
            </a:r>
          </a:p>
          <a:p>
            <a:pPr lvl="1">
              <a:lnSpc>
                <a:spcPct val="100000"/>
              </a:lnSpc>
              <a:buFont typeface="Courier New" panose="02070309020205020404" pitchFamily="49" charset="0"/>
              <a:buChar char="o"/>
            </a:pPr>
            <a:r>
              <a:rPr lang="en-US">
                <a:solidFill>
                  <a:srgbClr val="000000"/>
                </a:solidFill>
              </a:rPr>
              <a:t>Toán tử gán</a:t>
            </a:r>
          </a:p>
          <a:p>
            <a:pPr lvl="1">
              <a:lnSpc>
                <a:spcPct val="100000"/>
              </a:lnSpc>
              <a:buFont typeface="Courier New" panose="02070309020205020404" pitchFamily="49" charset="0"/>
              <a:buChar char="o"/>
            </a:pPr>
            <a:r>
              <a:rPr lang="en-US">
                <a:solidFill>
                  <a:srgbClr val="000000"/>
                </a:solidFill>
              </a:rPr>
              <a:t>Toán tử logic</a:t>
            </a:r>
          </a:p>
          <a:p>
            <a:pPr lvl="1">
              <a:lnSpc>
                <a:spcPct val="100000"/>
              </a:lnSpc>
              <a:buFont typeface="Courier New" panose="02070309020205020404" pitchFamily="49" charset="0"/>
              <a:buChar char="o"/>
            </a:pPr>
            <a:r>
              <a:rPr lang="en-US">
                <a:solidFill>
                  <a:srgbClr val="000000"/>
                </a:solidFill>
              </a:rPr>
              <a:t>Toán tử membership</a:t>
            </a:r>
          </a:p>
          <a:p>
            <a:pPr lvl="1">
              <a:lnSpc>
                <a:spcPct val="100000"/>
              </a:lnSpc>
              <a:buFont typeface="Courier New" panose="02070309020205020404" pitchFamily="49" charset="0"/>
              <a:buChar char="o"/>
            </a:pPr>
            <a:r>
              <a:rPr lang="en-US">
                <a:solidFill>
                  <a:srgbClr val="000000"/>
                </a:solidFill>
              </a:rPr>
              <a:t>Toán tử identify</a:t>
            </a:r>
          </a:p>
          <a:p>
            <a:pPr lvl="1">
              <a:lnSpc>
                <a:spcPct val="100000"/>
              </a:lnSpc>
              <a:buFont typeface="Courier New" panose="02070309020205020404" pitchFamily="49" charset="0"/>
              <a:buChar char="o"/>
            </a:pPr>
            <a:r>
              <a:rPr lang="en-US">
                <a:solidFill>
                  <a:srgbClr val="000000"/>
                </a:solidFill>
              </a:rPr>
              <a:t>Toán tử thao tác bit </a:t>
            </a:r>
            <a:br>
              <a:rPr lang="en-US"/>
            </a:br>
            <a:endParaRPr lang="es-ES" b="1"/>
          </a:p>
        </p:txBody>
      </p:sp>
      <p:sp>
        <p:nvSpPr>
          <p:cNvPr id="4" name="Date Placeholder 3">
            <a:extLst>
              <a:ext uri="{FF2B5EF4-FFF2-40B4-BE49-F238E27FC236}">
                <a16:creationId xmlns:a16="http://schemas.microsoft.com/office/drawing/2014/main" id="{5BE1E60F-3D30-6AF3-4DB1-644027A39233}"/>
              </a:ext>
            </a:extLst>
          </p:cNvPr>
          <p:cNvSpPr>
            <a:spLocks noGrp="1"/>
          </p:cNvSpPr>
          <p:nvPr>
            <p:ph type="dt" sz="half" idx="10"/>
          </p:nvPr>
        </p:nvSpPr>
        <p:spPr/>
        <p:txBody>
          <a:bodyPr/>
          <a:lstStyle/>
          <a:p>
            <a:fld id="{36A1F343-0311-45D8-9C0E-32F642C3E76E}" type="datetime1">
              <a:rPr lang="en-US" smtClean="0"/>
              <a:t>7/25/2024</a:t>
            </a:fld>
            <a:endParaRPr lang="en-US"/>
          </a:p>
        </p:txBody>
      </p:sp>
      <p:sp>
        <p:nvSpPr>
          <p:cNvPr id="5" name="Footer Placeholder 4">
            <a:extLst>
              <a:ext uri="{FF2B5EF4-FFF2-40B4-BE49-F238E27FC236}">
                <a16:creationId xmlns:a16="http://schemas.microsoft.com/office/drawing/2014/main" id="{ADDFD768-9012-33B6-9927-0AB37A1CFEB7}"/>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87B99012-CD39-CEEA-4E14-268EA7AEABAA}"/>
              </a:ext>
            </a:extLst>
          </p:cNvPr>
          <p:cNvSpPr>
            <a:spLocks noGrp="1"/>
          </p:cNvSpPr>
          <p:nvPr>
            <p:ph type="sldNum" sz="quarter" idx="12"/>
          </p:nvPr>
        </p:nvSpPr>
        <p:spPr/>
        <p:txBody>
          <a:bodyPr/>
          <a:lstStyle/>
          <a:p>
            <a:fld id="{D3060201-1C40-4B39-813D-5CD9493BAEED}" type="slidenum">
              <a:rPr lang="en-US" smtClean="0"/>
              <a:t>20</a:t>
            </a:fld>
            <a:endParaRPr lang="en-US"/>
          </a:p>
        </p:txBody>
      </p:sp>
    </p:spTree>
    <p:extLst>
      <p:ext uri="{BB962C8B-B14F-4D97-AF65-F5344CB8AC3E}">
        <p14:creationId xmlns:p14="http://schemas.microsoft.com/office/powerpoint/2010/main" val="3302789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5924F9B-C131-3D81-33EB-A25264AFE2D5}"/>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Toán tử số học trong Python</a:t>
            </a:r>
          </a:p>
        </p:txBody>
      </p:sp>
      <p:sp>
        <p:nvSpPr>
          <p:cNvPr id="20" name="Rectangle 19">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Date Placeholder 3">
            <a:extLst>
              <a:ext uri="{FF2B5EF4-FFF2-40B4-BE49-F238E27FC236}">
                <a16:creationId xmlns:a16="http://schemas.microsoft.com/office/drawing/2014/main" id="{E0CCEA1E-8ED0-9A7C-DE4D-0A0D94F04089}"/>
              </a:ext>
            </a:extLst>
          </p:cNvPr>
          <p:cNvSpPr>
            <a:spLocks noGrp="1"/>
          </p:cNvSpPr>
          <p:nvPr>
            <p:ph type="dt" sz="half" idx="10"/>
          </p:nvPr>
        </p:nvSpPr>
        <p:spPr>
          <a:xfrm>
            <a:off x="492370" y="6459785"/>
            <a:ext cx="1735371"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3F23DF99-9D8B-2EFB-1476-81A0FBAE641E}"/>
              </a:ext>
            </a:extLst>
          </p:cNvPr>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Ngôn ngữ lập trình Python</a:t>
            </a:r>
          </a:p>
        </p:txBody>
      </p:sp>
      <p:sp>
        <p:nvSpPr>
          <p:cNvPr id="6" name="Slide Number Placeholder 5">
            <a:extLst>
              <a:ext uri="{FF2B5EF4-FFF2-40B4-BE49-F238E27FC236}">
                <a16:creationId xmlns:a16="http://schemas.microsoft.com/office/drawing/2014/main" id="{6634EA57-3EFF-D275-F305-095F8EF5F0E2}"/>
              </a:ext>
            </a:extLst>
          </p:cNvPr>
          <p:cNvSpPr>
            <a:spLocks noGrp="1"/>
          </p:cNvSpPr>
          <p:nvPr>
            <p:ph type="sldNum" sz="quarter" idx="12"/>
          </p:nvPr>
        </p:nvSpPr>
        <p:spPr>
          <a:xfrm>
            <a:off x="10123055" y="6459785"/>
            <a:ext cx="1089428" cy="365125"/>
          </a:xfrm>
        </p:spPr>
        <p:txBody>
          <a:bodyPr>
            <a:normAutofit/>
          </a:bodyPr>
          <a:lstStyle/>
          <a:p>
            <a:pPr>
              <a:spcAft>
                <a:spcPts val="600"/>
              </a:spcAft>
            </a:pPr>
            <a:fld id="{D3060201-1C40-4B39-813D-5CD9493BAEED}" type="slidenum">
              <a:rPr lang="en-US" smtClean="0">
                <a:solidFill>
                  <a:schemeClr val="tx2"/>
                </a:solidFill>
              </a:rPr>
              <a:pPr>
                <a:spcAft>
                  <a:spcPts val="600"/>
                </a:spcAft>
              </a:pPr>
              <a:t>21</a:t>
            </a:fld>
            <a:endParaRPr lang="en-US">
              <a:solidFill>
                <a:schemeClr val="tx2"/>
              </a:solidFill>
            </a:endParaRPr>
          </a:p>
        </p:txBody>
      </p:sp>
      <p:sp>
        <p:nvSpPr>
          <p:cNvPr id="8" name="Rectangle 1">
            <a:extLst>
              <a:ext uri="{FF2B5EF4-FFF2-40B4-BE49-F238E27FC236}">
                <a16:creationId xmlns:a16="http://schemas.microsoft.com/office/drawing/2014/main" id="{09DCC295-D93F-DFF7-24D0-54842F72EFFB}"/>
              </a:ext>
            </a:extLst>
          </p:cNvPr>
          <p:cNvSpPr>
            <a:spLocks noChangeArrowheads="1"/>
          </p:cNvSpPr>
          <p:nvPr/>
        </p:nvSpPr>
        <p:spPr bwMode="auto">
          <a:xfrm>
            <a:off x="0" y="-461665"/>
            <a:ext cx="1847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graphicFrame>
        <p:nvGraphicFramePr>
          <p:cNvPr id="11" name="Content Placeholder 10">
            <a:extLst>
              <a:ext uri="{FF2B5EF4-FFF2-40B4-BE49-F238E27FC236}">
                <a16:creationId xmlns:a16="http://schemas.microsoft.com/office/drawing/2014/main" id="{585EA246-B48A-DF68-502B-7A888B2EED9B}"/>
              </a:ext>
            </a:extLst>
          </p:cNvPr>
          <p:cNvGraphicFramePr>
            <a:graphicFrameLocks noGrp="1"/>
          </p:cNvGraphicFramePr>
          <p:nvPr>
            <p:ph idx="1"/>
            <p:extLst>
              <p:ext uri="{D42A27DB-BD31-4B8C-83A1-F6EECF244321}">
                <p14:modId xmlns:p14="http://schemas.microsoft.com/office/powerpoint/2010/main" val="2478532090"/>
              </p:ext>
            </p:extLst>
          </p:nvPr>
        </p:nvGraphicFramePr>
        <p:xfrm>
          <a:off x="4741863" y="1397950"/>
          <a:ext cx="6797675" cy="4133545"/>
        </p:xfrm>
        <a:graphic>
          <a:graphicData uri="http://schemas.openxmlformats.org/drawingml/2006/table">
            <a:tbl>
              <a:tblPr firstRow="1" firstCol="1" bandRow="1">
                <a:tableStyleId>{5C22544A-7EE6-4342-B048-85BDC9FD1C3A}</a:tableStyleId>
              </a:tblPr>
              <a:tblGrid>
                <a:gridCol w="1228813">
                  <a:extLst>
                    <a:ext uri="{9D8B030D-6E8A-4147-A177-3AD203B41FA5}">
                      <a16:colId xmlns:a16="http://schemas.microsoft.com/office/drawing/2014/main" val="2792031318"/>
                    </a:ext>
                  </a:extLst>
                </a:gridCol>
                <a:gridCol w="5568862">
                  <a:extLst>
                    <a:ext uri="{9D8B030D-6E8A-4147-A177-3AD203B41FA5}">
                      <a16:colId xmlns:a16="http://schemas.microsoft.com/office/drawing/2014/main" val="2784773291"/>
                    </a:ext>
                  </a:extLst>
                </a:gridCol>
              </a:tblGrid>
              <a:tr h="415309">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Toán tử</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Miêu tả</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extLst>
                  <a:ext uri="{0D108BD9-81ED-4DB2-BD59-A6C34878D82A}">
                    <a16:rowId xmlns:a16="http://schemas.microsoft.com/office/drawing/2014/main" val="2333001433"/>
                  </a:ext>
                </a:extLst>
              </a:tr>
              <a:tr h="1226382">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Thực hiện phép chia, trong đó kết quả là thương số sau khi đã xóa các số sau</a:t>
                      </a:r>
                      <a:br>
                        <a:rPr lang="en-US" sz="2300" kern="0">
                          <a:effectLst/>
                          <a:latin typeface="Times New Roman" panose="02020603050405020304" pitchFamily="18" charset="0"/>
                          <a:cs typeface="Times New Roman" panose="02020603050405020304" pitchFamily="18" charset="0"/>
                        </a:rPr>
                      </a:br>
                      <a:r>
                        <a:rPr lang="en-US" sz="2300" kern="0">
                          <a:effectLst/>
                          <a:latin typeface="Times New Roman" panose="02020603050405020304" pitchFamily="18" charset="0"/>
                          <a:cs typeface="Times New Roman" panose="02020603050405020304" pitchFamily="18" charset="0"/>
                        </a:rPr>
                        <a:t>dấu phẩy</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extLst>
                  <a:ext uri="{0D108BD9-81ED-4DB2-BD59-A6C34878D82A}">
                    <a16:rowId xmlns:a16="http://schemas.microsoft.com/office/drawing/2014/main" val="4263320898"/>
                  </a:ext>
                </a:extLst>
              </a:tr>
              <a:tr h="415309">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Phép cộng</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extLst>
                  <a:ext uri="{0D108BD9-81ED-4DB2-BD59-A6C34878D82A}">
                    <a16:rowId xmlns:a16="http://schemas.microsoft.com/office/drawing/2014/main" val="3770468637"/>
                  </a:ext>
                </a:extLst>
              </a:tr>
              <a:tr h="415309">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Phép trừ</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extLst>
                  <a:ext uri="{0D108BD9-81ED-4DB2-BD59-A6C34878D82A}">
                    <a16:rowId xmlns:a16="http://schemas.microsoft.com/office/drawing/2014/main" val="2569828051"/>
                  </a:ext>
                </a:extLst>
              </a:tr>
              <a:tr h="415309">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Phép nhân</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extLst>
                  <a:ext uri="{0D108BD9-81ED-4DB2-BD59-A6C34878D82A}">
                    <a16:rowId xmlns:a16="http://schemas.microsoft.com/office/drawing/2014/main" val="244832321"/>
                  </a:ext>
                </a:extLst>
              </a:tr>
              <a:tr h="415309">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Phép chia</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extLst>
                  <a:ext uri="{0D108BD9-81ED-4DB2-BD59-A6C34878D82A}">
                    <a16:rowId xmlns:a16="http://schemas.microsoft.com/office/drawing/2014/main" val="234949479"/>
                  </a:ext>
                </a:extLst>
              </a:tr>
              <a:tr h="415309">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Phép chia lấy phần dư</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extLst>
                  <a:ext uri="{0D108BD9-81ED-4DB2-BD59-A6C34878D82A}">
                    <a16:rowId xmlns:a16="http://schemas.microsoft.com/office/drawing/2014/main" val="1764484283"/>
                  </a:ext>
                </a:extLst>
              </a:tr>
              <a:tr h="415309">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 </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tc>
                  <a:txBody>
                    <a:bodyPr/>
                    <a:lstStyle/>
                    <a:p>
                      <a:pPr>
                        <a:lnSpc>
                          <a:spcPct val="115000"/>
                        </a:lnSpc>
                        <a:spcAft>
                          <a:spcPts val="800"/>
                        </a:spcAft>
                      </a:pPr>
                      <a:r>
                        <a:rPr lang="en-US" sz="2300" kern="0">
                          <a:effectLst/>
                          <a:latin typeface="Times New Roman" panose="02020603050405020304" pitchFamily="18" charset="0"/>
                          <a:cs typeface="Times New Roman" panose="02020603050405020304" pitchFamily="18" charset="0"/>
                        </a:rPr>
                        <a:t>Phép lấy số mũ (ví dụ 2**3 cho kết quả là 8)</a:t>
                      </a:r>
                      <a:endParaRPr lang="en-US" sz="1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78834" marR="78834" marT="0" marB="0" anchor="ctr"/>
                </a:tc>
                <a:extLst>
                  <a:ext uri="{0D108BD9-81ED-4DB2-BD59-A6C34878D82A}">
                    <a16:rowId xmlns:a16="http://schemas.microsoft.com/office/drawing/2014/main" val="1352844007"/>
                  </a:ext>
                </a:extLst>
              </a:tr>
            </a:tbl>
          </a:graphicData>
        </a:graphic>
      </p:graphicFrame>
    </p:spTree>
    <p:extLst>
      <p:ext uri="{BB962C8B-B14F-4D97-AF65-F5344CB8AC3E}">
        <p14:creationId xmlns:p14="http://schemas.microsoft.com/office/powerpoint/2010/main" val="145277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5924F9B-C131-3D81-33EB-A25264AFE2D5}"/>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Toán tử quan hệ trong Python</a:t>
            </a:r>
          </a:p>
        </p:txBody>
      </p:sp>
      <p:sp>
        <p:nvSpPr>
          <p:cNvPr id="18" name="Rectangle 17">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Date Placeholder 3">
            <a:extLst>
              <a:ext uri="{FF2B5EF4-FFF2-40B4-BE49-F238E27FC236}">
                <a16:creationId xmlns:a16="http://schemas.microsoft.com/office/drawing/2014/main" id="{E0CCEA1E-8ED0-9A7C-DE4D-0A0D94F04089}"/>
              </a:ext>
            </a:extLst>
          </p:cNvPr>
          <p:cNvSpPr>
            <a:spLocks noGrp="1"/>
          </p:cNvSpPr>
          <p:nvPr>
            <p:ph type="dt" sz="half" idx="10"/>
          </p:nvPr>
        </p:nvSpPr>
        <p:spPr>
          <a:xfrm>
            <a:off x="492370" y="6459785"/>
            <a:ext cx="1735371"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3F23DF99-9D8B-2EFB-1476-81A0FBAE641E}"/>
              </a:ext>
            </a:extLst>
          </p:cNvPr>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Ngôn ngữ lập trình Python</a:t>
            </a:r>
          </a:p>
        </p:txBody>
      </p:sp>
      <p:sp>
        <p:nvSpPr>
          <p:cNvPr id="6" name="Slide Number Placeholder 5">
            <a:extLst>
              <a:ext uri="{FF2B5EF4-FFF2-40B4-BE49-F238E27FC236}">
                <a16:creationId xmlns:a16="http://schemas.microsoft.com/office/drawing/2014/main" id="{6634EA57-3EFF-D275-F305-095F8EF5F0E2}"/>
              </a:ext>
            </a:extLst>
          </p:cNvPr>
          <p:cNvSpPr>
            <a:spLocks noGrp="1"/>
          </p:cNvSpPr>
          <p:nvPr>
            <p:ph type="sldNum" sz="quarter" idx="12"/>
          </p:nvPr>
        </p:nvSpPr>
        <p:spPr>
          <a:xfrm>
            <a:off x="10123055" y="6459785"/>
            <a:ext cx="1089428" cy="365125"/>
          </a:xfrm>
        </p:spPr>
        <p:txBody>
          <a:bodyPr>
            <a:normAutofit/>
          </a:bodyPr>
          <a:lstStyle/>
          <a:p>
            <a:pPr>
              <a:spcAft>
                <a:spcPts val="600"/>
              </a:spcAft>
            </a:pPr>
            <a:fld id="{D3060201-1C40-4B39-813D-5CD9493BAEED}" type="slidenum">
              <a:rPr lang="en-US">
                <a:solidFill>
                  <a:schemeClr val="tx2"/>
                </a:solidFill>
              </a:rPr>
              <a:pPr>
                <a:spcAft>
                  <a:spcPts val="600"/>
                </a:spcAft>
              </a:pPr>
              <a:t>22</a:t>
            </a:fld>
            <a:endParaRPr lang="en-US">
              <a:solidFill>
                <a:schemeClr val="tx2"/>
              </a:solidFill>
            </a:endParaRPr>
          </a:p>
        </p:txBody>
      </p:sp>
      <p:sp>
        <p:nvSpPr>
          <p:cNvPr id="8" name="Rectangle 1">
            <a:extLst>
              <a:ext uri="{FF2B5EF4-FFF2-40B4-BE49-F238E27FC236}">
                <a16:creationId xmlns:a16="http://schemas.microsoft.com/office/drawing/2014/main" id="{09DCC295-D93F-DFF7-24D0-54842F72EFFB}"/>
              </a:ext>
            </a:extLst>
          </p:cNvPr>
          <p:cNvSpPr>
            <a:spLocks noChangeArrowheads="1"/>
          </p:cNvSpPr>
          <p:nvPr/>
        </p:nvSpPr>
        <p:spPr bwMode="auto">
          <a:xfrm>
            <a:off x="0" y="-461665"/>
            <a:ext cx="1847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graphicFrame>
        <p:nvGraphicFramePr>
          <p:cNvPr id="9" name="Content Placeholder 8">
            <a:extLst>
              <a:ext uri="{FF2B5EF4-FFF2-40B4-BE49-F238E27FC236}">
                <a16:creationId xmlns:a16="http://schemas.microsoft.com/office/drawing/2014/main" id="{DBD71A7B-F8F4-EBA4-81C8-E07D045A4B92}"/>
              </a:ext>
            </a:extLst>
          </p:cNvPr>
          <p:cNvGraphicFramePr>
            <a:graphicFrameLocks noGrp="1"/>
          </p:cNvGraphicFramePr>
          <p:nvPr>
            <p:ph idx="1"/>
            <p:extLst>
              <p:ext uri="{D42A27DB-BD31-4B8C-83A1-F6EECF244321}">
                <p14:modId xmlns:p14="http://schemas.microsoft.com/office/powerpoint/2010/main" val="1103633044"/>
              </p:ext>
            </p:extLst>
          </p:nvPr>
        </p:nvGraphicFramePr>
        <p:xfrm>
          <a:off x="5329849" y="1174233"/>
          <a:ext cx="5621704" cy="4580975"/>
        </p:xfrm>
        <a:graphic>
          <a:graphicData uri="http://schemas.openxmlformats.org/drawingml/2006/table">
            <a:tbl>
              <a:tblPr firstRow="1" firstCol="1" bandRow="1"/>
              <a:tblGrid>
                <a:gridCol w="1882284">
                  <a:extLst>
                    <a:ext uri="{9D8B030D-6E8A-4147-A177-3AD203B41FA5}">
                      <a16:colId xmlns:a16="http://schemas.microsoft.com/office/drawing/2014/main" val="1284961758"/>
                    </a:ext>
                  </a:extLst>
                </a:gridCol>
                <a:gridCol w="3739420">
                  <a:extLst>
                    <a:ext uri="{9D8B030D-6E8A-4147-A177-3AD203B41FA5}">
                      <a16:colId xmlns:a16="http://schemas.microsoft.com/office/drawing/2014/main" val="3999244233"/>
                    </a:ext>
                  </a:extLst>
                </a:gridCol>
              </a:tblGrid>
              <a:tr h="654425">
                <a:tc>
                  <a:txBody>
                    <a:bodyPr/>
                    <a:lstStyle/>
                    <a:p>
                      <a:pPr algn="l" fontAlgn="ctr">
                        <a:lnSpc>
                          <a:spcPct val="115000"/>
                        </a:lnSpc>
                        <a:spcBef>
                          <a:spcPts val="0"/>
                        </a:spcBef>
                        <a:spcAft>
                          <a:spcPts val="800"/>
                        </a:spcAft>
                      </a:pPr>
                      <a:r>
                        <a:rPr lang="en-US" sz="3300" b="1"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Toán tử</a:t>
                      </a:r>
                      <a:endParaRPr lang="en-US"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lnSpc>
                          <a:spcPct val="115000"/>
                        </a:lnSpc>
                        <a:spcBef>
                          <a:spcPts val="0"/>
                        </a:spcBef>
                        <a:spcAft>
                          <a:spcPts val="800"/>
                        </a:spcAft>
                      </a:pPr>
                      <a:r>
                        <a:rPr lang="en-US" sz="3300" b="1"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Miêu tả</a:t>
                      </a:r>
                      <a:endParaRPr lang="en-US"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1897925"/>
                  </a:ext>
                </a:extLst>
              </a:tr>
              <a:tr h="654425">
                <a:tc>
                  <a:txBody>
                    <a:bodyPr/>
                    <a:lstStyle/>
                    <a:p>
                      <a:pPr algn="l" fontAlgn="ctr">
                        <a:lnSpc>
                          <a:spcPct val="115000"/>
                        </a:lnSpc>
                        <a:spcBef>
                          <a:spcPts val="0"/>
                        </a:spcBef>
                        <a:spcAft>
                          <a:spcPts val="800"/>
                        </a:spcAft>
                      </a:pPr>
                      <a:r>
                        <a:rPr lang="en-US"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&lt; </a:t>
                      </a:r>
                      <a:endParaRPr lang="en-US"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lnSpc>
                          <a:spcPct val="115000"/>
                        </a:lnSpc>
                        <a:spcBef>
                          <a:spcPts val="0"/>
                        </a:spcBef>
                        <a:spcAft>
                          <a:spcPts val="800"/>
                        </a:spcAft>
                      </a:pPr>
                      <a:r>
                        <a:rPr lang="vi-VN"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Nhỏ hơn</a:t>
                      </a:r>
                      <a:endParaRPr lang="vi-VN"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9105590"/>
                  </a:ext>
                </a:extLst>
              </a:tr>
              <a:tr h="654425">
                <a:tc>
                  <a:txBody>
                    <a:bodyPr/>
                    <a:lstStyle/>
                    <a:p>
                      <a:pPr algn="l" fontAlgn="ctr">
                        <a:lnSpc>
                          <a:spcPct val="115000"/>
                        </a:lnSpc>
                        <a:spcBef>
                          <a:spcPts val="0"/>
                        </a:spcBef>
                        <a:spcAft>
                          <a:spcPts val="800"/>
                        </a:spcAft>
                      </a:pPr>
                      <a:r>
                        <a:rPr lang="en-US"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&gt; </a:t>
                      </a:r>
                      <a:endParaRPr lang="en-US"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lnSpc>
                          <a:spcPct val="115000"/>
                        </a:lnSpc>
                        <a:spcBef>
                          <a:spcPts val="0"/>
                        </a:spcBef>
                        <a:spcAft>
                          <a:spcPts val="800"/>
                        </a:spcAft>
                      </a:pPr>
                      <a:r>
                        <a:rPr lang="vi-VN"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Lớn hơn</a:t>
                      </a:r>
                      <a:endParaRPr lang="vi-VN"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4774267"/>
                  </a:ext>
                </a:extLst>
              </a:tr>
              <a:tr h="654425">
                <a:tc>
                  <a:txBody>
                    <a:bodyPr/>
                    <a:lstStyle/>
                    <a:p>
                      <a:pPr algn="l" fontAlgn="ctr">
                        <a:lnSpc>
                          <a:spcPct val="115000"/>
                        </a:lnSpc>
                        <a:spcBef>
                          <a:spcPts val="0"/>
                        </a:spcBef>
                        <a:spcAft>
                          <a:spcPts val="800"/>
                        </a:spcAft>
                      </a:pPr>
                      <a:r>
                        <a:rPr lang="en-US"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&lt;= </a:t>
                      </a:r>
                      <a:endParaRPr lang="en-US"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lnSpc>
                          <a:spcPct val="115000"/>
                        </a:lnSpc>
                        <a:spcBef>
                          <a:spcPts val="0"/>
                        </a:spcBef>
                        <a:spcAft>
                          <a:spcPts val="800"/>
                        </a:spcAft>
                      </a:pPr>
                      <a:r>
                        <a:rPr lang="vi-VN"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Nhỏ hơn hoặc bằng</a:t>
                      </a:r>
                      <a:endParaRPr lang="vi-VN"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9691612"/>
                  </a:ext>
                </a:extLst>
              </a:tr>
              <a:tr h="654425">
                <a:tc>
                  <a:txBody>
                    <a:bodyPr/>
                    <a:lstStyle/>
                    <a:p>
                      <a:pPr algn="l" fontAlgn="ctr">
                        <a:lnSpc>
                          <a:spcPct val="115000"/>
                        </a:lnSpc>
                        <a:spcBef>
                          <a:spcPts val="0"/>
                        </a:spcBef>
                        <a:spcAft>
                          <a:spcPts val="800"/>
                        </a:spcAft>
                      </a:pPr>
                      <a:r>
                        <a:rPr lang="en-US" sz="3300" b="0" i="0" u="none" strike="noStrike">
                          <a:solidFill>
                            <a:srgbClr val="313131"/>
                          </a:solidFill>
                          <a:effectLst/>
                          <a:latin typeface="Times New Roman" panose="02020603050405020304" pitchFamily="18" charset="0"/>
                          <a:cs typeface="Times New Roman" panose="02020603050405020304" pitchFamily="18" charset="0"/>
                        </a:rPr>
                        <a:t>&gt;=</a:t>
                      </a:r>
                      <a:endParaRPr lang="en-US"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lnSpc>
                          <a:spcPct val="115000"/>
                        </a:lnSpc>
                        <a:spcBef>
                          <a:spcPts val="0"/>
                        </a:spcBef>
                        <a:spcAft>
                          <a:spcPts val="800"/>
                        </a:spcAft>
                      </a:pPr>
                      <a:r>
                        <a:rPr lang="vi-VN"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Lớn hơn hoặc bằng</a:t>
                      </a:r>
                      <a:endParaRPr lang="vi-VN"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9970101"/>
                  </a:ext>
                </a:extLst>
              </a:tr>
              <a:tr h="654425">
                <a:tc>
                  <a:txBody>
                    <a:bodyPr/>
                    <a:lstStyle/>
                    <a:p>
                      <a:pPr algn="l" fontAlgn="ctr">
                        <a:lnSpc>
                          <a:spcPct val="115000"/>
                        </a:lnSpc>
                        <a:spcBef>
                          <a:spcPts val="0"/>
                        </a:spcBef>
                        <a:spcAft>
                          <a:spcPts val="800"/>
                        </a:spcAft>
                      </a:pPr>
                      <a:r>
                        <a:rPr lang="en-US"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lnSpc>
                          <a:spcPct val="115000"/>
                        </a:lnSpc>
                        <a:spcBef>
                          <a:spcPts val="0"/>
                        </a:spcBef>
                        <a:spcAft>
                          <a:spcPts val="800"/>
                        </a:spcAft>
                      </a:pPr>
                      <a:r>
                        <a:rPr lang="en-US"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Bằng</a:t>
                      </a:r>
                      <a:endParaRPr lang="en-US"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6108373"/>
                  </a:ext>
                </a:extLst>
              </a:tr>
              <a:tr h="654425">
                <a:tc>
                  <a:txBody>
                    <a:bodyPr/>
                    <a:lstStyle/>
                    <a:p>
                      <a:pPr algn="l" fontAlgn="ctr">
                        <a:lnSpc>
                          <a:spcPct val="115000"/>
                        </a:lnSpc>
                        <a:spcBef>
                          <a:spcPts val="0"/>
                        </a:spcBef>
                        <a:spcAft>
                          <a:spcPts val="800"/>
                        </a:spcAft>
                      </a:pPr>
                      <a:r>
                        <a:rPr lang="en-US"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lnSpc>
                          <a:spcPct val="115000"/>
                        </a:lnSpc>
                        <a:spcBef>
                          <a:spcPts val="0"/>
                        </a:spcBef>
                        <a:spcAft>
                          <a:spcPts val="800"/>
                        </a:spcAft>
                      </a:pPr>
                      <a:r>
                        <a:rPr lang="en-US" sz="3300" b="0" i="0" u="none" strike="noStrike">
                          <a:solidFill>
                            <a:srgbClr val="313131"/>
                          </a:solidFill>
                          <a:effectLst/>
                          <a:latin typeface="Times New Roman" panose="02020603050405020304" pitchFamily="18" charset="0"/>
                          <a:ea typeface="Times New Roman" panose="02020603050405020304" pitchFamily="18" charset="0"/>
                          <a:cs typeface="Times New Roman" panose="02020603050405020304" pitchFamily="18" charset="0"/>
                        </a:rPr>
                        <a:t>Không bằng</a:t>
                      </a:r>
                      <a:endParaRPr lang="en-US" sz="3000" b="0" i="0" u="none" strike="noStrike">
                        <a:effectLst/>
                        <a:latin typeface="Arial" panose="020B0604020202020204" pitchFamily="34" charset="0"/>
                      </a:endParaRPr>
                    </a:p>
                  </a:txBody>
                  <a:tcPr marL="113157" marR="113157" marT="157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9260998"/>
                  </a:ext>
                </a:extLst>
              </a:tr>
            </a:tbl>
          </a:graphicData>
        </a:graphic>
      </p:graphicFrame>
    </p:spTree>
    <p:extLst>
      <p:ext uri="{BB962C8B-B14F-4D97-AF65-F5344CB8AC3E}">
        <p14:creationId xmlns:p14="http://schemas.microsoft.com/office/powerpoint/2010/main" val="2599332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4953E6B-4734-13C1-B5F4-0817BA9A7080}"/>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Toán tử gán trong Python</a:t>
            </a:r>
          </a:p>
        </p:txBody>
      </p:sp>
      <p:sp>
        <p:nvSpPr>
          <p:cNvPr id="17" name="Rectangle 16">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Date Placeholder 3">
            <a:extLst>
              <a:ext uri="{FF2B5EF4-FFF2-40B4-BE49-F238E27FC236}">
                <a16:creationId xmlns:a16="http://schemas.microsoft.com/office/drawing/2014/main" id="{B87D88BB-8A0B-0C0D-0385-9D67F826D1A5}"/>
              </a:ext>
            </a:extLst>
          </p:cNvPr>
          <p:cNvSpPr>
            <a:spLocks noGrp="1"/>
          </p:cNvSpPr>
          <p:nvPr>
            <p:ph type="dt" sz="half" idx="10"/>
          </p:nvPr>
        </p:nvSpPr>
        <p:spPr>
          <a:xfrm>
            <a:off x="492370" y="6459785"/>
            <a:ext cx="1735371"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BF7D394B-3F8B-F74C-5AE1-A8ADF21EB8BA}"/>
              </a:ext>
            </a:extLst>
          </p:cNvPr>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Ngôn ngữ lập trình Python</a:t>
            </a:r>
          </a:p>
        </p:txBody>
      </p:sp>
      <p:sp>
        <p:nvSpPr>
          <p:cNvPr id="6" name="Slide Number Placeholder 5">
            <a:extLst>
              <a:ext uri="{FF2B5EF4-FFF2-40B4-BE49-F238E27FC236}">
                <a16:creationId xmlns:a16="http://schemas.microsoft.com/office/drawing/2014/main" id="{DAC7660C-B614-3349-0060-3834EC122840}"/>
              </a:ext>
            </a:extLst>
          </p:cNvPr>
          <p:cNvSpPr>
            <a:spLocks noGrp="1"/>
          </p:cNvSpPr>
          <p:nvPr>
            <p:ph type="sldNum" sz="quarter" idx="12"/>
          </p:nvPr>
        </p:nvSpPr>
        <p:spPr>
          <a:xfrm>
            <a:off x="10123055" y="6459785"/>
            <a:ext cx="1089428" cy="365125"/>
          </a:xfrm>
        </p:spPr>
        <p:txBody>
          <a:bodyPr>
            <a:normAutofit/>
          </a:bodyPr>
          <a:lstStyle/>
          <a:p>
            <a:pPr>
              <a:spcAft>
                <a:spcPts val="600"/>
              </a:spcAft>
            </a:pPr>
            <a:fld id="{D3060201-1C40-4B39-813D-5CD9493BAEED}" type="slidenum">
              <a:rPr lang="en-US">
                <a:solidFill>
                  <a:schemeClr val="tx2"/>
                </a:solidFill>
              </a:rPr>
              <a:pPr>
                <a:spcAft>
                  <a:spcPts val="600"/>
                </a:spcAft>
              </a:pPr>
              <a:t>23</a:t>
            </a:fld>
            <a:endParaRPr lang="en-US">
              <a:solidFill>
                <a:schemeClr val="tx2"/>
              </a:solidFill>
            </a:endParaRPr>
          </a:p>
        </p:txBody>
      </p:sp>
      <p:graphicFrame>
        <p:nvGraphicFramePr>
          <p:cNvPr id="7" name="Content Placeholder 6">
            <a:extLst>
              <a:ext uri="{FF2B5EF4-FFF2-40B4-BE49-F238E27FC236}">
                <a16:creationId xmlns:a16="http://schemas.microsoft.com/office/drawing/2014/main" id="{2C6EFE8A-054A-4E58-721F-9760AA81B1D8}"/>
              </a:ext>
            </a:extLst>
          </p:cNvPr>
          <p:cNvGraphicFramePr>
            <a:graphicFrameLocks noGrp="1"/>
          </p:cNvGraphicFramePr>
          <p:nvPr>
            <p:ph idx="1"/>
            <p:extLst>
              <p:ext uri="{D42A27DB-BD31-4B8C-83A1-F6EECF244321}">
                <p14:modId xmlns:p14="http://schemas.microsoft.com/office/powerpoint/2010/main" val="3389848193"/>
              </p:ext>
            </p:extLst>
          </p:nvPr>
        </p:nvGraphicFramePr>
        <p:xfrm>
          <a:off x="4741863" y="942968"/>
          <a:ext cx="6797676" cy="5043507"/>
        </p:xfrm>
        <a:graphic>
          <a:graphicData uri="http://schemas.openxmlformats.org/drawingml/2006/table">
            <a:tbl>
              <a:tblPr/>
              <a:tblGrid>
                <a:gridCol w="1051265">
                  <a:extLst>
                    <a:ext uri="{9D8B030D-6E8A-4147-A177-3AD203B41FA5}">
                      <a16:colId xmlns:a16="http://schemas.microsoft.com/office/drawing/2014/main" val="3841257150"/>
                    </a:ext>
                  </a:extLst>
                </a:gridCol>
                <a:gridCol w="5746411">
                  <a:extLst>
                    <a:ext uri="{9D8B030D-6E8A-4147-A177-3AD203B41FA5}">
                      <a16:colId xmlns:a16="http://schemas.microsoft.com/office/drawing/2014/main" val="2946741572"/>
                    </a:ext>
                  </a:extLst>
                </a:gridCol>
              </a:tblGrid>
              <a:tr h="779870">
                <a:tc>
                  <a:txBody>
                    <a:bodyPr/>
                    <a:lstStyle/>
                    <a:p>
                      <a:r>
                        <a:rPr lang="en-US" sz="1900" b="1" i="0">
                          <a:solidFill>
                            <a:srgbClr val="313131"/>
                          </a:solidFill>
                          <a:effectLst/>
                          <a:latin typeface="Arial" panose="020B0604020202020204" pitchFamily="34" charset="0"/>
                        </a:rPr>
                        <a:t>Toán</a:t>
                      </a:r>
                      <a:br>
                        <a:rPr lang="en-US" sz="1900" b="1" i="0">
                          <a:solidFill>
                            <a:srgbClr val="313131"/>
                          </a:solidFill>
                          <a:effectLst/>
                          <a:latin typeface="Arial" panose="020B0604020202020204" pitchFamily="34" charset="0"/>
                        </a:rPr>
                      </a:br>
                      <a:r>
                        <a:rPr lang="en-US" sz="1900" b="1" i="0">
                          <a:solidFill>
                            <a:srgbClr val="313131"/>
                          </a:solidFill>
                          <a:effectLst/>
                          <a:latin typeface="Arial" panose="020B0604020202020204" pitchFamily="34" charset="0"/>
                        </a:rPr>
                        <a:t>tử</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900" b="1" i="0">
                          <a:solidFill>
                            <a:srgbClr val="313131"/>
                          </a:solidFill>
                          <a:effectLst/>
                          <a:latin typeface="Arial" panose="020B0604020202020204" pitchFamily="34" charset="0"/>
                        </a:rPr>
                        <a:t>Miêu tả</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2723350"/>
                  </a:ext>
                </a:extLst>
              </a:tr>
              <a:tr h="497681">
                <a:tc>
                  <a:txBody>
                    <a:bodyPr/>
                    <a:lstStyle/>
                    <a:p>
                      <a:r>
                        <a:rPr lang="en-US" sz="1900" b="0" i="0">
                          <a:solidFill>
                            <a:srgbClr val="313131"/>
                          </a:solidFill>
                          <a:effectLst/>
                          <a:latin typeface="Arial" panose="020B0604020202020204" pitchFamily="34" charset="0"/>
                        </a:rPr>
                        <a:t>= </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900" b="0" i="0">
                          <a:solidFill>
                            <a:srgbClr val="313131"/>
                          </a:solidFill>
                          <a:effectLst/>
                          <a:latin typeface="Arial" panose="020B0604020202020204" pitchFamily="34" charset="0"/>
                        </a:rPr>
                        <a:t>Phép gán</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4605036"/>
                  </a:ext>
                </a:extLst>
              </a:tr>
              <a:tr h="779870">
                <a:tc>
                  <a:txBody>
                    <a:bodyPr/>
                    <a:lstStyle/>
                    <a:p>
                      <a:r>
                        <a:rPr lang="en-US" sz="1900" b="0" i="0">
                          <a:solidFill>
                            <a:srgbClr val="313131"/>
                          </a:solidFill>
                          <a:effectLst/>
                          <a:latin typeface="Arial" panose="020B0604020202020204" pitchFamily="34" charset="0"/>
                        </a:rPr>
                        <a:t>/= </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900" b="0" i="0">
                          <a:solidFill>
                            <a:srgbClr val="313131"/>
                          </a:solidFill>
                          <a:effectLst/>
                          <a:latin typeface="Arial" panose="020B0604020202020204" pitchFamily="34" charset="0"/>
                        </a:rPr>
                        <a:t>Chia toán hạng trái cho toán hạng phải, và gán kết quả cho toán hạng trái</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6259237"/>
                  </a:ext>
                </a:extLst>
              </a:tr>
              <a:tr h="497681">
                <a:tc>
                  <a:txBody>
                    <a:bodyPr/>
                    <a:lstStyle/>
                    <a:p>
                      <a:r>
                        <a:rPr lang="en-US" sz="1900" b="0" i="0">
                          <a:solidFill>
                            <a:srgbClr val="313131"/>
                          </a:solidFill>
                          <a:effectLst/>
                          <a:latin typeface="Arial" panose="020B0604020202020204" pitchFamily="34" charset="0"/>
                        </a:rPr>
                        <a:t>+= </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900" b="0" i="0">
                          <a:solidFill>
                            <a:srgbClr val="313131"/>
                          </a:solidFill>
                          <a:effectLst/>
                          <a:latin typeface="Arial" panose="020B0604020202020204" pitchFamily="34" charset="0"/>
                        </a:rPr>
                        <a:t>Cộng và gán</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7689590"/>
                  </a:ext>
                </a:extLst>
              </a:tr>
              <a:tr h="497681">
                <a:tc>
                  <a:txBody>
                    <a:bodyPr/>
                    <a:lstStyle/>
                    <a:p>
                      <a:r>
                        <a:rPr lang="en-US" sz="1900" b="0" i="0">
                          <a:solidFill>
                            <a:srgbClr val="313131"/>
                          </a:solidFill>
                          <a:effectLst/>
                          <a:latin typeface="Arial" panose="020B0604020202020204" pitchFamily="34" charset="0"/>
                        </a:rPr>
                        <a:t>-= </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900" b="0" i="0">
                          <a:solidFill>
                            <a:srgbClr val="313131"/>
                          </a:solidFill>
                          <a:effectLst/>
                          <a:latin typeface="Arial" panose="020B0604020202020204" pitchFamily="34" charset="0"/>
                        </a:rPr>
                        <a:t>Trừ và gán</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7148788"/>
                  </a:ext>
                </a:extLst>
              </a:tr>
              <a:tr h="497681">
                <a:tc>
                  <a:txBody>
                    <a:bodyPr/>
                    <a:lstStyle/>
                    <a:p>
                      <a:r>
                        <a:rPr lang="en-US" sz="1900" b="0" i="0">
                          <a:solidFill>
                            <a:srgbClr val="313131"/>
                          </a:solidFill>
                          <a:effectLst/>
                          <a:latin typeface="Arial" panose="020B0604020202020204" pitchFamily="34" charset="0"/>
                        </a:rPr>
                        <a:t>*= </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900" b="0" i="0">
                          <a:solidFill>
                            <a:srgbClr val="313131"/>
                          </a:solidFill>
                          <a:effectLst/>
                          <a:latin typeface="Arial" panose="020B0604020202020204" pitchFamily="34" charset="0"/>
                        </a:rPr>
                        <a:t>Nhân và gán</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943375"/>
                  </a:ext>
                </a:extLst>
              </a:tr>
              <a:tr h="497681">
                <a:tc>
                  <a:txBody>
                    <a:bodyPr/>
                    <a:lstStyle/>
                    <a:p>
                      <a:r>
                        <a:rPr lang="en-US" sz="1900" b="0" i="0">
                          <a:solidFill>
                            <a:srgbClr val="313131"/>
                          </a:solidFill>
                          <a:effectLst/>
                          <a:latin typeface="Arial" panose="020B0604020202020204" pitchFamily="34" charset="0"/>
                        </a:rPr>
                        <a:t>%= </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vi-VN" sz="1900" b="0" i="0">
                          <a:solidFill>
                            <a:srgbClr val="313131"/>
                          </a:solidFill>
                          <a:effectLst/>
                          <a:latin typeface="Arial" panose="020B0604020202020204" pitchFamily="34" charset="0"/>
                        </a:rPr>
                        <a:t>Chia lấy phần dư và gán</a:t>
                      </a:r>
                      <a:endParaRPr lang="vi-VN"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6177774"/>
                  </a:ext>
                </a:extLst>
              </a:tr>
              <a:tr h="497681">
                <a:tc>
                  <a:txBody>
                    <a:bodyPr/>
                    <a:lstStyle/>
                    <a:p>
                      <a:r>
                        <a:rPr lang="en-US" sz="1900" b="0" i="0">
                          <a:solidFill>
                            <a:srgbClr val="313131"/>
                          </a:solidFill>
                          <a:effectLst/>
                          <a:latin typeface="Arial" panose="020B0604020202020204" pitchFamily="34" charset="0"/>
                        </a:rPr>
                        <a:t>**= </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900" b="0" i="0">
                          <a:solidFill>
                            <a:srgbClr val="313131"/>
                          </a:solidFill>
                          <a:effectLst/>
                          <a:latin typeface="Arial" panose="020B0604020202020204" pitchFamily="34" charset="0"/>
                        </a:rPr>
                        <a:t>Lấy số mũ và gán</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5951684"/>
                  </a:ext>
                </a:extLst>
              </a:tr>
              <a:tr h="497681">
                <a:tc>
                  <a:txBody>
                    <a:bodyPr/>
                    <a:lstStyle/>
                    <a:p>
                      <a:r>
                        <a:rPr lang="en-US" sz="1900" b="0" i="0">
                          <a:solidFill>
                            <a:srgbClr val="313131"/>
                          </a:solidFill>
                          <a:effectLst/>
                          <a:latin typeface="Arial" panose="020B0604020202020204" pitchFamily="34" charset="0"/>
                        </a:rPr>
                        <a:t>//= </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900" b="0" i="0">
                          <a:solidFill>
                            <a:srgbClr val="313131"/>
                          </a:solidFill>
                          <a:effectLst/>
                          <a:latin typeface="Arial" panose="020B0604020202020204" pitchFamily="34" charset="0"/>
                        </a:rPr>
                        <a:t>Thực hiện phép chia // và gán</a:t>
                      </a:r>
                      <a:endParaRPr lang="en-US" sz="3000">
                        <a:effectLst/>
                      </a:endParaRPr>
                    </a:p>
                  </a:txBody>
                  <a:tcPr marL="153922" marR="153922" marT="76961" marB="7696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1894861"/>
                  </a:ext>
                </a:extLst>
              </a:tr>
            </a:tbl>
          </a:graphicData>
        </a:graphic>
      </p:graphicFrame>
      <p:sp>
        <p:nvSpPr>
          <p:cNvPr id="8" name="Rectangle 1">
            <a:extLst>
              <a:ext uri="{FF2B5EF4-FFF2-40B4-BE49-F238E27FC236}">
                <a16:creationId xmlns:a16="http://schemas.microsoft.com/office/drawing/2014/main" id="{B85433D7-883B-7BBF-4F54-E42090A18E0C}"/>
              </a:ext>
            </a:extLst>
          </p:cNvPr>
          <p:cNvSpPr>
            <a:spLocks noChangeArrowheads="1"/>
          </p:cNvSpPr>
          <p:nvPr/>
        </p:nvSpPr>
        <p:spPr bwMode="auto">
          <a:xfrm>
            <a:off x="0" y="-461665"/>
            <a:ext cx="1847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485565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CCC8875-0DCD-EB38-D212-D302E96CF1F3}"/>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Toán tử logic trong Python</a:t>
            </a:r>
          </a:p>
        </p:txBody>
      </p:sp>
      <p:sp>
        <p:nvSpPr>
          <p:cNvPr id="17" name="Rectangle 16">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Date Placeholder 3">
            <a:extLst>
              <a:ext uri="{FF2B5EF4-FFF2-40B4-BE49-F238E27FC236}">
                <a16:creationId xmlns:a16="http://schemas.microsoft.com/office/drawing/2014/main" id="{2CAA238B-59F6-D810-5A67-8C938CA6FB9D}"/>
              </a:ext>
            </a:extLst>
          </p:cNvPr>
          <p:cNvSpPr>
            <a:spLocks noGrp="1"/>
          </p:cNvSpPr>
          <p:nvPr>
            <p:ph type="dt" sz="half" idx="10"/>
          </p:nvPr>
        </p:nvSpPr>
        <p:spPr>
          <a:xfrm>
            <a:off x="492370" y="6459785"/>
            <a:ext cx="1735371"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0BA53B8C-83F2-4725-D0AC-C6425C275852}"/>
              </a:ext>
            </a:extLst>
          </p:cNvPr>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Ngôn ngữ lập trình Python</a:t>
            </a:r>
          </a:p>
        </p:txBody>
      </p:sp>
      <p:sp>
        <p:nvSpPr>
          <p:cNvPr id="6" name="Slide Number Placeholder 5">
            <a:extLst>
              <a:ext uri="{FF2B5EF4-FFF2-40B4-BE49-F238E27FC236}">
                <a16:creationId xmlns:a16="http://schemas.microsoft.com/office/drawing/2014/main" id="{E722E60F-2FC5-5C5A-1F53-587A6D6FF8EA}"/>
              </a:ext>
            </a:extLst>
          </p:cNvPr>
          <p:cNvSpPr>
            <a:spLocks noGrp="1"/>
          </p:cNvSpPr>
          <p:nvPr>
            <p:ph type="sldNum" sz="quarter" idx="12"/>
          </p:nvPr>
        </p:nvSpPr>
        <p:spPr>
          <a:xfrm>
            <a:off x="10123055" y="6459785"/>
            <a:ext cx="1089428" cy="365125"/>
          </a:xfrm>
        </p:spPr>
        <p:txBody>
          <a:bodyPr>
            <a:normAutofit/>
          </a:bodyPr>
          <a:lstStyle/>
          <a:p>
            <a:pPr>
              <a:spcAft>
                <a:spcPts val="600"/>
              </a:spcAft>
            </a:pPr>
            <a:fld id="{D3060201-1C40-4B39-813D-5CD9493BAEED}" type="slidenum">
              <a:rPr lang="en-US">
                <a:solidFill>
                  <a:schemeClr val="tx2"/>
                </a:solidFill>
              </a:rPr>
              <a:pPr>
                <a:spcAft>
                  <a:spcPts val="600"/>
                </a:spcAft>
              </a:pPr>
              <a:t>24</a:t>
            </a:fld>
            <a:endParaRPr lang="en-US">
              <a:solidFill>
                <a:schemeClr val="tx2"/>
              </a:solidFill>
            </a:endParaRPr>
          </a:p>
        </p:txBody>
      </p:sp>
      <p:graphicFrame>
        <p:nvGraphicFramePr>
          <p:cNvPr id="7" name="Content Placeholder 6">
            <a:extLst>
              <a:ext uri="{FF2B5EF4-FFF2-40B4-BE49-F238E27FC236}">
                <a16:creationId xmlns:a16="http://schemas.microsoft.com/office/drawing/2014/main" id="{D99BF659-66D6-C561-A383-25A5794AC161}"/>
              </a:ext>
            </a:extLst>
          </p:cNvPr>
          <p:cNvGraphicFramePr>
            <a:graphicFrameLocks noGrp="1"/>
          </p:cNvGraphicFramePr>
          <p:nvPr>
            <p:ph idx="1"/>
            <p:extLst>
              <p:ext uri="{D42A27DB-BD31-4B8C-83A1-F6EECF244321}">
                <p14:modId xmlns:p14="http://schemas.microsoft.com/office/powerpoint/2010/main" val="3270687064"/>
              </p:ext>
            </p:extLst>
          </p:nvPr>
        </p:nvGraphicFramePr>
        <p:xfrm>
          <a:off x="4741863" y="1618262"/>
          <a:ext cx="6797676" cy="3692916"/>
        </p:xfrm>
        <a:graphic>
          <a:graphicData uri="http://schemas.openxmlformats.org/drawingml/2006/table">
            <a:tbl>
              <a:tblPr/>
              <a:tblGrid>
                <a:gridCol w="1244512">
                  <a:extLst>
                    <a:ext uri="{9D8B030D-6E8A-4147-A177-3AD203B41FA5}">
                      <a16:colId xmlns:a16="http://schemas.microsoft.com/office/drawing/2014/main" val="3816314149"/>
                    </a:ext>
                  </a:extLst>
                </a:gridCol>
                <a:gridCol w="5553164">
                  <a:extLst>
                    <a:ext uri="{9D8B030D-6E8A-4147-A177-3AD203B41FA5}">
                      <a16:colId xmlns:a16="http://schemas.microsoft.com/office/drawing/2014/main" val="8178341"/>
                    </a:ext>
                  </a:extLst>
                </a:gridCol>
              </a:tblGrid>
              <a:tr h="923229">
                <a:tc>
                  <a:txBody>
                    <a:bodyPr/>
                    <a:lstStyle/>
                    <a:p>
                      <a:pPr algn="l" fontAlgn="ctr">
                        <a:spcBef>
                          <a:spcPts val="0"/>
                        </a:spcBef>
                        <a:spcAft>
                          <a:spcPts val="0"/>
                        </a:spcAft>
                      </a:pPr>
                      <a:r>
                        <a:rPr lang="en-US" sz="2200" b="1" i="0" u="none" strike="noStrike">
                          <a:solidFill>
                            <a:srgbClr val="313131"/>
                          </a:solidFill>
                          <a:effectLst/>
                          <a:latin typeface="Arial" panose="020B0604020202020204" pitchFamily="34" charset="0"/>
                        </a:rPr>
                        <a:t>Toán</a:t>
                      </a:r>
                      <a:br>
                        <a:rPr lang="en-US" sz="2200" b="1" i="0" u="none" strike="noStrike">
                          <a:solidFill>
                            <a:srgbClr val="313131"/>
                          </a:solidFill>
                          <a:effectLst/>
                          <a:latin typeface="Arial" panose="020B0604020202020204" pitchFamily="34" charset="0"/>
                        </a:rPr>
                      </a:br>
                      <a:r>
                        <a:rPr lang="en-US" sz="2200" b="1" i="0" u="none" strike="noStrike">
                          <a:solidFill>
                            <a:srgbClr val="313131"/>
                          </a:solidFill>
                          <a:effectLst/>
                          <a:latin typeface="Arial" panose="020B0604020202020204" pitchFamily="34" charset="0"/>
                        </a:rPr>
                        <a:t>tử</a:t>
                      </a:r>
                      <a:endParaRPr lang="en-US" sz="3600" b="0" i="0" u="none" strike="noStrike">
                        <a:effectLst/>
                        <a:latin typeface="Arial" panose="020B0604020202020204" pitchFamily="34" charset="0"/>
                      </a:endParaRPr>
                    </a:p>
                  </a:txBody>
                  <a:tcPr marL="182216" marR="182216" marT="91108" marB="911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spcBef>
                          <a:spcPts val="0"/>
                        </a:spcBef>
                        <a:spcAft>
                          <a:spcPts val="0"/>
                        </a:spcAft>
                      </a:pPr>
                      <a:r>
                        <a:rPr lang="en-US" sz="2200" b="1" i="0" u="none" strike="noStrike">
                          <a:solidFill>
                            <a:srgbClr val="313131"/>
                          </a:solidFill>
                          <a:effectLst/>
                          <a:latin typeface="Arial" panose="020B0604020202020204" pitchFamily="34" charset="0"/>
                        </a:rPr>
                        <a:t>Miêu tả</a:t>
                      </a:r>
                      <a:endParaRPr lang="en-US" sz="3600" b="0" i="0" u="none" strike="noStrike">
                        <a:effectLst/>
                        <a:latin typeface="Arial" panose="020B0604020202020204" pitchFamily="34" charset="0"/>
                      </a:endParaRPr>
                    </a:p>
                  </a:txBody>
                  <a:tcPr marL="182216" marR="182216" marT="91108" marB="911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9523904"/>
                  </a:ext>
                </a:extLst>
              </a:tr>
              <a:tr h="923229">
                <a:tc>
                  <a:txBody>
                    <a:bodyPr/>
                    <a:lstStyle/>
                    <a:p>
                      <a:pPr algn="l" fontAlgn="ctr">
                        <a:spcBef>
                          <a:spcPts val="0"/>
                        </a:spcBef>
                        <a:spcAft>
                          <a:spcPts val="0"/>
                        </a:spcAft>
                      </a:pPr>
                      <a:r>
                        <a:rPr lang="en-US" sz="2200" b="0" i="0" u="none" strike="noStrike">
                          <a:solidFill>
                            <a:srgbClr val="313131"/>
                          </a:solidFill>
                          <a:effectLst/>
                          <a:latin typeface="Arial" panose="020B0604020202020204" pitchFamily="34" charset="0"/>
                        </a:rPr>
                        <a:t>and </a:t>
                      </a:r>
                      <a:endParaRPr lang="en-US" sz="3600" b="0" i="0" u="none" strike="noStrike">
                        <a:effectLst/>
                        <a:latin typeface="Arial" panose="020B0604020202020204" pitchFamily="34" charset="0"/>
                      </a:endParaRPr>
                    </a:p>
                  </a:txBody>
                  <a:tcPr marL="182216" marR="182216" marT="91108" marB="911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spcBef>
                          <a:spcPts val="0"/>
                        </a:spcBef>
                        <a:spcAft>
                          <a:spcPts val="0"/>
                        </a:spcAft>
                      </a:pPr>
                      <a:r>
                        <a:rPr lang="en-US" sz="2200" b="0" i="0" u="none" strike="noStrike">
                          <a:solidFill>
                            <a:srgbClr val="313131"/>
                          </a:solidFill>
                          <a:effectLst/>
                          <a:latin typeface="Arial" panose="020B0604020202020204" pitchFamily="34" charset="0"/>
                        </a:rPr>
                        <a:t>Phép Và. Nếu cả hai điều kiện là true thì kết quả sẽ là true</a:t>
                      </a:r>
                      <a:endParaRPr lang="en-US" sz="3600" b="0" i="0" u="none" strike="noStrike">
                        <a:effectLst/>
                        <a:latin typeface="Arial" panose="020B0604020202020204" pitchFamily="34" charset="0"/>
                      </a:endParaRPr>
                    </a:p>
                  </a:txBody>
                  <a:tcPr marL="182216" marR="182216" marT="91108" marB="911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341217"/>
                  </a:ext>
                </a:extLst>
              </a:tr>
              <a:tr h="923229">
                <a:tc>
                  <a:txBody>
                    <a:bodyPr/>
                    <a:lstStyle/>
                    <a:p>
                      <a:pPr algn="l" fontAlgn="ctr">
                        <a:spcBef>
                          <a:spcPts val="0"/>
                        </a:spcBef>
                        <a:spcAft>
                          <a:spcPts val="0"/>
                        </a:spcAft>
                      </a:pPr>
                      <a:r>
                        <a:rPr lang="en-US" sz="2200" b="0" i="0" u="none" strike="noStrike">
                          <a:solidFill>
                            <a:srgbClr val="313131"/>
                          </a:solidFill>
                          <a:effectLst/>
                          <a:latin typeface="Arial" panose="020B0604020202020204" pitchFamily="34" charset="0"/>
                        </a:rPr>
                        <a:t>or </a:t>
                      </a:r>
                      <a:endParaRPr lang="en-US" sz="3600" b="0" i="0" u="none" strike="noStrike">
                        <a:effectLst/>
                        <a:latin typeface="Arial" panose="020B0604020202020204" pitchFamily="34" charset="0"/>
                      </a:endParaRPr>
                    </a:p>
                  </a:txBody>
                  <a:tcPr marL="182216" marR="182216" marT="91108" marB="911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spcBef>
                          <a:spcPts val="0"/>
                        </a:spcBef>
                        <a:spcAft>
                          <a:spcPts val="0"/>
                        </a:spcAft>
                      </a:pPr>
                      <a:r>
                        <a:rPr lang="en-US" sz="2200" b="0" i="0" u="none" strike="noStrike">
                          <a:solidFill>
                            <a:srgbClr val="313131"/>
                          </a:solidFill>
                          <a:effectLst/>
                          <a:latin typeface="Arial" panose="020B0604020202020204" pitchFamily="34" charset="0"/>
                        </a:rPr>
                        <a:t>Phép Hoặc. Nếu một trong hai điều kiện là true thì kết quả là true</a:t>
                      </a:r>
                      <a:endParaRPr lang="en-US" sz="3600" b="0" i="0" u="none" strike="noStrike">
                        <a:effectLst/>
                        <a:latin typeface="Arial" panose="020B0604020202020204" pitchFamily="34" charset="0"/>
                      </a:endParaRPr>
                    </a:p>
                  </a:txBody>
                  <a:tcPr marL="182216" marR="182216" marT="91108" marB="911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5039753"/>
                  </a:ext>
                </a:extLst>
              </a:tr>
              <a:tr h="923229">
                <a:tc>
                  <a:txBody>
                    <a:bodyPr/>
                    <a:lstStyle/>
                    <a:p>
                      <a:pPr algn="l" fontAlgn="ctr">
                        <a:spcBef>
                          <a:spcPts val="0"/>
                        </a:spcBef>
                        <a:spcAft>
                          <a:spcPts val="0"/>
                        </a:spcAft>
                      </a:pPr>
                      <a:r>
                        <a:rPr lang="en-US" sz="2200" b="0" i="0" u="none" strike="noStrike">
                          <a:solidFill>
                            <a:srgbClr val="313131"/>
                          </a:solidFill>
                          <a:effectLst/>
                          <a:latin typeface="Arial" panose="020B0604020202020204" pitchFamily="34" charset="0"/>
                        </a:rPr>
                        <a:t>not </a:t>
                      </a:r>
                      <a:endParaRPr lang="en-US" sz="3600" b="0" i="0" u="none" strike="noStrike">
                        <a:effectLst/>
                        <a:latin typeface="Arial" panose="020B0604020202020204" pitchFamily="34" charset="0"/>
                      </a:endParaRPr>
                    </a:p>
                  </a:txBody>
                  <a:tcPr marL="182216" marR="182216" marT="91108" marB="911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spcBef>
                          <a:spcPts val="0"/>
                        </a:spcBef>
                        <a:spcAft>
                          <a:spcPts val="0"/>
                        </a:spcAft>
                      </a:pPr>
                      <a:r>
                        <a:rPr lang="vi-VN" sz="2200" b="0" i="0" u="none" strike="noStrike">
                          <a:solidFill>
                            <a:srgbClr val="313131"/>
                          </a:solidFill>
                          <a:effectLst/>
                          <a:latin typeface="Arial" panose="020B0604020202020204" pitchFamily="34" charset="0"/>
                        </a:rPr>
                        <a:t>Phép phủ định. Được sử dụng để đảo ngược trạng thái logic của toán hạng</a:t>
                      </a:r>
                      <a:endParaRPr lang="vi-VN" sz="3600" b="0" i="0" u="none" strike="noStrike">
                        <a:effectLst/>
                        <a:latin typeface="Arial" panose="020B0604020202020204" pitchFamily="34" charset="0"/>
                      </a:endParaRPr>
                    </a:p>
                  </a:txBody>
                  <a:tcPr marL="182216" marR="182216" marT="91108" marB="911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3917719"/>
                  </a:ext>
                </a:extLst>
              </a:tr>
            </a:tbl>
          </a:graphicData>
        </a:graphic>
      </p:graphicFrame>
      <p:sp>
        <p:nvSpPr>
          <p:cNvPr id="8" name="Rectangle 1">
            <a:extLst>
              <a:ext uri="{FF2B5EF4-FFF2-40B4-BE49-F238E27FC236}">
                <a16:creationId xmlns:a16="http://schemas.microsoft.com/office/drawing/2014/main" id="{90BA0803-4E81-3E9A-CD0B-BEFEF3F5E7BE}"/>
              </a:ext>
            </a:extLst>
          </p:cNvPr>
          <p:cNvSpPr>
            <a:spLocks noChangeArrowheads="1"/>
          </p:cNvSpPr>
          <p:nvPr/>
        </p:nvSpPr>
        <p:spPr bwMode="auto">
          <a:xfrm>
            <a:off x="0" y="-461665"/>
            <a:ext cx="1847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9943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53533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5DBB55A-6002-831D-69F5-99D44C1B4B09}"/>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Toán tử thao tác bit trong Python</a:t>
            </a:r>
          </a:p>
        </p:txBody>
      </p:sp>
      <p:sp>
        <p:nvSpPr>
          <p:cNvPr id="3" name="Content Placeholder 2">
            <a:extLst>
              <a:ext uri="{FF2B5EF4-FFF2-40B4-BE49-F238E27FC236}">
                <a16:creationId xmlns:a16="http://schemas.microsoft.com/office/drawing/2014/main" id="{E1636FDC-01B1-4720-5881-DB61FBAA4BCB}"/>
              </a:ext>
            </a:extLst>
          </p:cNvPr>
          <p:cNvSpPr>
            <a:spLocks noGrp="1"/>
          </p:cNvSpPr>
          <p:nvPr>
            <p:ph idx="1"/>
          </p:nvPr>
        </p:nvSpPr>
        <p:spPr>
          <a:xfrm>
            <a:off x="492371" y="2653800"/>
            <a:ext cx="3084844" cy="3335519"/>
          </a:xfrm>
        </p:spPr>
        <p:txBody>
          <a:bodyPr>
            <a:normAutofit/>
          </a:bodyPr>
          <a:lstStyle/>
          <a:p>
            <a:pPr algn="just"/>
            <a:r>
              <a:rPr lang="vi-VN" sz="2000" b="0" i="0">
                <a:solidFill>
                  <a:srgbClr val="FFFFFF"/>
                </a:solidFill>
                <a:effectLst/>
                <a:latin typeface="+mj-lt"/>
              </a:rPr>
              <a:t>Toán tử thao tác bit làm việc trên các bit và thực hiện các hoạt động theo từng bit</a:t>
            </a:r>
            <a:r>
              <a:rPr lang="en-US" sz="2000" b="0" i="0">
                <a:solidFill>
                  <a:srgbClr val="FFFFFF"/>
                </a:solidFill>
                <a:effectLst/>
                <a:latin typeface="+mj-lt"/>
              </a:rPr>
              <a:t> bao gồm: &amp; | ^ ~ &lt;&lt; &gt;&gt;</a:t>
            </a:r>
          </a:p>
          <a:p>
            <a:pPr marL="0" indent="0" algn="just">
              <a:buNone/>
            </a:pPr>
            <a:endParaRPr lang="en-US" sz="2000">
              <a:solidFill>
                <a:srgbClr val="FFFFFF"/>
              </a:solidFill>
              <a:latin typeface="+mj-lt"/>
            </a:endParaRPr>
          </a:p>
        </p:txBody>
      </p:sp>
      <p:sp>
        <p:nvSpPr>
          <p:cNvPr id="17" name="Rectangle 16">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FA21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 name="Picture 7">
            <a:extLst>
              <a:ext uri="{FF2B5EF4-FFF2-40B4-BE49-F238E27FC236}">
                <a16:creationId xmlns:a16="http://schemas.microsoft.com/office/drawing/2014/main" id="{24A7260D-3F86-B8EF-C805-CBE085B26837}"/>
              </a:ext>
            </a:extLst>
          </p:cNvPr>
          <p:cNvPicPr>
            <a:picLocks noChangeAspect="1"/>
          </p:cNvPicPr>
          <p:nvPr/>
        </p:nvPicPr>
        <p:blipFill>
          <a:blip r:embed="rId2"/>
          <a:stretch>
            <a:fillRect/>
          </a:stretch>
        </p:blipFill>
        <p:spPr>
          <a:xfrm>
            <a:off x="5459997" y="640080"/>
            <a:ext cx="5362122" cy="5577840"/>
          </a:xfrm>
          <a:prstGeom prst="rect">
            <a:avLst/>
          </a:prstGeom>
        </p:spPr>
      </p:pic>
      <p:sp>
        <p:nvSpPr>
          <p:cNvPr id="5" name="Footer Placeholder 4">
            <a:extLst>
              <a:ext uri="{FF2B5EF4-FFF2-40B4-BE49-F238E27FC236}">
                <a16:creationId xmlns:a16="http://schemas.microsoft.com/office/drawing/2014/main" id="{E761A8B8-7CAB-C269-114A-09828ABF93F9}"/>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20C16E72-75AB-0144-8CA9-FBF51CA6D4B1}"/>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C420C6FA-E4B5-639F-5D99-6426B4351457}"/>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25</a:t>
            </a:fld>
            <a:endParaRPr lang="en-US">
              <a:solidFill>
                <a:schemeClr val="tx2"/>
              </a:solidFill>
            </a:endParaRPr>
          </a:p>
        </p:txBody>
      </p:sp>
    </p:spTree>
    <p:extLst>
      <p:ext uri="{BB962C8B-B14F-4D97-AF65-F5344CB8AC3E}">
        <p14:creationId xmlns:p14="http://schemas.microsoft.com/office/powerpoint/2010/main" val="702778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294F37D-0344-1778-953D-07AE64C8FC1C}"/>
              </a:ext>
            </a:extLst>
          </p:cNvPr>
          <p:cNvSpPr>
            <a:spLocks noGrp="1"/>
          </p:cNvSpPr>
          <p:nvPr>
            <p:ph type="title"/>
          </p:nvPr>
        </p:nvSpPr>
        <p:spPr>
          <a:xfrm>
            <a:off x="492370" y="516835"/>
            <a:ext cx="3084844" cy="2103875"/>
          </a:xfrm>
        </p:spPr>
        <p:txBody>
          <a:bodyPr>
            <a:noAutofit/>
          </a:bodyPr>
          <a:lstStyle/>
          <a:p>
            <a:r>
              <a:rPr lang="en-US" sz="4000" b="0" i="0">
                <a:solidFill>
                  <a:schemeClr val="bg1"/>
                </a:solidFill>
                <a:effectLst/>
              </a:rPr>
              <a:t>Toán tử membership trong Python</a:t>
            </a:r>
            <a:r>
              <a:rPr lang="en-US" sz="4000">
                <a:solidFill>
                  <a:schemeClr val="bg1"/>
                </a:solidFill>
              </a:rPr>
              <a:t> </a:t>
            </a:r>
          </a:p>
        </p:txBody>
      </p:sp>
      <p:sp>
        <p:nvSpPr>
          <p:cNvPr id="12" name="Content Placeholder 11">
            <a:extLst>
              <a:ext uri="{FF2B5EF4-FFF2-40B4-BE49-F238E27FC236}">
                <a16:creationId xmlns:a16="http://schemas.microsoft.com/office/drawing/2014/main" id="{0B58C6B1-D0B3-0BAC-190B-2BCE1FABC359}"/>
              </a:ext>
            </a:extLst>
          </p:cNvPr>
          <p:cNvSpPr>
            <a:spLocks noGrp="1"/>
          </p:cNvSpPr>
          <p:nvPr>
            <p:ph idx="1"/>
          </p:nvPr>
        </p:nvSpPr>
        <p:spPr>
          <a:xfrm>
            <a:off x="492371" y="2653800"/>
            <a:ext cx="3084844" cy="3335519"/>
          </a:xfrm>
        </p:spPr>
        <p:txBody>
          <a:bodyPr>
            <a:normAutofit/>
          </a:bodyPr>
          <a:lstStyle/>
          <a:p>
            <a:pPr>
              <a:buFont typeface="Wingdings" panose="05000000000000000000" pitchFamily="2" charset="2"/>
              <a:buChar char="v"/>
            </a:pPr>
            <a:r>
              <a:rPr lang="en-US" sz="2000" b="0" i="0">
                <a:solidFill>
                  <a:schemeClr val="bg1"/>
                </a:solidFill>
                <a:effectLst/>
              </a:rPr>
              <a:t>Toán tử membership trong Python kiểm tra xem biến này có nằm trong dãy (có là một trong các</a:t>
            </a:r>
            <a:br>
              <a:rPr lang="en-US" sz="2000" b="0" i="0">
                <a:solidFill>
                  <a:schemeClr val="bg1"/>
                </a:solidFill>
                <a:effectLst/>
              </a:rPr>
            </a:br>
            <a:r>
              <a:rPr lang="en-US" sz="2000" b="0" i="0">
                <a:solidFill>
                  <a:schemeClr val="bg1"/>
                </a:solidFill>
                <a:effectLst/>
              </a:rPr>
              <a:t>thành viên của dãy) hay không</a:t>
            </a:r>
            <a:r>
              <a:rPr lang="en-US" sz="2000">
                <a:solidFill>
                  <a:schemeClr val="bg1"/>
                </a:solidFill>
              </a:rPr>
              <a:t> </a:t>
            </a:r>
            <a:br>
              <a:rPr lang="en-US" sz="2000">
                <a:solidFill>
                  <a:schemeClr val="bg1"/>
                </a:solidFill>
              </a:rPr>
            </a:br>
            <a:endParaRPr lang="en-US" sz="2000">
              <a:solidFill>
                <a:schemeClr val="bg1"/>
              </a:solidFill>
            </a:endParaRPr>
          </a:p>
        </p:txBody>
      </p:sp>
      <p:sp>
        <p:nvSpPr>
          <p:cNvPr id="19" name="Rectangle 18">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Footer Placeholder 4">
            <a:extLst>
              <a:ext uri="{FF2B5EF4-FFF2-40B4-BE49-F238E27FC236}">
                <a16:creationId xmlns:a16="http://schemas.microsoft.com/office/drawing/2014/main" id="{1A94FA80-FC85-22DE-8617-02D0831037B3}"/>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E6220F21-87C3-FB97-CAB6-15A1231A39F6}"/>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52C586D1-FAF2-E417-1611-DDB10B62E85E}"/>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26</a:t>
            </a:fld>
            <a:endParaRPr lang="en-US">
              <a:solidFill>
                <a:schemeClr val="tx2"/>
              </a:solidFill>
            </a:endParaRPr>
          </a:p>
        </p:txBody>
      </p:sp>
      <p:graphicFrame>
        <p:nvGraphicFramePr>
          <p:cNvPr id="10" name="Content Placeholder 6">
            <a:extLst>
              <a:ext uri="{FF2B5EF4-FFF2-40B4-BE49-F238E27FC236}">
                <a16:creationId xmlns:a16="http://schemas.microsoft.com/office/drawing/2014/main" id="{340703E1-23DB-4086-10DC-2D471C3405CF}"/>
              </a:ext>
            </a:extLst>
          </p:cNvPr>
          <p:cNvGraphicFramePr>
            <a:graphicFrameLocks/>
          </p:cNvGraphicFramePr>
          <p:nvPr>
            <p:extLst>
              <p:ext uri="{D42A27DB-BD31-4B8C-83A1-F6EECF244321}">
                <p14:modId xmlns:p14="http://schemas.microsoft.com/office/powerpoint/2010/main" val="4247539112"/>
              </p:ext>
            </p:extLst>
          </p:nvPr>
        </p:nvGraphicFramePr>
        <p:xfrm>
          <a:off x="4566935" y="312887"/>
          <a:ext cx="6798083" cy="2736948"/>
        </p:xfrm>
        <a:graphic>
          <a:graphicData uri="http://schemas.openxmlformats.org/drawingml/2006/table">
            <a:tbl>
              <a:tblPr firstRow="1" firstCol="1" bandRow="1"/>
              <a:tblGrid>
                <a:gridCol w="1223267">
                  <a:extLst>
                    <a:ext uri="{9D8B030D-6E8A-4147-A177-3AD203B41FA5}">
                      <a16:colId xmlns:a16="http://schemas.microsoft.com/office/drawing/2014/main" val="1232732186"/>
                    </a:ext>
                  </a:extLst>
                </a:gridCol>
                <a:gridCol w="5574816">
                  <a:extLst>
                    <a:ext uri="{9D8B030D-6E8A-4147-A177-3AD203B41FA5}">
                      <a16:colId xmlns:a16="http://schemas.microsoft.com/office/drawing/2014/main" val="2473179960"/>
                    </a:ext>
                  </a:extLst>
                </a:gridCol>
              </a:tblGrid>
              <a:tr h="912316">
                <a:tc>
                  <a:txBody>
                    <a:bodyPr/>
                    <a:lstStyle/>
                    <a:p>
                      <a:pPr algn="l" fontAlgn="ctr">
                        <a:lnSpc>
                          <a:spcPct val="115000"/>
                        </a:lnSpc>
                        <a:spcBef>
                          <a:spcPts val="0"/>
                        </a:spcBef>
                        <a:spcAft>
                          <a:spcPts val="800"/>
                        </a:spcAft>
                      </a:pPr>
                      <a:r>
                        <a:rPr lang="en-US" sz="2300" b="1" i="0" u="none" strike="noStrike">
                          <a:solidFill>
                            <a:srgbClr val="313131"/>
                          </a:solidFill>
                          <a:effectLst/>
                          <a:latin typeface="Arial" panose="020B0604020202020204" pitchFamily="34" charset="0"/>
                          <a:ea typeface="Times New Roman" panose="02020603050405020304" pitchFamily="18" charset="0"/>
                          <a:cs typeface="Times New Roman" panose="02020603050405020304" pitchFamily="18" charset="0"/>
                        </a:rPr>
                        <a:t>Toán</a:t>
                      </a:r>
                      <a:br>
                        <a:rPr lang="en-US" sz="2300" b="1" i="0" u="none" strike="noStrike">
                          <a:solidFill>
                            <a:srgbClr val="313131"/>
                          </a:solidFill>
                          <a:effectLst/>
                          <a:latin typeface="Arial" panose="020B0604020202020204" pitchFamily="34" charset="0"/>
                          <a:ea typeface="Times New Roman" panose="02020603050405020304" pitchFamily="18" charset="0"/>
                          <a:cs typeface="Times New Roman" panose="02020603050405020304" pitchFamily="18" charset="0"/>
                        </a:rPr>
                      </a:br>
                      <a:r>
                        <a:rPr lang="en-US" sz="2300" b="1" i="0" u="none" strike="noStrike">
                          <a:solidFill>
                            <a:srgbClr val="313131"/>
                          </a:solidFill>
                          <a:effectLst/>
                          <a:latin typeface="Arial" panose="020B0604020202020204" pitchFamily="34" charset="0"/>
                          <a:ea typeface="Times New Roman" panose="02020603050405020304" pitchFamily="18" charset="0"/>
                          <a:cs typeface="Times New Roman" panose="02020603050405020304" pitchFamily="18" charset="0"/>
                        </a:rPr>
                        <a:t>tử</a:t>
                      </a:r>
                      <a:endParaRPr lang="en-US" sz="3800" b="0" i="0" u="none" strike="noStrike">
                        <a:effectLst/>
                        <a:latin typeface="Arial" panose="020B0604020202020204" pitchFamily="34" charset="0"/>
                      </a:endParaRPr>
                    </a:p>
                  </a:txBody>
                  <a:tcPr marL="144940" marR="144940" marT="2013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lnSpc>
                          <a:spcPct val="115000"/>
                        </a:lnSpc>
                        <a:spcBef>
                          <a:spcPts val="0"/>
                        </a:spcBef>
                        <a:spcAft>
                          <a:spcPts val="800"/>
                        </a:spcAft>
                      </a:pPr>
                      <a:r>
                        <a:rPr lang="en-US" sz="2300" b="1" i="0" u="none" strike="noStrike">
                          <a:solidFill>
                            <a:srgbClr val="313131"/>
                          </a:solidFill>
                          <a:effectLst/>
                          <a:latin typeface="Arial" panose="020B0604020202020204" pitchFamily="34" charset="0"/>
                          <a:ea typeface="Times New Roman" panose="02020603050405020304" pitchFamily="18" charset="0"/>
                          <a:cs typeface="Times New Roman" panose="02020603050405020304" pitchFamily="18" charset="0"/>
                        </a:rPr>
                        <a:t>Miêu tả</a:t>
                      </a:r>
                      <a:endParaRPr lang="en-US" sz="3800" b="0" i="0" u="none" strike="noStrike">
                        <a:effectLst/>
                        <a:latin typeface="Arial" panose="020B0604020202020204" pitchFamily="34" charset="0"/>
                      </a:endParaRPr>
                    </a:p>
                  </a:txBody>
                  <a:tcPr marL="144940" marR="144940" marT="2013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1388483"/>
                  </a:ext>
                </a:extLst>
              </a:tr>
              <a:tr h="912316">
                <a:tc>
                  <a:txBody>
                    <a:bodyPr/>
                    <a:lstStyle/>
                    <a:p>
                      <a:pPr algn="l" fontAlgn="ctr">
                        <a:lnSpc>
                          <a:spcPct val="115000"/>
                        </a:lnSpc>
                        <a:spcBef>
                          <a:spcPts val="0"/>
                        </a:spcBef>
                        <a:spcAft>
                          <a:spcPts val="800"/>
                        </a:spcAft>
                      </a:pPr>
                      <a:r>
                        <a:rPr lang="en-US" sz="2300" b="0" i="0" u="none" strike="noStrike">
                          <a:solidFill>
                            <a:srgbClr val="313131"/>
                          </a:solidFill>
                          <a:effectLst/>
                          <a:latin typeface="Arial" panose="020B0604020202020204" pitchFamily="34" charset="0"/>
                          <a:ea typeface="Times New Roman" panose="02020603050405020304" pitchFamily="18" charset="0"/>
                          <a:cs typeface="Times New Roman" panose="02020603050405020304" pitchFamily="18" charset="0"/>
                        </a:rPr>
                        <a:t>in </a:t>
                      </a:r>
                      <a:endParaRPr lang="en-US" sz="3800" b="0" i="0" u="none" strike="noStrike">
                        <a:effectLst/>
                        <a:latin typeface="Arial" panose="020B0604020202020204" pitchFamily="34" charset="0"/>
                      </a:endParaRPr>
                    </a:p>
                  </a:txBody>
                  <a:tcPr marL="144940" marR="144940" marT="2013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lnSpc>
                          <a:spcPct val="115000"/>
                        </a:lnSpc>
                        <a:spcBef>
                          <a:spcPts val="0"/>
                        </a:spcBef>
                        <a:spcAft>
                          <a:spcPts val="800"/>
                        </a:spcAft>
                      </a:pPr>
                      <a:r>
                        <a:rPr lang="en-US" sz="2300" b="0" i="0" u="none" strike="noStrike">
                          <a:solidFill>
                            <a:srgbClr val="313131"/>
                          </a:solidFill>
                          <a:effectLst/>
                          <a:latin typeface="Arial" panose="020B0604020202020204" pitchFamily="34" charset="0"/>
                          <a:ea typeface="Times New Roman" panose="02020603050405020304" pitchFamily="18" charset="0"/>
                          <a:cs typeface="Times New Roman" panose="02020603050405020304" pitchFamily="18" charset="0"/>
                        </a:rPr>
                        <a:t>Trả về true nếu một biến là nằm trong dãy các biến, nếu không là false</a:t>
                      </a:r>
                      <a:endParaRPr lang="en-US" sz="3800" b="0" i="0" u="none" strike="noStrike">
                        <a:effectLst/>
                        <a:latin typeface="Arial" panose="020B0604020202020204" pitchFamily="34" charset="0"/>
                      </a:endParaRPr>
                    </a:p>
                  </a:txBody>
                  <a:tcPr marL="144940" marR="144940" marT="2013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6952506"/>
                  </a:ext>
                </a:extLst>
              </a:tr>
              <a:tr h="912316">
                <a:tc>
                  <a:txBody>
                    <a:bodyPr/>
                    <a:lstStyle/>
                    <a:p>
                      <a:pPr algn="l" fontAlgn="ctr">
                        <a:lnSpc>
                          <a:spcPct val="115000"/>
                        </a:lnSpc>
                        <a:spcBef>
                          <a:spcPts val="0"/>
                        </a:spcBef>
                        <a:spcAft>
                          <a:spcPts val="800"/>
                        </a:spcAft>
                      </a:pPr>
                      <a:r>
                        <a:rPr lang="en-US" sz="2300" b="0" i="0" u="none" strike="noStrike">
                          <a:solidFill>
                            <a:srgbClr val="313131"/>
                          </a:solidFill>
                          <a:effectLst/>
                          <a:latin typeface="Arial" panose="020B0604020202020204" pitchFamily="34" charset="0"/>
                          <a:ea typeface="Times New Roman" panose="02020603050405020304" pitchFamily="18" charset="0"/>
                          <a:cs typeface="Times New Roman" panose="02020603050405020304" pitchFamily="18" charset="0"/>
                        </a:rPr>
                        <a:t>not in </a:t>
                      </a:r>
                      <a:endParaRPr lang="en-US" sz="3800" b="0" i="0" u="none" strike="noStrike">
                        <a:effectLst/>
                        <a:latin typeface="Arial" panose="020B0604020202020204" pitchFamily="34" charset="0"/>
                      </a:endParaRPr>
                    </a:p>
                  </a:txBody>
                  <a:tcPr marL="144940" marR="144940" marT="2013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lnSpc>
                          <a:spcPct val="115000"/>
                        </a:lnSpc>
                        <a:spcBef>
                          <a:spcPts val="0"/>
                        </a:spcBef>
                        <a:spcAft>
                          <a:spcPts val="800"/>
                        </a:spcAft>
                      </a:pPr>
                      <a:r>
                        <a:rPr lang="en-US" sz="2300" b="0" i="0" u="none" strike="noStrike">
                          <a:solidFill>
                            <a:srgbClr val="313131"/>
                          </a:solidFill>
                          <a:effectLst/>
                          <a:latin typeface="Arial" panose="020B0604020202020204" pitchFamily="34" charset="0"/>
                          <a:ea typeface="Times New Roman" panose="02020603050405020304" pitchFamily="18" charset="0"/>
                          <a:cs typeface="Times New Roman" panose="02020603050405020304" pitchFamily="18" charset="0"/>
                        </a:rPr>
                        <a:t>Trả về true nếu một biến là không nằm trong dãy các biến, nếu không là false</a:t>
                      </a:r>
                      <a:endParaRPr lang="en-US" sz="3800" b="0" i="0" u="none" strike="noStrike">
                        <a:effectLst/>
                        <a:latin typeface="Arial" panose="020B0604020202020204" pitchFamily="34" charset="0"/>
                      </a:endParaRPr>
                    </a:p>
                  </a:txBody>
                  <a:tcPr marL="144940" marR="144940" marT="2013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2063431"/>
                  </a:ext>
                </a:extLst>
              </a:tr>
            </a:tbl>
          </a:graphicData>
        </a:graphic>
      </p:graphicFrame>
      <p:pic>
        <p:nvPicPr>
          <p:cNvPr id="13" name="Picture 12">
            <a:extLst>
              <a:ext uri="{FF2B5EF4-FFF2-40B4-BE49-F238E27FC236}">
                <a16:creationId xmlns:a16="http://schemas.microsoft.com/office/drawing/2014/main" id="{40136CEC-6396-2AA7-42E8-59390E667126}"/>
              </a:ext>
            </a:extLst>
          </p:cNvPr>
          <p:cNvPicPr>
            <a:picLocks noChangeAspect="1"/>
          </p:cNvPicPr>
          <p:nvPr/>
        </p:nvPicPr>
        <p:blipFill>
          <a:blip r:embed="rId2"/>
          <a:stretch>
            <a:fillRect/>
          </a:stretch>
        </p:blipFill>
        <p:spPr>
          <a:xfrm>
            <a:off x="4604060" y="3152774"/>
            <a:ext cx="5296397" cy="3618331"/>
          </a:xfrm>
          <a:prstGeom prst="rect">
            <a:avLst/>
          </a:prstGeom>
        </p:spPr>
      </p:pic>
    </p:spTree>
    <p:extLst>
      <p:ext uri="{BB962C8B-B14F-4D97-AF65-F5344CB8AC3E}">
        <p14:creationId xmlns:p14="http://schemas.microsoft.com/office/powerpoint/2010/main" val="4032008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3C4F5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294F37D-0344-1778-953D-07AE64C8FC1C}"/>
              </a:ext>
            </a:extLst>
          </p:cNvPr>
          <p:cNvSpPr>
            <a:spLocks noGrp="1"/>
          </p:cNvSpPr>
          <p:nvPr>
            <p:ph type="title"/>
          </p:nvPr>
        </p:nvSpPr>
        <p:spPr>
          <a:xfrm>
            <a:off x="492370" y="516835"/>
            <a:ext cx="3084844" cy="2103875"/>
          </a:xfrm>
        </p:spPr>
        <p:txBody>
          <a:bodyPr>
            <a:normAutofit/>
          </a:bodyPr>
          <a:lstStyle/>
          <a:p>
            <a:r>
              <a:rPr lang="en-US" sz="3600" b="0" i="0">
                <a:solidFill>
                  <a:srgbClr val="FFFFFF"/>
                </a:solidFill>
                <a:effectLst/>
              </a:rPr>
              <a:t>Toán tử identify trong Python</a:t>
            </a:r>
            <a:r>
              <a:rPr lang="en-US" sz="3600">
                <a:solidFill>
                  <a:srgbClr val="FFFFFF"/>
                </a:solidFill>
              </a:rPr>
              <a:t> </a:t>
            </a:r>
          </a:p>
        </p:txBody>
      </p:sp>
      <p:sp>
        <p:nvSpPr>
          <p:cNvPr id="9" name="Content Placeholder 8">
            <a:extLst>
              <a:ext uri="{FF2B5EF4-FFF2-40B4-BE49-F238E27FC236}">
                <a16:creationId xmlns:a16="http://schemas.microsoft.com/office/drawing/2014/main" id="{E6DF3DCE-37FD-F049-506B-9DE08AA8D922}"/>
              </a:ext>
            </a:extLst>
          </p:cNvPr>
          <p:cNvSpPr>
            <a:spLocks noGrp="1"/>
          </p:cNvSpPr>
          <p:nvPr>
            <p:ph idx="1"/>
          </p:nvPr>
        </p:nvSpPr>
        <p:spPr>
          <a:xfrm>
            <a:off x="492371" y="2653800"/>
            <a:ext cx="3084844" cy="3335519"/>
          </a:xfrm>
        </p:spPr>
        <p:txBody>
          <a:bodyPr>
            <a:normAutofit/>
          </a:bodyPr>
          <a:lstStyle/>
          <a:p>
            <a:r>
              <a:rPr lang="en-US" sz="2000">
                <a:solidFill>
                  <a:srgbClr val="FFFFFF"/>
                </a:solidFill>
              </a:rPr>
              <a:t>is</a:t>
            </a:r>
          </a:p>
          <a:p>
            <a:r>
              <a:rPr lang="en-US" sz="2000">
                <a:solidFill>
                  <a:srgbClr val="FFFFFF"/>
                </a:solidFill>
              </a:rPr>
              <a:t>is not</a:t>
            </a:r>
          </a:p>
        </p:txBody>
      </p:sp>
      <p:sp>
        <p:nvSpPr>
          <p:cNvPr id="30" name="Rectangle 29">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E8F005"/>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descr="A black screen with green text&#10;&#10;Description automatically generated">
            <a:extLst>
              <a:ext uri="{FF2B5EF4-FFF2-40B4-BE49-F238E27FC236}">
                <a16:creationId xmlns:a16="http://schemas.microsoft.com/office/drawing/2014/main" id="{54F31169-E6DA-EF13-EEFD-91ABA5689C45}"/>
              </a:ext>
            </a:extLst>
          </p:cNvPr>
          <p:cNvPicPr>
            <a:picLocks noChangeAspect="1"/>
          </p:cNvPicPr>
          <p:nvPr/>
        </p:nvPicPr>
        <p:blipFill>
          <a:blip r:embed="rId2"/>
          <a:stretch>
            <a:fillRect/>
          </a:stretch>
        </p:blipFill>
        <p:spPr>
          <a:xfrm>
            <a:off x="4742017" y="2128867"/>
            <a:ext cx="6798082" cy="2600265"/>
          </a:xfrm>
          <a:prstGeom prst="rect">
            <a:avLst/>
          </a:prstGeom>
        </p:spPr>
      </p:pic>
      <p:sp>
        <p:nvSpPr>
          <p:cNvPr id="5" name="Footer Placeholder 4">
            <a:extLst>
              <a:ext uri="{FF2B5EF4-FFF2-40B4-BE49-F238E27FC236}">
                <a16:creationId xmlns:a16="http://schemas.microsoft.com/office/drawing/2014/main" id="{1A94FA80-FC85-22DE-8617-02D0831037B3}"/>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E6220F21-87C3-FB97-CAB6-15A1231A39F6}"/>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52C586D1-FAF2-E417-1611-DDB10B62E85E}"/>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27</a:t>
            </a:fld>
            <a:endParaRPr lang="en-US">
              <a:solidFill>
                <a:schemeClr val="tx2"/>
              </a:solidFill>
            </a:endParaRPr>
          </a:p>
        </p:txBody>
      </p:sp>
    </p:spTree>
    <p:extLst>
      <p:ext uri="{BB962C8B-B14F-4D97-AF65-F5344CB8AC3E}">
        <p14:creationId xmlns:p14="http://schemas.microsoft.com/office/powerpoint/2010/main" val="3498612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294F37D-0344-1778-953D-07AE64C8FC1C}"/>
              </a:ext>
            </a:extLst>
          </p:cNvPr>
          <p:cNvSpPr>
            <a:spLocks noGrp="1"/>
          </p:cNvSpPr>
          <p:nvPr>
            <p:ph type="title"/>
          </p:nvPr>
        </p:nvSpPr>
        <p:spPr>
          <a:xfrm>
            <a:off x="492370" y="516835"/>
            <a:ext cx="3084844" cy="2103875"/>
          </a:xfrm>
        </p:spPr>
        <p:txBody>
          <a:bodyPr>
            <a:normAutofit/>
          </a:bodyPr>
          <a:lstStyle/>
          <a:p>
            <a:r>
              <a:rPr lang="en-US" sz="3600" b="0" i="0">
                <a:solidFill>
                  <a:srgbClr val="FFFFFF"/>
                </a:solidFill>
                <a:effectLst/>
              </a:rPr>
              <a:t>Thứ tự ưu tiên của các toán tử trong Python</a:t>
            </a:r>
            <a:endParaRPr lang="en-US" sz="3600">
              <a:solidFill>
                <a:srgbClr val="FFFFFF"/>
              </a:solidFill>
            </a:endParaRPr>
          </a:p>
        </p:txBody>
      </p:sp>
      <p:sp>
        <p:nvSpPr>
          <p:cNvPr id="22" name="Content Placeholder 10">
            <a:extLst>
              <a:ext uri="{FF2B5EF4-FFF2-40B4-BE49-F238E27FC236}">
                <a16:creationId xmlns:a16="http://schemas.microsoft.com/office/drawing/2014/main" id="{19C3B4C3-A7A3-1685-2660-8D1779751964}"/>
              </a:ext>
            </a:extLst>
          </p:cNvPr>
          <p:cNvSpPr>
            <a:spLocks noGrp="1"/>
          </p:cNvSpPr>
          <p:nvPr>
            <p:ph idx="1"/>
          </p:nvPr>
        </p:nvSpPr>
        <p:spPr>
          <a:xfrm>
            <a:off x="492371" y="2653800"/>
            <a:ext cx="3084844" cy="3335519"/>
          </a:xfrm>
        </p:spPr>
        <p:txBody>
          <a:bodyPr>
            <a:normAutofit/>
          </a:bodyPr>
          <a:lstStyle/>
          <a:p>
            <a:endParaRPr lang="en-US" sz="1500">
              <a:solidFill>
                <a:srgbClr val="FFFFFF"/>
              </a:solidFill>
            </a:endParaRPr>
          </a:p>
        </p:txBody>
      </p:sp>
      <p:sp>
        <p:nvSpPr>
          <p:cNvPr id="23" name="Rectangle 22">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Footer Placeholder 4">
            <a:extLst>
              <a:ext uri="{FF2B5EF4-FFF2-40B4-BE49-F238E27FC236}">
                <a16:creationId xmlns:a16="http://schemas.microsoft.com/office/drawing/2014/main" id="{1A94FA80-FC85-22DE-8617-02D0831037B3}"/>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E6220F21-87C3-FB97-CAB6-15A1231A39F6}"/>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52C586D1-FAF2-E417-1611-DDB10B62E85E}"/>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28</a:t>
            </a:fld>
            <a:endParaRPr lang="en-US">
              <a:solidFill>
                <a:schemeClr val="tx2"/>
              </a:solidFill>
            </a:endParaRPr>
          </a:p>
        </p:txBody>
      </p:sp>
      <p:graphicFrame>
        <p:nvGraphicFramePr>
          <p:cNvPr id="24" name="Content Placeholder 2">
            <a:extLst>
              <a:ext uri="{FF2B5EF4-FFF2-40B4-BE49-F238E27FC236}">
                <a16:creationId xmlns:a16="http://schemas.microsoft.com/office/drawing/2014/main" id="{F8A57B10-DB83-5067-98BA-55C15AB51190}"/>
              </a:ext>
            </a:extLst>
          </p:cNvPr>
          <p:cNvGraphicFramePr>
            <a:graphicFrameLocks/>
          </p:cNvGraphicFramePr>
          <p:nvPr>
            <p:extLst>
              <p:ext uri="{D42A27DB-BD31-4B8C-83A1-F6EECF244321}">
                <p14:modId xmlns:p14="http://schemas.microsoft.com/office/powerpoint/2010/main" val="3391726278"/>
              </p:ext>
            </p:extLst>
          </p:nvPr>
        </p:nvGraphicFramePr>
        <p:xfrm>
          <a:off x="4742017" y="659823"/>
          <a:ext cx="6798083" cy="5538361"/>
        </p:xfrm>
        <a:graphic>
          <a:graphicData uri="http://schemas.openxmlformats.org/drawingml/2006/table">
            <a:tbl>
              <a:tblPr firstRow="1" firstCol="1" bandRow="1">
                <a:tableStyleId>{5C22544A-7EE6-4342-B048-85BDC9FD1C3A}</a:tableStyleId>
              </a:tblPr>
              <a:tblGrid>
                <a:gridCol w="1843605">
                  <a:extLst>
                    <a:ext uri="{9D8B030D-6E8A-4147-A177-3AD203B41FA5}">
                      <a16:colId xmlns:a16="http://schemas.microsoft.com/office/drawing/2014/main" val="3145755901"/>
                    </a:ext>
                  </a:extLst>
                </a:gridCol>
                <a:gridCol w="4954478">
                  <a:extLst>
                    <a:ext uri="{9D8B030D-6E8A-4147-A177-3AD203B41FA5}">
                      <a16:colId xmlns:a16="http://schemas.microsoft.com/office/drawing/2014/main" val="2603910967"/>
                    </a:ext>
                  </a:extLst>
                </a:gridCol>
              </a:tblGrid>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Toán tử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Miêu tả</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2584179832"/>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Toán tử mũ</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1676555062"/>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 + -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Phần bù; phép cộng và trừ một ngôi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1870966335"/>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 / % //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Phép nhân, chia, lấy phần dư và phép chia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2436511122"/>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 -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Phép cộng và phép trừ</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3056353126"/>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&gt;&gt; &lt;&lt;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Dịch bit phải và dịch bit trái</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652774262"/>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&amp;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Phép Và Bit</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1132552588"/>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 |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Phép XOR và OR</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737910674"/>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&lt;= &lt; &gt; &gt;=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Các toán tử so sánh</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2596571271"/>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 !=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Các toán tử so sánh bằng</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208616011"/>
                  </a:ext>
                </a:extLst>
              </a:tr>
              <a:tr h="971695">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 %= /= //= -= += *=</a:t>
                      </a:r>
                      <a:br>
                        <a:rPr lang="en-US" sz="1800" kern="0">
                          <a:effectLst/>
                          <a:latin typeface="Times New Roman" panose="02020603050405020304" pitchFamily="18" charset="0"/>
                          <a:cs typeface="Times New Roman" panose="02020603050405020304" pitchFamily="18" charset="0"/>
                        </a:rPr>
                      </a:br>
                      <a:r>
                        <a:rPr lang="en-US" sz="1800" kern="0">
                          <a:effectLst/>
                          <a:latin typeface="Times New Roman" panose="02020603050405020304" pitchFamily="18" charset="0"/>
                          <a:cs typeface="Times New Roman" panose="02020603050405020304" pitchFamily="18" charset="0"/>
                        </a:rPr>
                        <a:t>**=</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Các toán tử gán</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2821259070"/>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is is not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Các toán tử Identity</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1688035445"/>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in not in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Các toán tử Membership</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462242384"/>
                  </a:ext>
                </a:extLst>
              </a:tr>
              <a:tr h="351282">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not or and </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tc>
                  <a:txBody>
                    <a:bodyPr/>
                    <a:lstStyle/>
                    <a:p>
                      <a:pPr>
                        <a:lnSpc>
                          <a:spcPct val="115000"/>
                        </a:lnSpc>
                        <a:spcAft>
                          <a:spcPts val="800"/>
                        </a:spcAft>
                      </a:pPr>
                      <a:r>
                        <a:rPr lang="en-US" sz="1800" kern="0">
                          <a:effectLst/>
                          <a:latin typeface="Times New Roman" panose="02020603050405020304" pitchFamily="18" charset="0"/>
                          <a:cs typeface="Times New Roman" panose="02020603050405020304" pitchFamily="18" charset="0"/>
                        </a:rPr>
                        <a:t>Các toán tử logic</a:t>
                      </a:r>
                      <a:endParaRPr lang="en-US" sz="11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1022" marR="61022" marT="0" marB="0" anchor="ctr"/>
                </a:tc>
                <a:extLst>
                  <a:ext uri="{0D108BD9-81ED-4DB2-BD59-A6C34878D82A}">
                    <a16:rowId xmlns:a16="http://schemas.microsoft.com/office/drawing/2014/main" val="1358119948"/>
                  </a:ext>
                </a:extLst>
              </a:tr>
            </a:tbl>
          </a:graphicData>
        </a:graphic>
      </p:graphicFrame>
    </p:spTree>
    <p:extLst>
      <p:ext uri="{BB962C8B-B14F-4D97-AF65-F5344CB8AC3E}">
        <p14:creationId xmlns:p14="http://schemas.microsoft.com/office/powerpoint/2010/main" val="30664698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61283-D55F-4739-5793-F96B7DA14010}"/>
              </a:ext>
            </a:extLst>
          </p:cNvPr>
          <p:cNvSpPr>
            <a:spLocks noGrp="1"/>
          </p:cNvSpPr>
          <p:nvPr>
            <p:ph type="title"/>
          </p:nvPr>
        </p:nvSpPr>
        <p:spPr/>
        <p:txBody>
          <a:bodyPr/>
          <a:lstStyle/>
          <a:p>
            <a:pPr algn="ctr"/>
            <a:r>
              <a:rPr lang="en-US"/>
              <a:t>Nhập, xuất trong Python</a:t>
            </a:r>
          </a:p>
        </p:txBody>
      </p:sp>
      <p:sp>
        <p:nvSpPr>
          <p:cNvPr id="3" name="Content Placeholder 2">
            <a:extLst>
              <a:ext uri="{FF2B5EF4-FFF2-40B4-BE49-F238E27FC236}">
                <a16:creationId xmlns:a16="http://schemas.microsoft.com/office/drawing/2014/main" id="{4C502537-1486-D80A-A263-93D45338A00A}"/>
              </a:ext>
            </a:extLst>
          </p:cNvPr>
          <p:cNvSpPr>
            <a:spLocks noGrp="1"/>
          </p:cNvSpPr>
          <p:nvPr>
            <p:ph idx="1"/>
          </p:nvPr>
        </p:nvSpPr>
        <p:spPr/>
        <p:txBody>
          <a:bodyPr>
            <a:noAutofit/>
          </a:bodyPr>
          <a:lstStyle/>
          <a:p>
            <a:pPr>
              <a:lnSpc>
                <a:spcPct val="100000"/>
              </a:lnSpc>
              <a:buFont typeface="Wingdings" panose="05000000000000000000" pitchFamily="2" charset="2"/>
              <a:buChar char="v"/>
            </a:pPr>
            <a:r>
              <a:rPr lang="en-US" b="1" i="0">
                <a:solidFill>
                  <a:schemeClr val="tx1"/>
                </a:solidFill>
                <a:effectLst/>
              </a:rPr>
              <a:t>Hàm print()</a:t>
            </a:r>
            <a:br>
              <a:rPr lang="en-US" b="1" i="0">
                <a:solidFill>
                  <a:schemeClr val="tx1"/>
                </a:solidFill>
                <a:effectLst/>
              </a:rPr>
            </a:br>
            <a:r>
              <a:rPr lang="en-US" b="0" i="0">
                <a:solidFill>
                  <a:schemeClr val="tx1"/>
                </a:solidFill>
                <a:effectLst/>
              </a:rPr>
              <a:t>Để in một xâu </a:t>
            </a:r>
            <a:r>
              <a:rPr lang="en-US" b="0" i="1">
                <a:solidFill>
                  <a:schemeClr val="tx1"/>
                </a:solidFill>
                <a:effectLst/>
              </a:rPr>
              <a:t>string </a:t>
            </a:r>
            <a:r>
              <a:rPr lang="en-US" b="0" i="0">
                <a:solidFill>
                  <a:schemeClr val="tx1"/>
                </a:solidFill>
                <a:effectLst/>
              </a:rPr>
              <a:t>ra màn hình.</a:t>
            </a:r>
          </a:p>
          <a:p>
            <a:pPr marL="0" indent="0">
              <a:lnSpc>
                <a:spcPct val="100000"/>
              </a:lnSpc>
              <a:buNone/>
            </a:pPr>
            <a:r>
              <a:rPr lang="vi-VN" b="1">
                <a:solidFill>
                  <a:schemeClr val="tx1"/>
                </a:solidFill>
              </a:rPr>
              <a:t>print(*objects, sep=' ', end='\n', file=sys.stdout, flush=False)</a:t>
            </a:r>
          </a:p>
          <a:p>
            <a:pPr lvl="1">
              <a:lnSpc>
                <a:spcPct val="100000"/>
              </a:lnSpc>
              <a:buFont typeface="Courier New" panose="02070309020205020404" pitchFamily="49" charset="0"/>
              <a:buChar char="o"/>
            </a:pPr>
            <a:r>
              <a:rPr lang="vi-VN">
                <a:solidFill>
                  <a:schemeClr val="tx1"/>
                </a:solidFill>
              </a:rPr>
              <a:t>objects: đối tượng được in, có thể có nhiều đối tượng. Sẽ được chuyển đổi thành chuỗi trước khi hiển thị ra màn hình.</a:t>
            </a:r>
          </a:p>
          <a:p>
            <a:pPr lvl="1">
              <a:lnSpc>
                <a:spcPct val="100000"/>
              </a:lnSpc>
              <a:buFont typeface="Courier New" panose="02070309020205020404" pitchFamily="49" charset="0"/>
              <a:buChar char="o"/>
            </a:pPr>
            <a:r>
              <a:rPr lang="vi-VN">
                <a:solidFill>
                  <a:schemeClr val="tx1"/>
                </a:solidFill>
              </a:rPr>
              <a:t>sep: cách tách riêng các đối tượng, giá trị mặc định là một khoảng trắng .</a:t>
            </a:r>
          </a:p>
          <a:p>
            <a:pPr lvl="1">
              <a:lnSpc>
                <a:spcPct val="100000"/>
              </a:lnSpc>
              <a:buFont typeface="Courier New" panose="02070309020205020404" pitchFamily="49" charset="0"/>
              <a:buChar char="o"/>
            </a:pPr>
            <a:r>
              <a:rPr lang="vi-VN">
                <a:solidFill>
                  <a:schemeClr val="tx1"/>
                </a:solidFill>
              </a:rPr>
              <a:t>end: giá trị cuối cùng được in ra màn hình</a:t>
            </a:r>
            <a:r>
              <a:rPr lang="en-US">
                <a:solidFill>
                  <a:schemeClr val="tx1"/>
                </a:solidFill>
              </a:rPr>
              <a:t>, mặc định là xuống dòng.</a:t>
            </a:r>
            <a:endParaRPr lang="vi-VN">
              <a:solidFill>
                <a:schemeClr val="tx1"/>
              </a:solidFill>
            </a:endParaRPr>
          </a:p>
          <a:p>
            <a:pPr lvl="1">
              <a:lnSpc>
                <a:spcPct val="100000"/>
              </a:lnSpc>
              <a:buFont typeface="Courier New" panose="02070309020205020404" pitchFamily="49" charset="0"/>
              <a:buChar char="o"/>
            </a:pPr>
            <a:r>
              <a:rPr lang="vi-VN">
                <a:solidFill>
                  <a:schemeClr val="tx1"/>
                </a:solidFill>
              </a:rPr>
              <a:t>file: mặc định hàm print sẽ ghi nội dung vào file sys.stdout.</a:t>
            </a:r>
          </a:p>
          <a:p>
            <a:pPr lvl="1">
              <a:lnSpc>
                <a:spcPct val="100000"/>
              </a:lnSpc>
              <a:buFont typeface="Courier New" panose="02070309020205020404" pitchFamily="49" charset="0"/>
              <a:buChar char="o"/>
            </a:pPr>
            <a:r>
              <a:rPr lang="vi-VN">
                <a:solidFill>
                  <a:schemeClr val="tx1"/>
                </a:solidFill>
              </a:rPr>
              <a:t>flush: giá trị mặc định giá trị là False</a:t>
            </a:r>
            <a:r>
              <a:rPr lang="en-US">
                <a:solidFill>
                  <a:schemeClr val="tx1"/>
                </a:solidFill>
              </a:rPr>
              <a:t>(cho vào buffer chờ đến khi đầy hoặc có hành động khác mới in ra), True: in ra ngay lập tức.</a:t>
            </a:r>
            <a:br>
              <a:rPr lang="en-US">
                <a:solidFill>
                  <a:schemeClr val="tx1"/>
                </a:solidFill>
              </a:rPr>
            </a:br>
            <a:endParaRPr lang="en-US">
              <a:solidFill>
                <a:schemeClr val="tx1"/>
              </a:solidFill>
            </a:endParaRPr>
          </a:p>
        </p:txBody>
      </p:sp>
      <p:sp>
        <p:nvSpPr>
          <p:cNvPr id="4" name="Date Placeholder 3">
            <a:extLst>
              <a:ext uri="{FF2B5EF4-FFF2-40B4-BE49-F238E27FC236}">
                <a16:creationId xmlns:a16="http://schemas.microsoft.com/office/drawing/2014/main" id="{A13A1CF3-584A-904B-205F-A141DF7C00A8}"/>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FBC8A93E-0EE3-E2DA-24EE-100FD888B368}"/>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2FBF461E-4092-3C8B-C26C-B46E8BC42D47}"/>
              </a:ext>
            </a:extLst>
          </p:cNvPr>
          <p:cNvSpPr>
            <a:spLocks noGrp="1"/>
          </p:cNvSpPr>
          <p:nvPr>
            <p:ph type="sldNum" sz="quarter" idx="12"/>
          </p:nvPr>
        </p:nvSpPr>
        <p:spPr/>
        <p:txBody>
          <a:bodyPr/>
          <a:lstStyle/>
          <a:p>
            <a:fld id="{D3060201-1C40-4B39-813D-5CD9493BAEED}" type="slidenum">
              <a:rPr lang="en-US" smtClean="0"/>
              <a:t>29</a:t>
            </a:fld>
            <a:endParaRPr lang="en-US"/>
          </a:p>
        </p:txBody>
      </p:sp>
    </p:spTree>
    <p:extLst>
      <p:ext uri="{BB962C8B-B14F-4D97-AF65-F5344CB8AC3E}">
        <p14:creationId xmlns:p14="http://schemas.microsoft.com/office/powerpoint/2010/main" val="70623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FE6CA-EC0C-A25E-BF62-306D665C987B}"/>
              </a:ext>
            </a:extLst>
          </p:cNvPr>
          <p:cNvSpPr>
            <a:spLocks noGrp="1"/>
          </p:cNvSpPr>
          <p:nvPr>
            <p:ph type="title"/>
          </p:nvPr>
        </p:nvSpPr>
        <p:spPr/>
        <p:txBody>
          <a:bodyPr/>
          <a:lstStyle/>
          <a:p>
            <a:pPr algn="ctr"/>
            <a:r>
              <a:rPr lang="en-US"/>
              <a:t>Nhập, xuất trong Python</a:t>
            </a:r>
          </a:p>
        </p:txBody>
      </p:sp>
      <p:sp>
        <p:nvSpPr>
          <p:cNvPr id="3" name="Content Placeholder 2">
            <a:extLst>
              <a:ext uri="{FF2B5EF4-FFF2-40B4-BE49-F238E27FC236}">
                <a16:creationId xmlns:a16="http://schemas.microsoft.com/office/drawing/2014/main" id="{9B966710-F441-1BD7-7B19-ADAD8D9C9C45}"/>
              </a:ext>
            </a:extLst>
          </p:cNvPr>
          <p:cNvSpPr>
            <a:spLocks noGrp="1"/>
          </p:cNvSpPr>
          <p:nvPr>
            <p:ph idx="1"/>
          </p:nvPr>
        </p:nvSpPr>
        <p:spPr/>
        <p:txBody>
          <a:bodyPr/>
          <a:lstStyle/>
          <a:p>
            <a:pPr>
              <a:buFont typeface="Wingdings" panose="05000000000000000000" pitchFamily="2" charset="2"/>
              <a:buChar char="v"/>
            </a:pPr>
            <a:r>
              <a:rPr lang="en-US" b="1"/>
              <a:t>Hàm input()</a:t>
            </a:r>
          </a:p>
          <a:p>
            <a:pPr marL="0" indent="0">
              <a:buNone/>
            </a:pPr>
            <a:r>
              <a:rPr lang="vi-VN"/>
              <a:t>Hàm input() trong Python được sử dụng để nhận dữ liệu nhập từ người dùng qua bàn phím</a:t>
            </a:r>
            <a:endParaRPr lang="en-US"/>
          </a:p>
          <a:p>
            <a:pPr marL="0" indent="0">
              <a:buNone/>
            </a:pPr>
            <a:endParaRPr lang="en-US" b="1"/>
          </a:p>
          <a:p>
            <a:endParaRPr lang="en-US"/>
          </a:p>
        </p:txBody>
      </p:sp>
      <p:sp>
        <p:nvSpPr>
          <p:cNvPr id="4" name="Date Placeholder 3">
            <a:extLst>
              <a:ext uri="{FF2B5EF4-FFF2-40B4-BE49-F238E27FC236}">
                <a16:creationId xmlns:a16="http://schemas.microsoft.com/office/drawing/2014/main" id="{29BC71B7-8520-4444-6F99-4B785E9676CC}"/>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E41E977F-7828-764A-4EE4-1A869BE11D0C}"/>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10C32016-83F6-E9B8-1C25-7BC3485567C5}"/>
              </a:ext>
            </a:extLst>
          </p:cNvPr>
          <p:cNvSpPr>
            <a:spLocks noGrp="1"/>
          </p:cNvSpPr>
          <p:nvPr>
            <p:ph type="sldNum" sz="quarter" idx="12"/>
          </p:nvPr>
        </p:nvSpPr>
        <p:spPr/>
        <p:txBody>
          <a:bodyPr/>
          <a:lstStyle/>
          <a:p>
            <a:fld id="{D3060201-1C40-4B39-813D-5CD9493BAEED}" type="slidenum">
              <a:rPr lang="en-US" smtClean="0"/>
              <a:t>30</a:t>
            </a:fld>
            <a:endParaRPr lang="en-US"/>
          </a:p>
        </p:txBody>
      </p:sp>
      <p:pic>
        <p:nvPicPr>
          <p:cNvPr id="8" name="Picture 7">
            <a:extLst>
              <a:ext uri="{FF2B5EF4-FFF2-40B4-BE49-F238E27FC236}">
                <a16:creationId xmlns:a16="http://schemas.microsoft.com/office/drawing/2014/main" id="{F9FAC559-0BDD-9CE2-F938-4E2193D99E4A}"/>
              </a:ext>
            </a:extLst>
          </p:cNvPr>
          <p:cNvPicPr>
            <a:picLocks noChangeAspect="1"/>
          </p:cNvPicPr>
          <p:nvPr/>
        </p:nvPicPr>
        <p:blipFill>
          <a:blip r:embed="rId2"/>
          <a:stretch>
            <a:fillRect/>
          </a:stretch>
        </p:blipFill>
        <p:spPr>
          <a:xfrm>
            <a:off x="1097280" y="3306869"/>
            <a:ext cx="8153400" cy="2562225"/>
          </a:xfrm>
          <a:prstGeom prst="rect">
            <a:avLst/>
          </a:prstGeom>
        </p:spPr>
      </p:pic>
    </p:spTree>
    <p:extLst>
      <p:ext uri="{BB962C8B-B14F-4D97-AF65-F5344CB8AC3E}">
        <p14:creationId xmlns:p14="http://schemas.microsoft.com/office/powerpoint/2010/main" val="40684336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E54A-1C94-E916-E913-805A63182A54}"/>
              </a:ext>
            </a:extLst>
          </p:cNvPr>
          <p:cNvSpPr>
            <a:spLocks noGrp="1"/>
          </p:cNvSpPr>
          <p:nvPr>
            <p:ph type="title"/>
          </p:nvPr>
        </p:nvSpPr>
        <p:spPr/>
        <p:txBody>
          <a:bodyPr/>
          <a:lstStyle/>
          <a:p>
            <a:pPr algn="ctr"/>
            <a:r>
              <a:rPr lang="en-US"/>
              <a:t>Câu lệnh điều khiển</a:t>
            </a:r>
          </a:p>
        </p:txBody>
      </p:sp>
      <p:sp>
        <p:nvSpPr>
          <p:cNvPr id="3" name="Content Placeholder 2">
            <a:extLst>
              <a:ext uri="{FF2B5EF4-FFF2-40B4-BE49-F238E27FC236}">
                <a16:creationId xmlns:a16="http://schemas.microsoft.com/office/drawing/2014/main" id="{BC004C9C-1B8D-341B-52A4-E39BC39FD2B4}"/>
              </a:ext>
            </a:extLst>
          </p:cNvPr>
          <p:cNvSpPr>
            <a:spLocks noGrp="1"/>
          </p:cNvSpPr>
          <p:nvPr>
            <p:ph idx="1"/>
          </p:nvPr>
        </p:nvSpPr>
        <p:spPr/>
        <p:txBody>
          <a:bodyPr>
            <a:normAutofit fontScale="85000" lnSpcReduction="20000"/>
          </a:bodyPr>
          <a:lstStyle/>
          <a:p>
            <a:pPr>
              <a:lnSpc>
                <a:spcPct val="150000"/>
              </a:lnSpc>
              <a:buFont typeface="Wingdings" panose="05000000000000000000" pitchFamily="2" charset="2"/>
              <a:buChar char="v"/>
            </a:pPr>
            <a:r>
              <a:rPr lang="en-US" b="1"/>
              <a:t> Câu lệnh điều kiện if:</a:t>
            </a:r>
          </a:p>
          <a:p>
            <a:pPr>
              <a:lnSpc>
                <a:spcPct val="150000"/>
              </a:lnSpc>
            </a:pPr>
            <a:r>
              <a:rPr lang="en-US" b="1" i="0">
                <a:solidFill>
                  <a:srgbClr val="C254D2"/>
                </a:solidFill>
                <a:effectLst/>
              </a:rPr>
              <a:t>if </a:t>
            </a:r>
            <a:r>
              <a:rPr lang="en-US" b="0" i="0">
                <a:solidFill>
                  <a:srgbClr val="FC5C00"/>
                </a:solidFill>
                <a:effectLst/>
              </a:rPr>
              <a:t>&lt;điều kiện 1&gt;</a:t>
            </a:r>
            <a:r>
              <a:rPr lang="en-US" b="0" i="0">
                <a:solidFill>
                  <a:srgbClr val="000000"/>
                </a:solidFill>
                <a:effectLst/>
              </a:rPr>
              <a:t>:</a:t>
            </a:r>
            <a:br>
              <a:rPr lang="en-US" b="0" i="0">
                <a:solidFill>
                  <a:srgbClr val="000000"/>
                </a:solidFill>
                <a:effectLst/>
              </a:rPr>
            </a:br>
            <a:r>
              <a:rPr lang="en-US" b="0" i="0">
                <a:solidFill>
                  <a:srgbClr val="000000"/>
                </a:solidFill>
                <a:effectLst/>
              </a:rPr>
              <a:t>	</a:t>
            </a:r>
            <a:r>
              <a:rPr lang="en-US" b="0" i="0">
                <a:solidFill>
                  <a:srgbClr val="00A0FC"/>
                </a:solidFill>
                <a:effectLst/>
              </a:rPr>
              <a:t>&lt;khối lệnh 1&gt;</a:t>
            </a:r>
            <a:br>
              <a:rPr lang="en-US" b="0" i="0">
                <a:solidFill>
                  <a:srgbClr val="00A0FC"/>
                </a:solidFill>
                <a:effectLst/>
              </a:rPr>
            </a:br>
            <a:r>
              <a:rPr lang="en-US" b="1" i="0">
                <a:solidFill>
                  <a:srgbClr val="C254D2"/>
                </a:solidFill>
                <a:effectLst/>
              </a:rPr>
              <a:t>elif </a:t>
            </a:r>
            <a:r>
              <a:rPr lang="en-US" b="0" i="0">
                <a:solidFill>
                  <a:srgbClr val="FC5C00"/>
                </a:solidFill>
                <a:effectLst/>
              </a:rPr>
              <a:t>&lt;điều kiện 2&gt;</a:t>
            </a:r>
            <a:r>
              <a:rPr lang="en-US" b="0" i="0">
                <a:solidFill>
                  <a:srgbClr val="000000"/>
                </a:solidFill>
                <a:effectLst/>
              </a:rPr>
              <a:t>:</a:t>
            </a:r>
            <a:br>
              <a:rPr lang="en-US" b="0" i="0">
                <a:solidFill>
                  <a:srgbClr val="000000"/>
                </a:solidFill>
                <a:effectLst/>
              </a:rPr>
            </a:br>
            <a:r>
              <a:rPr lang="en-US" b="0" i="0">
                <a:solidFill>
                  <a:srgbClr val="000000"/>
                </a:solidFill>
                <a:effectLst/>
              </a:rPr>
              <a:t>	</a:t>
            </a:r>
            <a:r>
              <a:rPr lang="en-US" b="0" i="0">
                <a:solidFill>
                  <a:srgbClr val="00A0FC"/>
                </a:solidFill>
                <a:effectLst/>
              </a:rPr>
              <a:t>&lt;khối lệnh 2&gt;</a:t>
            </a:r>
            <a:br>
              <a:rPr lang="en-US" b="0" i="0">
                <a:solidFill>
                  <a:srgbClr val="00A0FC"/>
                </a:solidFill>
                <a:effectLst/>
              </a:rPr>
            </a:br>
            <a:r>
              <a:rPr lang="en-US" b="0" i="0">
                <a:solidFill>
                  <a:srgbClr val="00A0FC"/>
                </a:solidFill>
                <a:effectLst/>
              </a:rPr>
              <a:t>...</a:t>
            </a:r>
            <a:br>
              <a:rPr lang="en-US" b="0" i="0">
                <a:solidFill>
                  <a:srgbClr val="00A0FC"/>
                </a:solidFill>
                <a:effectLst/>
              </a:rPr>
            </a:br>
            <a:r>
              <a:rPr lang="en-US" b="1" i="0">
                <a:solidFill>
                  <a:srgbClr val="C254D2"/>
                </a:solidFill>
                <a:effectLst/>
              </a:rPr>
              <a:t>else</a:t>
            </a:r>
            <a:r>
              <a:rPr lang="en-US" b="0" i="0">
                <a:solidFill>
                  <a:srgbClr val="000000"/>
                </a:solidFill>
                <a:effectLst/>
              </a:rPr>
              <a:t>:</a:t>
            </a:r>
            <a:br>
              <a:rPr lang="en-US" b="0" i="0">
                <a:solidFill>
                  <a:srgbClr val="000000"/>
                </a:solidFill>
                <a:effectLst/>
              </a:rPr>
            </a:br>
            <a:r>
              <a:rPr lang="en-US" b="0" i="0">
                <a:solidFill>
                  <a:srgbClr val="000000"/>
                </a:solidFill>
                <a:effectLst/>
              </a:rPr>
              <a:t>	</a:t>
            </a:r>
            <a:r>
              <a:rPr lang="en-US" b="0" i="0">
                <a:solidFill>
                  <a:srgbClr val="00A0FC"/>
                </a:solidFill>
                <a:effectLst/>
              </a:rPr>
              <a:t>&lt;khối lệnh n&gt;</a:t>
            </a:r>
            <a:r>
              <a:rPr lang="en-US"/>
              <a:t> </a:t>
            </a:r>
            <a:br>
              <a:rPr lang="en-US"/>
            </a:br>
            <a:endParaRPr lang="en-US"/>
          </a:p>
        </p:txBody>
      </p:sp>
      <p:sp>
        <p:nvSpPr>
          <p:cNvPr id="4" name="Date Placeholder 3">
            <a:extLst>
              <a:ext uri="{FF2B5EF4-FFF2-40B4-BE49-F238E27FC236}">
                <a16:creationId xmlns:a16="http://schemas.microsoft.com/office/drawing/2014/main" id="{43B8A33C-67DF-8337-9529-D67D573C3954}"/>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67596518-DD42-6EC7-24A8-9607E694418F}"/>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B95ABAAD-77E9-C18E-139C-53C951B98E7A}"/>
              </a:ext>
            </a:extLst>
          </p:cNvPr>
          <p:cNvSpPr>
            <a:spLocks noGrp="1"/>
          </p:cNvSpPr>
          <p:nvPr>
            <p:ph type="sldNum" sz="quarter" idx="12"/>
          </p:nvPr>
        </p:nvSpPr>
        <p:spPr/>
        <p:txBody>
          <a:bodyPr/>
          <a:lstStyle/>
          <a:p>
            <a:fld id="{D3060201-1C40-4B39-813D-5CD9493BAEED}" type="slidenum">
              <a:rPr lang="en-US" smtClean="0"/>
              <a:t>31</a:t>
            </a:fld>
            <a:endParaRPr lang="en-US"/>
          </a:p>
        </p:txBody>
      </p:sp>
      <p:pic>
        <p:nvPicPr>
          <p:cNvPr id="8" name="Picture 7">
            <a:extLst>
              <a:ext uri="{FF2B5EF4-FFF2-40B4-BE49-F238E27FC236}">
                <a16:creationId xmlns:a16="http://schemas.microsoft.com/office/drawing/2014/main" id="{4E4BEBEC-B5B2-7DE9-5225-6D908770CFB5}"/>
              </a:ext>
            </a:extLst>
          </p:cNvPr>
          <p:cNvPicPr>
            <a:picLocks noChangeAspect="1"/>
          </p:cNvPicPr>
          <p:nvPr/>
        </p:nvPicPr>
        <p:blipFill>
          <a:blip r:embed="rId2"/>
          <a:stretch>
            <a:fillRect/>
          </a:stretch>
        </p:blipFill>
        <p:spPr>
          <a:xfrm>
            <a:off x="5365344" y="2133599"/>
            <a:ext cx="5859699" cy="3006091"/>
          </a:xfrm>
          <a:prstGeom prst="rect">
            <a:avLst/>
          </a:prstGeom>
        </p:spPr>
      </p:pic>
    </p:spTree>
    <p:extLst>
      <p:ext uri="{BB962C8B-B14F-4D97-AF65-F5344CB8AC3E}">
        <p14:creationId xmlns:p14="http://schemas.microsoft.com/office/powerpoint/2010/main" val="1359615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54533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4B58ED0-40A9-56F1-14E3-6A1C3BE1613B}"/>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Vòng lặp for</a:t>
            </a:r>
          </a:p>
        </p:txBody>
      </p:sp>
      <p:sp>
        <p:nvSpPr>
          <p:cNvPr id="3" name="Content Placeholder 2">
            <a:extLst>
              <a:ext uri="{FF2B5EF4-FFF2-40B4-BE49-F238E27FC236}">
                <a16:creationId xmlns:a16="http://schemas.microsoft.com/office/drawing/2014/main" id="{A9395C11-6B64-1258-6B48-7DA494296423}"/>
              </a:ext>
            </a:extLst>
          </p:cNvPr>
          <p:cNvSpPr>
            <a:spLocks noGrp="1"/>
          </p:cNvSpPr>
          <p:nvPr>
            <p:ph idx="1"/>
          </p:nvPr>
        </p:nvSpPr>
        <p:spPr>
          <a:xfrm>
            <a:off x="492371" y="2653800"/>
            <a:ext cx="3084844" cy="3335519"/>
          </a:xfrm>
        </p:spPr>
        <p:txBody>
          <a:bodyPr>
            <a:noAutofit/>
          </a:bodyPr>
          <a:lstStyle/>
          <a:p>
            <a:pPr algn="just">
              <a:buFont typeface="Wingdings" panose="05000000000000000000" pitchFamily="2" charset="2"/>
              <a:buChar char="v"/>
            </a:pPr>
            <a:r>
              <a:rPr lang="vi-VN" b="0" i="0">
                <a:solidFill>
                  <a:srgbClr val="FFFFFF"/>
                </a:solidFill>
                <a:effectLst/>
                <a:latin typeface="+mj-lt"/>
                <a:ea typeface="Cambria" panose="02040503050406030204" pitchFamily="18" charset="0"/>
              </a:rPr>
              <a:t>Vòng lặp </a:t>
            </a:r>
            <a:r>
              <a:rPr lang="vi-VN" b="1" i="0">
                <a:solidFill>
                  <a:srgbClr val="FFFFFF"/>
                </a:solidFill>
                <a:effectLst/>
                <a:latin typeface="+mj-lt"/>
                <a:ea typeface="Cambria" panose="02040503050406030204" pitchFamily="18" charset="0"/>
              </a:rPr>
              <a:t>for</a:t>
            </a:r>
            <a:r>
              <a:rPr lang="vi-VN" b="0" i="0">
                <a:solidFill>
                  <a:srgbClr val="FFFFFF"/>
                </a:solidFill>
                <a:effectLst/>
                <a:latin typeface="+mj-lt"/>
                <a:ea typeface="Cambria" panose="02040503050406030204" pitchFamily="18" charset="0"/>
              </a:rPr>
              <a:t> là cấu trúc điều khiển lặp được dùng để thực hiện một lệnh hay một khối lệnh với </a:t>
            </a:r>
            <a:r>
              <a:rPr lang="vi-VN" b="0" i="1">
                <a:solidFill>
                  <a:srgbClr val="FFFFFF"/>
                </a:solidFill>
                <a:effectLst/>
                <a:latin typeface="+mj-lt"/>
                <a:ea typeface="Cambria" panose="02040503050406030204" pitchFamily="18" charset="0"/>
              </a:rPr>
              <a:t>số lần lặp xác định trướ</a:t>
            </a:r>
            <a:r>
              <a:rPr lang="en-US" b="0" i="1">
                <a:solidFill>
                  <a:srgbClr val="FFFFFF"/>
                </a:solidFill>
                <a:effectLst/>
                <a:latin typeface="+mj-lt"/>
                <a:ea typeface="Cambria" panose="02040503050406030204" pitchFamily="18" charset="0"/>
              </a:rPr>
              <a:t>c</a:t>
            </a:r>
            <a:r>
              <a:rPr lang="en-US">
                <a:solidFill>
                  <a:srgbClr val="FFFFFF"/>
                </a:solidFill>
              </a:rPr>
              <a:t> </a:t>
            </a:r>
            <a:br>
              <a:rPr lang="en-US">
                <a:solidFill>
                  <a:srgbClr val="FFFFFF"/>
                </a:solidFill>
                <a:latin typeface="+mj-lt"/>
              </a:rPr>
            </a:br>
            <a:endParaRPr lang="en-US">
              <a:solidFill>
                <a:srgbClr val="FFFFFF"/>
              </a:solidFill>
              <a:latin typeface="+mj-lt"/>
            </a:endParaRPr>
          </a:p>
        </p:txBody>
      </p:sp>
      <p:sp>
        <p:nvSpPr>
          <p:cNvPr id="23" name="Rectangle 22">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FA11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 name="Picture 7" descr="A screenshot of a computer program&#10;&#10;Description automatically generated">
            <a:extLst>
              <a:ext uri="{FF2B5EF4-FFF2-40B4-BE49-F238E27FC236}">
                <a16:creationId xmlns:a16="http://schemas.microsoft.com/office/drawing/2014/main" id="{6A37F564-DF65-A979-BA2B-B75829AEDD46}"/>
              </a:ext>
            </a:extLst>
          </p:cNvPr>
          <p:cNvPicPr>
            <a:picLocks noChangeAspect="1"/>
          </p:cNvPicPr>
          <p:nvPr/>
        </p:nvPicPr>
        <p:blipFill>
          <a:blip r:embed="rId2"/>
          <a:stretch>
            <a:fillRect/>
          </a:stretch>
        </p:blipFill>
        <p:spPr>
          <a:xfrm>
            <a:off x="4808937" y="1165146"/>
            <a:ext cx="5306613" cy="5269932"/>
          </a:xfrm>
          <a:prstGeom prst="rect">
            <a:avLst/>
          </a:prstGeom>
        </p:spPr>
      </p:pic>
      <p:sp>
        <p:nvSpPr>
          <p:cNvPr id="5" name="Footer Placeholder 4">
            <a:extLst>
              <a:ext uri="{FF2B5EF4-FFF2-40B4-BE49-F238E27FC236}">
                <a16:creationId xmlns:a16="http://schemas.microsoft.com/office/drawing/2014/main" id="{254FE0BC-4DD3-46EF-1B46-17B3AAE1C91E}"/>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5E758A15-A937-BF02-4A2A-1184BA5AEF04}"/>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318B131C-105C-9B69-7D00-68EB40A25A7A}"/>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32</a:t>
            </a:fld>
            <a:endParaRPr lang="en-US">
              <a:solidFill>
                <a:schemeClr val="tx2"/>
              </a:solidFill>
            </a:endParaRPr>
          </a:p>
        </p:txBody>
      </p:sp>
      <p:sp>
        <p:nvSpPr>
          <p:cNvPr id="10" name="TextBox 9">
            <a:extLst>
              <a:ext uri="{FF2B5EF4-FFF2-40B4-BE49-F238E27FC236}">
                <a16:creationId xmlns:a16="http://schemas.microsoft.com/office/drawing/2014/main" id="{553F24AB-6678-9E04-DBBA-83E4C723B6AE}"/>
              </a:ext>
            </a:extLst>
          </p:cNvPr>
          <p:cNvSpPr txBox="1"/>
          <p:nvPr/>
        </p:nvSpPr>
        <p:spPr>
          <a:xfrm>
            <a:off x="4808937" y="151686"/>
            <a:ext cx="6096000" cy="861774"/>
          </a:xfrm>
          <a:prstGeom prst="rect">
            <a:avLst/>
          </a:prstGeom>
          <a:noFill/>
        </p:spPr>
        <p:txBody>
          <a:bodyPr wrap="square">
            <a:spAutoFit/>
          </a:bodyPr>
          <a:lstStyle/>
          <a:p>
            <a:r>
              <a:rPr lang="en-US" sz="2500" b="1" i="0">
                <a:solidFill>
                  <a:srgbClr val="002060"/>
                </a:solidFill>
                <a:effectLst/>
                <a:latin typeface="Times New Roman" panose="02020603050405020304" pitchFamily="18" charset="0"/>
                <a:cs typeface="Times New Roman" panose="02020603050405020304" pitchFamily="18" charset="0"/>
              </a:rPr>
              <a:t>for &lt;tên_biến&gt; in &lt;phạm_</a:t>
            </a:r>
            <a:r>
              <a:rPr lang="en-US" sz="2500" b="1">
                <a:solidFill>
                  <a:srgbClr val="002060"/>
                </a:solidFill>
                <a:latin typeface="Times New Roman" panose="02020603050405020304" pitchFamily="18" charset="0"/>
                <a:cs typeface="Times New Roman" panose="02020603050405020304" pitchFamily="18" charset="0"/>
              </a:rPr>
              <a:t>vi</a:t>
            </a:r>
            <a:r>
              <a:rPr lang="en-US" sz="2500" b="1" i="0">
                <a:solidFill>
                  <a:srgbClr val="002060"/>
                </a:solidFill>
                <a:effectLst/>
                <a:latin typeface="Times New Roman" panose="02020603050405020304" pitchFamily="18" charset="0"/>
                <a:cs typeface="Times New Roman" panose="02020603050405020304" pitchFamily="18" charset="0"/>
              </a:rPr>
              <a:t>&gt;:</a:t>
            </a:r>
            <a:br>
              <a:rPr lang="en-US" sz="2500" b="1" i="0">
                <a:solidFill>
                  <a:srgbClr val="002060"/>
                </a:solidFill>
                <a:effectLst/>
                <a:latin typeface="Times New Roman" panose="02020603050405020304" pitchFamily="18" charset="0"/>
                <a:cs typeface="Times New Roman" panose="02020603050405020304" pitchFamily="18" charset="0"/>
              </a:rPr>
            </a:br>
            <a:r>
              <a:rPr lang="en-US" sz="2500" b="1" i="0">
                <a:solidFill>
                  <a:srgbClr val="002060"/>
                </a:solidFill>
                <a:effectLst/>
                <a:latin typeface="Times New Roman" panose="02020603050405020304" pitchFamily="18" charset="0"/>
                <a:cs typeface="Times New Roman" panose="02020603050405020304" pitchFamily="18" charset="0"/>
              </a:rPr>
              <a:t>	&lt;khối lệnh&gt;</a:t>
            </a:r>
            <a:endParaRPr lang="en-US" sz="2500" b="1">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14027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07F626-F984-959B-1A88-D7551C055425}"/>
              </a:ext>
            </a:extLst>
          </p:cNvPr>
          <p:cNvSpPr>
            <a:spLocks noGrp="1"/>
          </p:cNvSpPr>
          <p:nvPr>
            <p:ph type="title"/>
          </p:nvPr>
        </p:nvSpPr>
        <p:spPr>
          <a:xfrm>
            <a:off x="1097280" y="286603"/>
            <a:ext cx="10058400" cy="1450757"/>
          </a:xfrm>
        </p:spPr>
        <p:txBody>
          <a:bodyPr>
            <a:normAutofit/>
          </a:bodyPr>
          <a:lstStyle/>
          <a:p>
            <a:r>
              <a:rPr lang="en-US"/>
              <a:t>Vòng lặp while</a:t>
            </a:r>
          </a:p>
        </p:txBody>
      </p:sp>
      <p:cxnSp>
        <p:nvCxnSpPr>
          <p:cNvPr id="53" name="Straight Connector 52">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4" name="Content Placeholder 2">
            <a:extLst>
              <a:ext uri="{FF2B5EF4-FFF2-40B4-BE49-F238E27FC236}">
                <a16:creationId xmlns:a16="http://schemas.microsoft.com/office/drawing/2014/main" id="{947CDEAF-D765-C284-5AD1-66A236A1E290}"/>
              </a:ext>
            </a:extLst>
          </p:cNvPr>
          <p:cNvSpPr>
            <a:spLocks noGrp="1"/>
          </p:cNvSpPr>
          <p:nvPr>
            <p:ph idx="1"/>
          </p:nvPr>
        </p:nvSpPr>
        <p:spPr>
          <a:xfrm>
            <a:off x="1097279" y="1845734"/>
            <a:ext cx="10115204" cy="4023360"/>
          </a:xfrm>
        </p:spPr>
        <p:txBody>
          <a:bodyPr>
            <a:normAutofit/>
          </a:bodyPr>
          <a:lstStyle/>
          <a:p>
            <a:pPr algn="just"/>
            <a:r>
              <a:rPr lang="vi-VN" b="0" i="0">
                <a:effectLst/>
                <a:latin typeface="+mj-lt"/>
                <a:ea typeface="Cambria" panose="02040503050406030204" pitchFamily="18" charset="0"/>
              </a:rPr>
              <a:t>Vòng lặp </a:t>
            </a:r>
            <a:r>
              <a:rPr lang="vi-VN" b="1" i="0">
                <a:effectLst/>
                <a:latin typeface="+mj-lt"/>
                <a:ea typeface="Cambria" panose="02040503050406030204" pitchFamily="18" charset="0"/>
              </a:rPr>
              <a:t>while</a:t>
            </a:r>
            <a:r>
              <a:rPr lang="vi-VN" b="0" i="0">
                <a:effectLst/>
                <a:latin typeface="+mj-lt"/>
                <a:ea typeface="Cambria" panose="02040503050406030204" pitchFamily="18" charset="0"/>
              </a:rPr>
              <a:t> cũng được sử dụng để lặp lại một khối câu lệnh. </a:t>
            </a:r>
            <a:r>
              <a:rPr lang="vi-VN" b="0" i="1">
                <a:effectLst/>
                <a:latin typeface="+mj-lt"/>
                <a:ea typeface="Cambria" panose="02040503050406030204" pitchFamily="18" charset="0"/>
              </a:rPr>
              <a:t>Nó sẽ kiểm tra điều kiện trước khi bắt đầu vòng lặp để quyết định xem có thực hiện vòng lặp hay không</a:t>
            </a:r>
            <a:r>
              <a:rPr lang="vi-VN" b="0" i="0">
                <a:effectLst/>
                <a:latin typeface="+mj-lt"/>
                <a:ea typeface="Cambria" panose="02040503050406030204" pitchFamily="18" charset="0"/>
              </a:rPr>
              <a:t>. Khối câu lệnh bên trong vòng lặp sẽ được thực hiện 1 hoặc nhiều lần cho đến khi kiểm tra điều kiện trả về bằng false thì sẽ kết thúc vòng lặp.</a:t>
            </a:r>
            <a:endParaRPr lang="en-US" b="0" i="1">
              <a:effectLst/>
              <a:latin typeface="+mj-lt"/>
              <a:ea typeface="Cambria" panose="02040503050406030204" pitchFamily="18" charset="0"/>
            </a:endParaRPr>
          </a:p>
          <a:p>
            <a:r>
              <a:rPr lang="en-US" b="1" i="1">
                <a:effectLst/>
              </a:rPr>
              <a:t>while &lt;điều kiện&gt; :</a:t>
            </a:r>
            <a:br>
              <a:rPr lang="en-US" b="1" i="1">
                <a:effectLst/>
              </a:rPr>
            </a:br>
            <a:r>
              <a:rPr lang="en-US" b="1" i="1">
                <a:effectLst/>
              </a:rPr>
              <a:t>	&lt;khối lệnh&gt;</a:t>
            </a:r>
            <a:r>
              <a:rPr lang="en-US" b="1" i="1"/>
              <a:t> </a:t>
            </a:r>
            <a:br>
              <a:rPr lang="en-US">
                <a:latin typeface="+mj-lt"/>
              </a:rPr>
            </a:br>
            <a:endParaRPr lang="en-US">
              <a:latin typeface="+mj-lt"/>
            </a:endParaRPr>
          </a:p>
        </p:txBody>
      </p:sp>
      <p:pic>
        <p:nvPicPr>
          <p:cNvPr id="8" name="Picture 7">
            <a:extLst>
              <a:ext uri="{FF2B5EF4-FFF2-40B4-BE49-F238E27FC236}">
                <a16:creationId xmlns:a16="http://schemas.microsoft.com/office/drawing/2014/main" id="{628C3280-A427-355F-9E32-32295B15362C}"/>
              </a:ext>
            </a:extLst>
          </p:cNvPr>
          <p:cNvPicPr>
            <a:picLocks noChangeAspect="1"/>
          </p:cNvPicPr>
          <p:nvPr/>
        </p:nvPicPr>
        <p:blipFill>
          <a:blip r:embed="rId2"/>
          <a:stretch>
            <a:fillRect/>
          </a:stretch>
        </p:blipFill>
        <p:spPr>
          <a:xfrm>
            <a:off x="4898449" y="3386168"/>
            <a:ext cx="6133238" cy="2541911"/>
          </a:xfrm>
          <a:prstGeom prst="rect">
            <a:avLst/>
          </a:prstGeom>
        </p:spPr>
      </p:pic>
      <p:sp>
        <p:nvSpPr>
          <p:cNvPr id="55" name="Rectangle 54">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FFA00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4C4C3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Date Placeholder 3">
            <a:extLst>
              <a:ext uri="{FF2B5EF4-FFF2-40B4-BE49-F238E27FC236}">
                <a16:creationId xmlns:a16="http://schemas.microsoft.com/office/drawing/2014/main" id="{9C19D747-519B-A924-5DD3-9CE99812D80C}"/>
              </a:ext>
            </a:extLst>
          </p:cNvPr>
          <p:cNvSpPr>
            <a:spLocks noGrp="1"/>
          </p:cNvSpPr>
          <p:nvPr>
            <p:ph type="dt" sz="half" idx="10"/>
          </p:nvPr>
        </p:nvSpPr>
        <p:spPr>
          <a:xfrm>
            <a:off x="1097280" y="6459785"/>
            <a:ext cx="2472271"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A794FAF5-5FEC-8488-AB0A-A590A0D8060F}"/>
              </a:ext>
            </a:extLst>
          </p:cNvPr>
          <p:cNvSpPr>
            <a:spLocks noGrp="1"/>
          </p:cNvSpPr>
          <p:nvPr>
            <p:ph type="ftr" sz="quarter" idx="11"/>
          </p:nvPr>
        </p:nvSpPr>
        <p:spPr>
          <a:xfrm>
            <a:off x="3686185" y="6459785"/>
            <a:ext cx="4822804" cy="365125"/>
          </a:xfrm>
        </p:spPr>
        <p:txBody>
          <a:bodyPr>
            <a:normAutofit/>
          </a:bodyPr>
          <a:lstStyle/>
          <a:p>
            <a:pPr>
              <a:spcAft>
                <a:spcPts val="600"/>
              </a:spcAft>
            </a:pPr>
            <a:r>
              <a:rPr lang="en-US"/>
              <a:t>Ngôn ngữ lập trình Python</a:t>
            </a:r>
          </a:p>
        </p:txBody>
      </p:sp>
      <p:sp>
        <p:nvSpPr>
          <p:cNvPr id="6" name="Slide Number Placeholder 5">
            <a:extLst>
              <a:ext uri="{FF2B5EF4-FFF2-40B4-BE49-F238E27FC236}">
                <a16:creationId xmlns:a16="http://schemas.microsoft.com/office/drawing/2014/main" id="{C84F63F5-855B-4E2C-1C34-610C3E2343FE}"/>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smtClean="0"/>
              <a:pPr>
                <a:spcAft>
                  <a:spcPts val="600"/>
                </a:spcAft>
              </a:pPr>
              <a:t>33</a:t>
            </a:fld>
            <a:endParaRPr lang="en-US"/>
          </a:p>
        </p:txBody>
      </p:sp>
    </p:spTree>
    <p:extLst>
      <p:ext uri="{BB962C8B-B14F-4D97-AF65-F5344CB8AC3E}">
        <p14:creationId xmlns:p14="http://schemas.microsoft.com/office/powerpoint/2010/main" val="444915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08BA3-A5C5-08E6-A5BA-A5D817CF9ED4}"/>
              </a:ext>
            </a:extLst>
          </p:cNvPr>
          <p:cNvSpPr>
            <a:spLocks noGrp="1"/>
          </p:cNvSpPr>
          <p:nvPr>
            <p:ph type="title"/>
          </p:nvPr>
        </p:nvSpPr>
        <p:spPr/>
        <p:txBody>
          <a:bodyPr>
            <a:normAutofit/>
          </a:bodyPr>
          <a:lstStyle/>
          <a:p>
            <a:pPr algn="ctr"/>
            <a:r>
              <a:rPr lang="en-US" sz="4400"/>
              <a:t>Các lệnh điều khiển vòng lặp trong Python</a:t>
            </a:r>
          </a:p>
        </p:txBody>
      </p:sp>
      <p:sp>
        <p:nvSpPr>
          <p:cNvPr id="3" name="Content Placeholder 2">
            <a:extLst>
              <a:ext uri="{FF2B5EF4-FFF2-40B4-BE49-F238E27FC236}">
                <a16:creationId xmlns:a16="http://schemas.microsoft.com/office/drawing/2014/main" id="{50D507FC-9B7D-3879-741C-2AF27BFA06F2}"/>
              </a:ext>
            </a:extLst>
          </p:cNvPr>
          <p:cNvSpPr>
            <a:spLocks noGrp="1"/>
          </p:cNvSpPr>
          <p:nvPr>
            <p:ph idx="1"/>
          </p:nvPr>
        </p:nvSpPr>
        <p:spPr/>
        <p:txBody>
          <a:bodyPr>
            <a:noAutofit/>
          </a:bodyPr>
          <a:lstStyle/>
          <a:p>
            <a:pPr>
              <a:lnSpc>
                <a:spcPct val="150000"/>
              </a:lnSpc>
              <a:buFont typeface="Wingdings" panose="05000000000000000000" pitchFamily="2" charset="2"/>
              <a:buChar char="v"/>
            </a:pPr>
            <a:r>
              <a:rPr lang="vi-VN" b="1" i="0">
                <a:solidFill>
                  <a:srgbClr val="313131"/>
                </a:solidFill>
                <a:effectLst/>
                <a:latin typeface="+mj-lt"/>
              </a:rPr>
              <a:t>Lệnh break</a:t>
            </a:r>
            <a:r>
              <a:rPr lang="vi-VN" b="0" i="0">
                <a:solidFill>
                  <a:srgbClr val="000000"/>
                </a:solidFill>
                <a:effectLst/>
                <a:latin typeface="+mj-lt"/>
              </a:rPr>
              <a:t>: </a:t>
            </a:r>
            <a:r>
              <a:rPr lang="en-US"/>
              <a:t>Kết thúc vòng lặp hiện tại và thoát ra khỏi vòng lặp.</a:t>
            </a:r>
            <a:endParaRPr lang="en-US" b="0" i="0">
              <a:solidFill>
                <a:srgbClr val="000000"/>
              </a:solidFill>
              <a:effectLst/>
              <a:latin typeface="+mj-lt"/>
            </a:endParaRPr>
          </a:p>
          <a:p>
            <a:pPr>
              <a:lnSpc>
                <a:spcPct val="150000"/>
              </a:lnSpc>
              <a:buFont typeface="Wingdings" panose="05000000000000000000" pitchFamily="2" charset="2"/>
              <a:buChar char="v"/>
            </a:pPr>
            <a:r>
              <a:rPr lang="vi-VN" b="1" i="0">
                <a:solidFill>
                  <a:srgbClr val="313131"/>
                </a:solidFill>
                <a:effectLst/>
                <a:latin typeface="+mj-lt"/>
              </a:rPr>
              <a:t>Lệnh continue</a:t>
            </a:r>
            <a:r>
              <a:rPr lang="vi-VN" b="0" i="0">
                <a:solidFill>
                  <a:srgbClr val="000000"/>
                </a:solidFill>
                <a:effectLst/>
                <a:latin typeface="+mj-lt"/>
              </a:rPr>
              <a:t>: </a:t>
            </a:r>
            <a:r>
              <a:rPr lang="en-US"/>
              <a:t>Bỏ qua phần còn lại của vòng lặp hiện tại và tiếp tục với lần lặp tiếp theo.</a:t>
            </a:r>
            <a:endParaRPr lang="en-US">
              <a:solidFill>
                <a:srgbClr val="000000"/>
              </a:solidFill>
              <a:latin typeface="+mj-lt"/>
            </a:endParaRPr>
          </a:p>
          <a:p>
            <a:pPr>
              <a:lnSpc>
                <a:spcPct val="150000"/>
              </a:lnSpc>
              <a:buFont typeface="Wingdings" panose="05000000000000000000" pitchFamily="2" charset="2"/>
              <a:buChar char="v"/>
            </a:pPr>
            <a:r>
              <a:rPr lang="vi-VN" b="1">
                <a:solidFill>
                  <a:srgbClr val="313131"/>
                </a:solidFill>
                <a:latin typeface="+mj-lt"/>
              </a:rPr>
              <a:t>Lệnh</a:t>
            </a:r>
            <a:r>
              <a:rPr lang="vi-VN" b="1" i="0">
                <a:solidFill>
                  <a:srgbClr val="313131"/>
                </a:solidFill>
                <a:effectLst/>
                <a:latin typeface="+mj-lt"/>
              </a:rPr>
              <a:t> pass</a:t>
            </a:r>
            <a:r>
              <a:rPr lang="vi-VN" b="0" i="0">
                <a:solidFill>
                  <a:srgbClr val="000000"/>
                </a:solidFill>
                <a:effectLst/>
                <a:latin typeface="+mj-lt"/>
              </a:rPr>
              <a:t>: </a:t>
            </a:r>
            <a:r>
              <a:rPr lang="en-US"/>
              <a:t>Lệnh pass thể hiện một hoạt động rỗng - không có gì xảy ra khi lệnh pass được thực thi. Chúng ta sử dụng lệnh pass như một trình giữ chỗ khi bạn cần một câu lệnh về mặt cú pháp nhưng không muốn thực hiện bất kỳ điều gì trong mã của mình.</a:t>
            </a:r>
          </a:p>
          <a:p>
            <a:pPr indent="-228600" algn="just">
              <a:lnSpc>
                <a:spcPct val="150000"/>
              </a:lnSpc>
              <a:spcAft>
                <a:spcPts val="600"/>
              </a:spcAft>
              <a:buFont typeface="Arial" panose="020B0604020202020204" pitchFamily="34" charset="0"/>
              <a:buChar char="•"/>
            </a:pPr>
            <a:endParaRPr lang="en-US" altLang="zh-CN">
              <a:latin typeface="Cambria" panose="02040503050406030204" pitchFamily="18" charset="0"/>
              <a:ea typeface="Cambria" panose="02040503050406030204" pitchFamily="18" charset="0"/>
            </a:endParaRPr>
          </a:p>
          <a:p>
            <a:pPr marL="0" indent="0">
              <a:lnSpc>
                <a:spcPct val="150000"/>
              </a:lnSpc>
              <a:buNone/>
            </a:pPr>
            <a:br>
              <a:rPr lang="vi-VN">
                <a:latin typeface="+mj-lt"/>
              </a:rPr>
            </a:br>
            <a:endParaRPr lang="en-US">
              <a:latin typeface="+mj-lt"/>
            </a:endParaRPr>
          </a:p>
        </p:txBody>
      </p:sp>
      <p:sp>
        <p:nvSpPr>
          <p:cNvPr id="4" name="Date Placeholder 3">
            <a:extLst>
              <a:ext uri="{FF2B5EF4-FFF2-40B4-BE49-F238E27FC236}">
                <a16:creationId xmlns:a16="http://schemas.microsoft.com/office/drawing/2014/main" id="{FAAC5CD4-415B-DFB7-71DD-9476606018D0}"/>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0A3FEF48-4401-B297-1F6B-3ABA5CF2E4CE}"/>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2EA594D2-11B8-9B06-64EF-CBEBD8C3CE54}"/>
              </a:ext>
            </a:extLst>
          </p:cNvPr>
          <p:cNvSpPr>
            <a:spLocks noGrp="1"/>
          </p:cNvSpPr>
          <p:nvPr>
            <p:ph type="sldNum" sz="quarter" idx="12"/>
          </p:nvPr>
        </p:nvSpPr>
        <p:spPr/>
        <p:txBody>
          <a:bodyPr/>
          <a:lstStyle/>
          <a:p>
            <a:fld id="{D3060201-1C40-4B39-813D-5CD9493BAEED}" type="slidenum">
              <a:rPr lang="en-US" smtClean="0"/>
              <a:t>34</a:t>
            </a:fld>
            <a:endParaRPr lang="en-US"/>
          </a:p>
        </p:txBody>
      </p:sp>
    </p:spTree>
    <p:extLst>
      <p:ext uri="{BB962C8B-B14F-4D97-AF65-F5344CB8AC3E}">
        <p14:creationId xmlns:p14="http://schemas.microsoft.com/office/powerpoint/2010/main" val="3720466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D3F00AEE-431D-494F-88C1-EC58DFF529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CDAB6AAC-029F-41DE-BE2F-A9D439D2C4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1" name="Straight Connector 20">
            <a:extLst>
              <a:ext uri="{FF2B5EF4-FFF2-40B4-BE49-F238E27FC236}">
                <a16:creationId xmlns:a16="http://schemas.microsoft.com/office/drawing/2014/main" id="{48CAA1E7-B772-4FC1-9062-39237998D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CC90B2FC-5754-43E9-B9FA-D0B9A6B20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DD8EA3-73FD-2812-445D-89875CD00170}"/>
              </a:ext>
            </a:extLst>
          </p:cNvPr>
          <p:cNvSpPr>
            <a:spLocks noGrp="1"/>
          </p:cNvSpPr>
          <p:nvPr>
            <p:ph type="title"/>
          </p:nvPr>
        </p:nvSpPr>
        <p:spPr>
          <a:xfrm>
            <a:off x="633999" y="4550229"/>
            <a:ext cx="10909073" cy="1057655"/>
          </a:xfrm>
        </p:spPr>
        <p:txBody>
          <a:bodyPr vert="horz" lIns="91440" tIns="45720" rIns="91440" bIns="45720" rtlCol="0" anchor="b">
            <a:normAutofit fontScale="90000"/>
          </a:bodyPr>
          <a:lstStyle/>
          <a:p>
            <a:pPr algn="ctr"/>
            <a:r>
              <a:rPr lang="en-US" sz="5100">
                <a:solidFill>
                  <a:schemeClr val="tx1">
                    <a:lumMod val="85000"/>
                    <a:lumOff val="15000"/>
                  </a:schemeClr>
                </a:solidFill>
              </a:rPr>
              <a:t>Các lệnh điều khiển vòng lặp trong Python</a:t>
            </a:r>
          </a:p>
        </p:txBody>
      </p:sp>
      <p:pic>
        <p:nvPicPr>
          <p:cNvPr id="8" name="Content Placeholder 7">
            <a:extLst>
              <a:ext uri="{FF2B5EF4-FFF2-40B4-BE49-F238E27FC236}">
                <a16:creationId xmlns:a16="http://schemas.microsoft.com/office/drawing/2014/main" id="{C4ACA5F9-7B17-8CA0-95A0-AB06B10A0E75}"/>
              </a:ext>
            </a:extLst>
          </p:cNvPr>
          <p:cNvPicPr>
            <a:picLocks noGrp="1" noChangeAspect="1"/>
          </p:cNvPicPr>
          <p:nvPr>
            <p:ph idx="1"/>
          </p:nvPr>
        </p:nvPicPr>
        <p:blipFill>
          <a:blip r:embed="rId2"/>
          <a:stretch>
            <a:fillRect/>
          </a:stretch>
        </p:blipFill>
        <p:spPr>
          <a:xfrm>
            <a:off x="635458" y="1511610"/>
            <a:ext cx="3312784" cy="1859676"/>
          </a:xfrm>
          <a:prstGeom prst="rect">
            <a:avLst/>
          </a:prstGeom>
        </p:spPr>
      </p:pic>
      <p:sp>
        <p:nvSpPr>
          <p:cNvPr id="25" name="Rectangle 24">
            <a:extLst>
              <a:ext uri="{FF2B5EF4-FFF2-40B4-BE49-F238E27FC236}">
                <a16:creationId xmlns:a16="http://schemas.microsoft.com/office/drawing/2014/main" id="{9C047C1F-3D26-4A7E-9062-9190DB1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553" y="886968"/>
            <a:ext cx="64008" cy="3108960"/>
          </a:xfrm>
          <a:prstGeom prst="rect">
            <a:avLst/>
          </a:prstGeom>
          <a:solidFill>
            <a:srgbClr val="FFA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6912C475-27D1-2BBC-F6A9-7026BCB75E9B}"/>
              </a:ext>
            </a:extLst>
          </p:cNvPr>
          <p:cNvPicPr>
            <a:picLocks noChangeAspect="1"/>
          </p:cNvPicPr>
          <p:nvPr/>
        </p:nvPicPr>
        <p:blipFill>
          <a:blip r:embed="rId3"/>
          <a:stretch>
            <a:fillRect/>
          </a:stretch>
        </p:blipFill>
        <p:spPr>
          <a:xfrm>
            <a:off x="4432872" y="1533104"/>
            <a:ext cx="3312785" cy="1816688"/>
          </a:xfrm>
          <a:prstGeom prst="rect">
            <a:avLst/>
          </a:prstGeom>
        </p:spPr>
      </p:pic>
      <p:sp>
        <p:nvSpPr>
          <p:cNvPr id="27" name="Rectangle 26">
            <a:extLst>
              <a:ext uri="{FF2B5EF4-FFF2-40B4-BE49-F238E27FC236}">
                <a16:creationId xmlns:a16="http://schemas.microsoft.com/office/drawing/2014/main" id="{0BC35EC2-C14F-497A-9E1C-D9E830165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5969" y="886968"/>
            <a:ext cx="64008" cy="3108960"/>
          </a:xfrm>
          <a:prstGeom prst="rect">
            <a:avLst/>
          </a:prstGeom>
          <a:solidFill>
            <a:srgbClr val="FFA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E16AA98-8E22-AA9A-4314-56EC33E284F7}"/>
              </a:ext>
            </a:extLst>
          </p:cNvPr>
          <p:cNvPicPr>
            <a:picLocks noChangeAspect="1"/>
          </p:cNvPicPr>
          <p:nvPr/>
        </p:nvPicPr>
        <p:blipFill>
          <a:blip r:embed="rId4"/>
          <a:stretch>
            <a:fillRect/>
          </a:stretch>
        </p:blipFill>
        <p:spPr>
          <a:xfrm>
            <a:off x="8230289" y="1523717"/>
            <a:ext cx="3312784" cy="1835461"/>
          </a:xfrm>
          <a:prstGeom prst="rect">
            <a:avLst/>
          </a:prstGeom>
        </p:spPr>
      </p:pic>
      <p:cxnSp>
        <p:nvCxnSpPr>
          <p:cNvPr id="38" name="Straight Connector 37">
            <a:extLst>
              <a:ext uri="{FF2B5EF4-FFF2-40B4-BE49-F238E27FC236}">
                <a16:creationId xmlns:a16="http://schemas.microsoft.com/office/drawing/2014/main" id="{F79AE2A0-0689-4CEA-B92C-1F56FAD699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F25B651D-AB52-44B4-9F7B-DC23F5A7E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FFA00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B2857A16-A25E-49D3-A064-B19068C5AF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3E4E5C"/>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Date Placeholder 3">
            <a:extLst>
              <a:ext uri="{FF2B5EF4-FFF2-40B4-BE49-F238E27FC236}">
                <a16:creationId xmlns:a16="http://schemas.microsoft.com/office/drawing/2014/main" id="{4662B4FF-A627-EDF5-32BC-9A1A65A55F85}"/>
              </a:ext>
            </a:extLst>
          </p:cNvPr>
          <p:cNvSpPr>
            <a:spLocks noGrp="1"/>
          </p:cNvSpPr>
          <p:nvPr>
            <p:ph type="dt" sz="half" idx="10"/>
          </p:nvPr>
        </p:nvSpPr>
        <p:spPr>
          <a:xfrm>
            <a:off x="1097280" y="6459785"/>
            <a:ext cx="2472271" cy="365125"/>
          </a:xfrm>
        </p:spPr>
        <p:txBody>
          <a:bodyPr vert="horz" lIns="91440" tIns="45720" rIns="91440" bIns="45720" rtlCol="0" anchor="ct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F4AD9CAC-BD41-737C-54EA-DC971EE4DFE1}"/>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a:spcAft>
                <a:spcPts val="600"/>
              </a:spcAft>
            </a:pPr>
            <a:r>
              <a:rPr lang="en-US" kern="1200" cap="all" baseline="0">
                <a:solidFill>
                  <a:srgbClr val="FFFFFF"/>
                </a:solidFill>
                <a:latin typeface="+mn-lt"/>
                <a:ea typeface="+mn-ea"/>
                <a:cs typeface="+mn-cs"/>
              </a:rPr>
              <a:t>Ngôn ngữ lập trình Python</a:t>
            </a:r>
          </a:p>
        </p:txBody>
      </p:sp>
      <p:sp>
        <p:nvSpPr>
          <p:cNvPr id="6" name="Slide Number Placeholder 5">
            <a:extLst>
              <a:ext uri="{FF2B5EF4-FFF2-40B4-BE49-F238E27FC236}">
                <a16:creationId xmlns:a16="http://schemas.microsoft.com/office/drawing/2014/main" id="{44F5F724-C966-92C9-D2E1-48731EF5AFAF}"/>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spcAft>
                <a:spcPts val="600"/>
              </a:spcAft>
            </a:pPr>
            <a:fld id="{D3060201-1C40-4B39-813D-5CD9493BAEED}" type="slidenum">
              <a:rPr lang="en-US" smtClean="0"/>
              <a:pPr>
                <a:spcAft>
                  <a:spcPts val="600"/>
                </a:spcAft>
              </a:pPr>
              <a:t>35</a:t>
            </a:fld>
            <a:endParaRPr lang="en-US"/>
          </a:p>
        </p:txBody>
      </p:sp>
    </p:spTree>
    <p:extLst>
      <p:ext uri="{BB962C8B-B14F-4D97-AF65-F5344CB8AC3E}">
        <p14:creationId xmlns:p14="http://schemas.microsoft.com/office/powerpoint/2010/main" val="3801293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424B1-7F61-81B4-4E0E-D4032571D853}"/>
              </a:ext>
            </a:extLst>
          </p:cNvPr>
          <p:cNvSpPr>
            <a:spLocks noGrp="1"/>
          </p:cNvSpPr>
          <p:nvPr>
            <p:ph type="title"/>
          </p:nvPr>
        </p:nvSpPr>
        <p:spPr/>
        <p:txBody>
          <a:bodyPr/>
          <a:lstStyle/>
          <a:p>
            <a:pPr algn="ctr"/>
            <a:r>
              <a:rPr lang="en-US"/>
              <a:t>Hàm trong Python</a:t>
            </a:r>
          </a:p>
        </p:txBody>
      </p:sp>
      <p:sp>
        <p:nvSpPr>
          <p:cNvPr id="3" name="Content Placeholder 2">
            <a:extLst>
              <a:ext uri="{FF2B5EF4-FFF2-40B4-BE49-F238E27FC236}">
                <a16:creationId xmlns:a16="http://schemas.microsoft.com/office/drawing/2014/main" id="{D8D66468-4D7B-1B08-EFDA-C14921FB1970}"/>
              </a:ext>
            </a:extLst>
          </p:cNvPr>
          <p:cNvSpPr>
            <a:spLocks noGrp="1"/>
          </p:cNvSpPr>
          <p:nvPr>
            <p:ph idx="1"/>
          </p:nvPr>
        </p:nvSpPr>
        <p:spPr/>
        <p:txBody>
          <a:bodyPr>
            <a:normAutofit/>
          </a:bodyPr>
          <a:lstStyle/>
          <a:p>
            <a:pPr>
              <a:buFont typeface="Wingdings" panose="05000000000000000000" pitchFamily="2" charset="2"/>
              <a:buChar char="v"/>
            </a:pPr>
            <a:r>
              <a:rPr lang="en-US" b="1" i="0">
                <a:solidFill>
                  <a:srgbClr val="000000"/>
                </a:solidFill>
                <a:effectLst/>
              </a:rPr>
              <a:t>Cú pháp:</a:t>
            </a:r>
          </a:p>
          <a:p>
            <a:pPr marL="0" indent="0">
              <a:buNone/>
            </a:pPr>
            <a:r>
              <a:rPr lang="en-US" b="1" i="1">
                <a:solidFill>
                  <a:srgbClr val="000000"/>
                </a:solidFill>
                <a:effectLst/>
              </a:rPr>
              <a:t>def function_name ([parameters]):</a:t>
            </a:r>
            <a:br>
              <a:rPr lang="en-US" b="1" i="1">
                <a:solidFill>
                  <a:srgbClr val="000000"/>
                </a:solidFill>
                <a:effectLst/>
              </a:rPr>
            </a:br>
            <a:r>
              <a:rPr lang="en-US" b="1" i="1">
                <a:solidFill>
                  <a:srgbClr val="000000"/>
                </a:solidFill>
                <a:effectLst/>
              </a:rPr>
              <a:t>	...</a:t>
            </a:r>
            <a:br>
              <a:rPr lang="en-US" b="1" i="1">
                <a:solidFill>
                  <a:srgbClr val="000000"/>
                </a:solidFill>
                <a:effectLst/>
              </a:rPr>
            </a:br>
            <a:r>
              <a:rPr lang="en-US" b="1" i="1">
                <a:solidFill>
                  <a:srgbClr val="000000"/>
                </a:solidFill>
                <a:effectLst/>
              </a:rPr>
              <a:t>	body_of_the_function</a:t>
            </a:r>
            <a:br>
              <a:rPr lang="en-US" b="1" i="1">
                <a:solidFill>
                  <a:srgbClr val="000000"/>
                </a:solidFill>
                <a:effectLst/>
              </a:rPr>
            </a:br>
            <a:r>
              <a:rPr lang="en-US" b="1" i="1">
                <a:solidFill>
                  <a:srgbClr val="000000"/>
                </a:solidFill>
                <a:effectLst/>
              </a:rPr>
              <a:t>	...</a:t>
            </a:r>
            <a:br>
              <a:rPr lang="en-US" b="1" i="1">
                <a:solidFill>
                  <a:srgbClr val="000000"/>
                </a:solidFill>
                <a:effectLst/>
              </a:rPr>
            </a:br>
            <a:r>
              <a:rPr lang="en-US" b="1" i="1">
                <a:solidFill>
                  <a:srgbClr val="000000"/>
                </a:solidFill>
                <a:effectLst/>
              </a:rPr>
              <a:t>	return ...</a:t>
            </a:r>
            <a:r>
              <a:rPr lang="en-US" b="1" i="1"/>
              <a:t> </a:t>
            </a:r>
            <a:br>
              <a:rPr lang="en-US"/>
            </a:br>
            <a:endParaRPr lang="en-US" b="1"/>
          </a:p>
        </p:txBody>
      </p:sp>
      <p:sp>
        <p:nvSpPr>
          <p:cNvPr id="4" name="Date Placeholder 3">
            <a:extLst>
              <a:ext uri="{FF2B5EF4-FFF2-40B4-BE49-F238E27FC236}">
                <a16:creationId xmlns:a16="http://schemas.microsoft.com/office/drawing/2014/main" id="{9934994D-EF3C-A7C8-A730-70198B9D3A51}"/>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46EE0C7B-C0C9-CABF-B2FF-9BC0F9D55189}"/>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6DD30456-8325-AE19-BBA9-E87158D300F0}"/>
              </a:ext>
            </a:extLst>
          </p:cNvPr>
          <p:cNvSpPr>
            <a:spLocks noGrp="1"/>
          </p:cNvSpPr>
          <p:nvPr>
            <p:ph type="sldNum" sz="quarter" idx="12"/>
          </p:nvPr>
        </p:nvSpPr>
        <p:spPr/>
        <p:txBody>
          <a:bodyPr/>
          <a:lstStyle/>
          <a:p>
            <a:fld id="{D3060201-1C40-4B39-813D-5CD9493BAEED}" type="slidenum">
              <a:rPr lang="en-US" smtClean="0"/>
              <a:t>36</a:t>
            </a:fld>
            <a:endParaRPr lang="en-US"/>
          </a:p>
        </p:txBody>
      </p:sp>
      <p:pic>
        <p:nvPicPr>
          <p:cNvPr id="8" name="Picture 7">
            <a:extLst>
              <a:ext uri="{FF2B5EF4-FFF2-40B4-BE49-F238E27FC236}">
                <a16:creationId xmlns:a16="http://schemas.microsoft.com/office/drawing/2014/main" id="{006FFF6F-01B6-90ED-DC24-195ACD0A1B3C}"/>
              </a:ext>
            </a:extLst>
          </p:cNvPr>
          <p:cNvPicPr>
            <a:picLocks noChangeAspect="1"/>
          </p:cNvPicPr>
          <p:nvPr/>
        </p:nvPicPr>
        <p:blipFill>
          <a:blip r:embed="rId2"/>
          <a:stretch>
            <a:fillRect/>
          </a:stretch>
        </p:blipFill>
        <p:spPr>
          <a:xfrm>
            <a:off x="6767512" y="2009774"/>
            <a:ext cx="3780291" cy="2009775"/>
          </a:xfrm>
          <a:prstGeom prst="rect">
            <a:avLst/>
          </a:prstGeom>
        </p:spPr>
      </p:pic>
    </p:spTree>
    <p:extLst>
      <p:ext uri="{BB962C8B-B14F-4D97-AF65-F5344CB8AC3E}">
        <p14:creationId xmlns:p14="http://schemas.microsoft.com/office/powerpoint/2010/main" val="135806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479AB-BDEE-C0BE-0477-9F2D4260B0BD}"/>
              </a:ext>
            </a:extLst>
          </p:cNvPr>
          <p:cNvSpPr>
            <a:spLocks noGrp="1"/>
          </p:cNvSpPr>
          <p:nvPr>
            <p:ph type="title"/>
          </p:nvPr>
        </p:nvSpPr>
        <p:spPr/>
        <p:txBody>
          <a:bodyPr/>
          <a:lstStyle/>
          <a:p>
            <a:pPr algn="ctr"/>
            <a:r>
              <a:rPr lang="en-US"/>
              <a:t>Module</a:t>
            </a:r>
          </a:p>
        </p:txBody>
      </p:sp>
      <p:sp>
        <p:nvSpPr>
          <p:cNvPr id="3" name="Content Placeholder 2">
            <a:extLst>
              <a:ext uri="{FF2B5EF4-FFF2-40B4-BE49-F238E27FC236}">
                <a16:creationId xmlns:a16="http://schemas.microsoft.com/office/drawing/2014/main" id="{F044D3A9-48E2-FED9-96C0-52EB0A4909CE}"/>
              </a:ext>
            </a:extLst>
          </p:cNvPr>
          <p:cNvSpPr>
            <a:spLocks noGrp="1"/>
          </p:cNvSpPr>
          <p:nvPr>
            <p:ph idx="1"/>
          </p:nvPr>
        </p:nvSpPr>
        <p:spPr/>
        <p:txBody>
          <a:bodyPr>
            <a:noAutofit/>
          </a:bodyPr>
          <a:lstStyle/>
          <a:p>
            <a:pPr algn="just">
              <a:lnSpc>
                <a:spcPct val="150000"/>
              </a:lnSpc>
              <a:buFont typeface="Wingdings" panose="05000000000000000000" pitchFamily="2" charset="2"/>
              <a:buChar char="v"/>
            </a:pPr>
            <a:r>
              <a:rPr lang="vi-VN" b="0" i="0">
                <a:solidFill>
                  <a:srgbClr val="000000"/>
                </a:solidFill>
                <a:effectLst/>
                <a:latin typeface="+mj-lt"/>
              </a:rPr>
              <a:t>Module được sử dụng để phân loại code thành các phần nhỏ hơn liên quan với nhau. Hay nói cách</a:t>
            </a:r>
            <a:r>
              <a:rPr lang="en-US" b="0" i="0">
                <a:solidFill>
                  <a:srgbClr val="000000"/>
                </a:solidFill>
                <a:effectLst/>
                <a:latin typeface="+mj-lt"/>
              </a:rPr>
              <a:t> </a:t>
            </a:r>
            <a:r>
              <a:rPr lang="vi-VN" b="0" i="0">
                <a:solidFill>
                  <a:srgbClr val="000000"/>
                </a:solidFill>
                <a:effectLst/>
                <a:latin typeface="+mj-lt"/>
              </a:rPr>
              <a:t>khác, Module giúp bạn tổ chức Python code một cách logic để giúp bạn dễ dàng hiểu và sử dụng</a:t>
            </a:r>
            <a:r>
              <a:rPr lang="en-US" b="0" i="0">
                <a:solidFill>
                  <a:srgbClr val="000000"/>
                </a:solidFill>
                <a:effectLst/>
                <a:latin typeface="+mj-lt"/>
              </a:rPr>
              <a:t> </a:t>
            </a:r>
            <a:r>
              <a:rPr lang="vi-VN" b="0" i="0">
                <a:solidFill>
                  <a:srgbClr val="000000"/>
                </a:solidFill>
                <a:effectLst/>
                <a:latin typeface="+mj-lt"/>
              </a:rPr>
              <a:t>code đó hơn. Trong Python,</a:t>
            </a:r>
            <a:r>
              <a:rPr lang="en-US" b="0" i="0">
                <a:solidFill>
                  <a:srgbClr val="000000"/>
                </a:solidFill>
                <a:effectLst/>
                <a:latin typeface="+mj-lt"/>
              </a:rPr>
              <a:t> </a:t>
            </a:r>
            <a:r>
              <a:rPr lang="vi-VN" b="0" i="0">
                <a:solidFill>
                  <a:srgbClr val="000000"/>
                </a:solidFill>
                <a:effectLst/>
                <a:latin typeface="+mj-lt"/>
              </a:rPr>
              <a:t>Module là một đối tượng với các thuộc tính mà bạn có thể đặt tên tùy ý</a:t>
            </a:r>
            <a:br>
              <a:rPr lang="vi-VN" b="0" i="0">
                <a:solidFill>
                  <a:srgbClr val="000000"/>
                </a:solidFill>
                <a:effectLst/>
                <a:latin typeface="+mj-lt"/>
              </a:rPr>
            </a:br>
            <a:r>
              <a:rPr lang="vi-VN" b="0" i="0">
                <a:solidFill>
                  <a:srgbClr val="000000"/>
                </a:solidFill>
                <a:effectLst/>
                <a:latin typeface="+mj-lt"/>
              </a:rPr>
              <a:t>và bạn có thể gắn kết và tham chiếu.</a:t>
            </a:r>
            <a:endParaRPr lang="en-US" b="0" i="0">
              <a:solidFill>
                <a:srgbClr val="000000"/>
              </a:solidFill>
              <a:effectLst/>
              <a:latin typeface="+mj-lt"/>
            </a:endParaRPr>
          </a:p>
          <a:p>
            <a:pPr algn="just">
              <a:lnSpc>
                <a:spcPct val="150000"/>
              </a:lnSpc>
              <a:buFont typeface="Wingdings" panose="05000000000000000000" pitchFamily="2" charset="2"/>
              <a:buChar char="v"/>
            </a:pPr>
            <a:r>
              <a:rPr lang="vi-VN" b="0" i="0">
                <a:solidFill>
                  <a:srgbClr val="000000"/>
                </a:solidFill>
                <a:effectLst/>
                <a:latin typeface="+mj-lt"/>
              </a:rPr>
              <a:t>Module là một file, trong đó các lớp, hàm và biến được định nghĩa. Tất nhiên, một</a:t>
            </a:r>
            <a:r>
              <a:rPr lang="en-US" b="0" i="0">
                <a:solidFill>
                  <a:srgbClr val="000000"/>
                </a:solidFill>
                <a:effectLst/>
                <a:latin typeface="+mj-lt"/>
              </a:rPr>
              <a:t> </a:t>
            </a:r>
            <a:r>
              <a:rPr lang="en-US">
                <a:solidFill>
                  <a:srgbClr val="000000"/>
                </a:solidFill>
              </a:rPr>
              <a:t>m</a:t>
            </a:r>
            <a:r>
              <a:rPr lang="vi-VN" b="0" i="0">
                <a:solidFill>
                  <a:srgbClr val="000000"/>
                </a:solidFill>
                <a:effectLst/>
                <a:latin typeface="+mj-lt"/>
              </a:rPr>
              <a:t>odule cũng có thể bao gồm code có thể chạy.</a:t>
            </a:r>
            <a:r>
              <a:rPr lang="vi-VN">
                <a:latin typeface="+mj-lt"/>
              </a:rPr>
              <a:t> </a:t>
            </a:r>
            <a:br>
              <a:rPr lang="vi-VN">
                <a:latin typeface="+mj-lt"/>
              </a:rPr>
            </a:br>
            <a:endParaRPr lang="en-US">
              <a:latin typeface="+mj-lt"/>
            </a:endParaRPr>
          </a:p>
        </p:txBody>
      </p:sp>
      <p:sp>
        <p:nvSpPr>
          <p:cNvPr id="4" name="Date Placeholder 3">
            <a:extLst>
              <a:ext uri="{FF2B5EF4-FFF2-40B4-BE49-F238E27FC236}">
                <a16:creationId xmlns:a16="http://schemas.microsoft.com/office/drawing/2014/main" id="{14E78E54-D8CC-BB71-5D5B-5AD3D314ED44}"/>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B856C350-B423-DFE9-FDBD-752A96B6971A}"/>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436996DB-7A11-27A9-3063-21F7767E73A6}"/>
              </a:ext>
            </a:extLst>
          </p:cNvPr>
          <p:cNvSpPr>
            <a:spLocks noGrp="1"/>
          </p:cNvSpPr>
          <p:nvPr>
            <p:ph type="sldNum" sz="quarter" idx="12"/>
          </p:nvPr>
        </p:nvSpPr>
        <p:spPr/>
        <p:txBody>
          <a:bodyPr/>
          <a:lstStyle/>
          <a:p>
            <a:fld id="{D3060201-1C40-4B39-813D-5CD9493BAEED}" type="slidenum">
              <a:rPr lang="en-US" smtClean="0"/>
              <a:t>37</a:t>
            </a:fld>
            <a:endParaRPr lang="en-US"/>
          </a:p>
        </p:txBody>
      </p:sp>
    </p:spTree>
    <p:extLst>
      <p:ext uri="{BB962C8B-B14F-4D97-AF65-F5344CB8AC3E}">
        <p14:creationId xmlns:p14="http://schemas.microsoft.com/office/powerpoint/2010/main" val="4086617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8331D47-DE7A-4F51-9D59-FD68F3BDD2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99DEDC60-6312-4214-B219-E46479D7E1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9" name="Straight Connector 18">
            <a:extLst>
              <a:ext uri="{FF2B5EF4-FFF2-40B4-BE49-F238E27FC236}">
                <a16:creationId xmlns:a16="http://schemas.microsoft.com/office/drawing/2014/main" id="{D92A1B31-DB63-435D-93E6-9712CDFB20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66B8738D-6184-4200-93C8-A38B49E39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9BB04-07B4-7324-1224-EF74FCFBD7E5}"/>
              </a:ext>
            </a:extLst>
          </p:cNvPr>
          <p:cNvSpPr>
            <a:spLocks noGrp="1"/>
          </p:cNvSpPr>
          <p:nvPr>
            <p:ph type="title"/>
          </p:nvPr>
        </p:nvSpPr>
        <p:spPr>
          <a:xfrm>
            <a:off x="609459" y="5445916"/>
            <a:ext cx="10909073" cy="1057655"/>
          </a:xfrm>
        </p:spPr>
        <p:txBody>
          <a:bodyPr vert="horz" lIns="91440" tIns="45720" rIns="91440" bIns="45720" rtlCol="0" anchor="b">
            <a:normAutofit/>
          </a:bodyPr>
          <a:lstStyle/>
          <a:p>
            <a:r>
              <a:rPr lang="en-US" sz="6000">
                <a:solidFill>
                  <a:schemeClr val="tx1">
                    <a:lumMod val="85000"/>
                    <a:lumOff val="15000"/>
                  </a:schemeClr>
                </a:solidFill>
                <a:latin typeface="+mj-lt"/>
                <a:cs typeface="+mj-cs"/>
              </a:rPr>
              <a:t>Module</a:t>
            </a:r>
          </a:p>
        </p:txBody>
      </p:sp>
      <p:pic>
        <p:nvPicPr>
          <p:cNvPr id="10" name="Picture 9">
            <a:extLst>
              <a:ext uri="{FF2B5EF4-FFF2-40B4-BE49-F238E27FC236}">
                <a16:creationId xmlns:a16="http://schemas.microsoft.com/office/drawing/2014/main" id="{AA29B3A6-F582-BCD5-ED26-3655722E92BC}"/>
              </a:ext>
            </a:extLst>
          </p:cNvPr>
          <p:cNvPicPr>
            <a:picLocks noChangeAspect="1"/>
          </p:cNvPicPr>
          <p:nvPr/>
        </p:nvPicPr>
        <p:blipFill>
          <a:blip r:embed="rId2"/>
          <a:stretch>
            <a:fillRect/>
          </a:stretch>
        </p:blipFill>
        <p:spPr>
          <a:xfrm>
            <a:off x="689409" y="455945"/>
            <a:ext cx="5131653" cy="2162269"/>
          </a:xfrm>
          <a:prstGeom prst="rect">
            <a:avLst/>
          </a:prstGeom>
        </p:spPr>
      </p:pic>
      <p:sp>
        <p:nvSpPr>
          <p:cNvPr id="23" name="Rectangle 22">
            <a:extLst>
              <a:ext uri="{FF2B5EF4-FFF2-40B4-BE49-F238E27FC236}">
                <a16:creationId xmlns:a16="http://schemas.microsoft.com/office/drawing/2014/main" id="{5B73017D-B127-4D47-BB33-0DA52359F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3996" y="886968"/>
            <a:ext cx="64008" cy="3108960"/>
          </a:xfrm>
          <a:prstGeom prst="rect">
            <a:avLst/>
          </a:prstGeom>
          <a:solidFill>
            <a:srgbClr val="5E5E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a:extLst>
              <a:ext uri="{FF2B5EF4-FFF2-40B4-BE49-F238E27FC236}">
                <a16:creationId xmlns:a16="http://schemas.microsoft.com/office/drawing/2014/main" id="{2F5C746D-13E8-82AA-F66B-B9A7D1B2992D}"/>
              </a:ext>
            </a:extLst>
          </p:cNvPr>
          <p:cNvPicPr>
            <a:picLocks noGrp="1" noChangeAspect="1"/>
          </p:cNvPicPr>
          <p:nvPr>
            <p:ph idx="1"/>
          </p:nvPr>
        </p:nvPicPr>
        <p:blipFill>
          <a:blip r:embed="rId3"/>
          <a:stretch>
            <a:fillRect/>
          </a:stretch>
        </p:blipFill>
        <p:spPr>
          <a:xfrm>
            <a:off x="6424891" y="790834"/>
            <a:ext cx="5118182" cy="3301227"/>
          </a:xfrm>
          <a:prstGeom prst="rect">
            <a:avLst/>
          </a:prstGeom>
        </p:spPr>
      </p:pic>
      <p:cxnSp>
        <p:nvCxnSpPr>
          <p:cNvPr id="25" name="Straight Connector 24">
            <a:extLst>
              <a:ext uri="{FF2B5EF4-FFF2-40B4-BE49-F238E27FC236}">
                <a16:creationId xmlns:a16="http://schemas.microsoft.com/office/drawing/2014/main" id="{C2B7B8EB-0638-43BD-9A64-62F95F5054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C1AD70F9-2AA8-40AD-81F2-0D7BC881C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FFA10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0A95E83E-3C35-4C05-B1FC-CBF86CCB7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5E5E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Date Placeholder 3">
            <a:extLst>
              <a:ext uri="{FF2B5EF4-FFF2-40B4-BE49-F238E27FC236}">
                <a16:creationId xmlns:a16="http://schemas.microsoft.com/office/drawing/2014/main" id="{2ECD031D-21CD-61D6-FD0F-A9CE0E2081C2}"/>
              </a:ext>
            </a:extLst>
          </p:cNvPr>
          <p:cNvSpPr>
            <a:spLocks noGrp="1"/>
          </p:cNvSpPr>
          <p:nvPr>
            <p:ph type="dt" sz="half" idx="10"/>
          </p:nvPr>
        </p:nvSpPr>
        <p:spPr>
          <a:xfrm>
            <a:off x="1097280" y="6459785"/>
            <a:ext cx="2472271" cy="365125"/>
          </a:xfrm>
        </p:spPr>
        <p:txBody>
          <a:bodyPr vert="horz" lIns="91440" tIns="45720" rIns="91440" bIns="45720" rtlCol="0" anchor="ct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BA1BE0FE-33C0-5CED-23B6-130ABC4A066C}"/>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a:spcAft>
                <a:spcPts val="600"/>
              </a:spcAft>
            </a:pPr>
            <a:r>
              <a:rPr lang="en-US" kern="1200" cap="all" baseline="0">
                <a:solidFill>
                  <a:srgbClr val="FFFFFF"/>
                </a:solidFill>
                <a:latin typeface="+mn-lt"/>
                <a:ea typeface="+mn-ea"/>
                <a:cs typeface="+mn-cs"/>
              </a:rPr>
              <a:t>Ngôn ngữ lập trình Python</a:t>
            </a:r>
          </a:p>
        </p:txBody>
      </p:sp>
      <p:sp>
        <p:nvSpPr>
          <p:cNvPr id="6" name="Slide Number Placeholder 5">
            <a:extLst>
              <a:ext uri="{FF2B5EF4-FFF2-40B4-BE49-F238E27FC236}">
                <a16:creationId xmlns:a16="http://schemas.microsoft.com/office/drawing/2014/main" id="{18CDBF85-DE71-7259-909C-AAC4F00B96EF}"/>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spcAft>
                <a:spcPts val="600"/>
              </a:spcAft>
            </a:pPr>
            <a:fld id="{D3060201-1C40-4B39-813D-5CD9493BAEED}" type="slidenum">
              <a:rPr lang="en-US" smtClean="0"/>
              <a:pPr>
                <a:spcAft>
                  <a:spcPts val="600"/>
                </a:spcAft>
              </a:pPr>
              <a:t>38</a:t>
            </a:fld>
            <a:endParaRPr lang="en-US"/>
          </a:p>
        </p:txBody>
      </p:sp>
      <p:pic>
        <p:nvPicPr>
          <p:cNvPr id="12" name="Picture 11">
            <a:extLst>
              <a:ext uri="{FF2B5EF4-FFF2-40B4-BE49-F238E27FC236}">
                <a16:creationId xmlns:a16="http://schemas.microsoft.com/office/drawing/2014/main" id="{9B8732E8-6FB4-DB7E-8B28-D135605A7A6C}"/>
              </a:ext>
            </a:extLst>
          </p:cNvPr>
          <p:cNvPicPr>
            <a:picLocks noChangeAspect="1"/>
          </p:cNvPicPr>
          <p:nvPr/>
        </p:nvPicPr>
        <p:blipFill>
          <a:blip r:embed="rId4"/>
          <a:stretch>
            <a:fillRect/>
          </a:stretch>
        </p:blipFill>
        <p:spPr>
          <a:xfrm>
            <a:off x="688321" y="2726869"/>
            <a:ext cx="5118182" cy="2163156"/>
          </a:xfrm>
          <a:prstGeom prst="rect">
            <a:avLst/>
          </a:prstGeom>
        </p:spPr>
      </p:pic>
    </p:spTree>
    <p:extLst>
      <p:ext uri="{BB962C8B-B14F-4D97-AF65-F5344CB8AC3E}">
        <p14:creationId xmlns:p14="http://schemas.microsoft.com/office/powerpoint/2010/main" val="13073375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7DBE7-DC2D-95C6-D34F-ECA2D31612FF}"/>
              </a:ext>
            </a:extLst>
          </p:cNvPr>
          <p:cNvSpPr>
            <a:spLocks noGrp="1"/>
          </p:cNvSpPr>
          <p:nvPr>
            <p:ph type="title"/>
          </p:nvPr>
        </p:nvSpPr>
        <p:spPr/>
        <p:txBody>
          <a:bodyPr>
            <a:normAutofit/>
          </a:bodyPr>
          <a:lstStyle/>
          <a:p>
            <a:pPr algn="ctr"/>
            <a:r>
              <a:rPr lang="en-US" sz="5000" b="0" i="0">
                <a:solidFill>
                  <a:srgbClr val="121214"/>
                </a:solidFill>
                <a:effectLst/>
              </a:rPr>
              <a:t>Exception trong Python</a:t>
            </a:r>
            <a:r>
              <a:rPr lang="en-US" sz="5000"/>
              <a:t> </a:t>
            </a:r>
          </a:p>
        </p:txBody>
      </p:sp>
      <p:sp>
        <p:nvSpPr>
          <p:cNvPr id="3" name="Content Placeholder 2">
            <a:extLst>
              <a:ext uri="{FF2B5EF4-FFF2-40B4-BE49-F238E27FC236}">
                <a16:creationId xmlns:a16="http://schemas.microsoft.com/office/drawing/2014/main" id="{B601917A-F2BA-DBE3-C2F9-0967DE67885D}"/>
              </a:ext>
            </a:extLst>
          </p:cNvPr>
          <p:cNvSpPr>
            <a:spLocks noGrp="1"/>
          </p:cNvSpPr>
          <p:nvPr>
            <p:ph idx="1"/>
          </p:nvPr>
        </p:nvSpPr>
        <p:spPr/>
        <p:txBody>
          <a:bodyPr>
            <a:noAutofit/>
          </a:bodyPr>
          <a:lstStyle/>
          <a:p>
            <a:pPr algn="just">
              <a:lnSpc>
                <a:spcPct val="100000"/>
              </a:lnSpc>
              <a:buFont typeface="Wingdings" panose="05000000000000000000" pitchFamily="2" charset="2"/>
              <a:buChar char="v"/>
            </a:pPr>
            <a:r>
              <a:rPr lang="vi-VN" b="0" i="0">
                <a:solidFill>
                  <a:srgbClr val="000000"/>
                </a:solidFill>
                <a:effectLst/>
                <a:latin typeface="+mj-lt"/>
              </a:rPr>
              <a:t>Python cung cấp hai đặc điểm quan trọng là Xử lý ngoại lệ (Exception Handling) và Assertion để xử</a:t>
            </a:r>
            <a:r>
              <a:rPr lang="en-US" b="0" i="0">
                <a:solidFill>
                  <a:srgbClr val="000000"/>
                </a:solidFill>
                <a:effectLst/>
                <a:latin typeface="+mj-lt"/>
              </a:rPr>
              <a:t> </a:t>
            </a:r>
            <a:r>
              <a:rPr lang="vi-VN" b="0" i="0">
                <a:solidFill>
                  <a:srgbClr val="000000"/>
                </a:solidFill>
                <a:effectLst/>
                <a:latin typeface="+mj-lt"/>
              </a:rPr>
              <a:t>lý bất kỳ lỗi không mong đợi nào trong các chương trình Python của bạn và để thêm khả năng</a:t>
            </a:r>
            <a:r>
              <a:rPr lang="en-US" b="0" i="0">
                <a:solidFill>
                  <a:srgbClr val="000000"/>
                </a:solidFill>
                <a:effectLst/>
                <a:latin typeface="+mj-lt"/>
              </a:rPr>
              <a:t> </a:t>
            </a:r>
            <a:r>
              <a:rPr lang="vi-VN" b="0" i="0">
                <a:solidFill>
                  <a:srgbClr val="000000"/>
                </a:solidFill>
                <a:effectLst/>
                <a:latin typeface="+mj-lt"/>
              </a:rPr>
              <a:t>debug tới các chương trình đó</a:t>
            </a:r>
            <a:r>
              <a:rPr lang="en-US" b="0" i="0">
                <a:solidFill>
                  <a:srgbClr val="000000"/>
                </a:solidFill>
                <a:effectLst/>
                <a:latin typeface="+mj-lt"/>
              </a:rPr>
              <a:t>.</a:t>
            </a:r>
          </a:p>
          <a:p>
            <a:pPr>
              <a:lnSpc>
                <a:spcPct val="100000"/>
              </a:lnSpc>
              <a:buFont typeface="Wingdings" panose="05000000000000000000" pitchFamily="2" charset="2"/>
              <a:buChar char="v"/>
            </a:pPr>
            <a:r>
              <a:rPr lang="vi-VN" b="0" i="0">
                <a:solidFill>
                  <a:srgbClr val="000000"/>
                </a:solidFill>
                <a:effectLst/>
                <a:latin typeface="+mj-lt"/>
              </a:rPr>
              <a:t>Ngoại lệ có thể là bất kỳ điều kiện bất thường nào trong chương trình mà phá vỡ luồng thực thi</a:t>
            </a:r>
            <a:r>
              <a:rPr lang="en-US" b="0" i="0">
                <a:solidFill>
                  <a:srgbClr val="000000"/>
                </a:solidFill>
                <a:effectLst/>
                <a:latin typeface="+mj-lt"/>
              </a:rPr>
              <a:t> </a:t>
            </a:r>
            <a:r>
              <a:rPr lang="vi-VN" b="0" i="0">
                <a:solidFill>
                  <a:srgbClr val="000000"/>
                </a:solidFill>
                <a:effectLst/>
                <a:latin typeface="+mj-lt"/>
              </a:rPr>
              <a:t>chương trình đó. Bất cứ khi nào một ngoại lệ xuất hiện, mà không được xử lý, thì chương trình</a:t>
            </a:r>
            <a:r>
              <a:rPr lang="en-US" b="0" i="0">
                <a:solidFill>
                  <a:srgbClr val="000000"/>
                </a:solidFill>
                <a:effectLst/>
                <a:latin typeface="+mj-lt"/>
              </a:rPr>
              <a:t> </a:t>
            </a:r>
            <a:r>
              <a:rPr lang="vi-VN" b="0" i="0">
                <a:solidFill>
                  <a:srgbClr val="000000"/>
                </a:solidFill>
                <a:effectLst/>
                <a:latin typeface="+mj-lt"/>
              </a:rPr>
              <a:t>ngừng thực thi và vì thế code không được thực thi.</a:t>
            </a:r>
            <a:br>
              <a:rPr lang="vi-VN">
                <a:latin typeface="+mj-lt"/>
              </a:rPr>
            </a:br>
            <a:br>
              <a:rPr lang="vi-VN">
                <a:latin typeface="+mj-lt"/>
              </a:rPr>
            </a:br>
            <a:endParaRPr lang="en-US">
              <a:latin typeface="+mj-lt"/>
            </a:endParaRPr>
          </a:p>
        </p:txBody>
      </p:sp>
      <p:sp>
        <p:nvSpPr>
          <p:cNvPr id="4" name="Date Placeholder 3">
            <a:extLst>
              <a:ext uri="{FF2B5EF4-FFF2-40B4-BE49-F238E27FC236}">
                <a16:creationId xmlns:a16="http://schemas.microsoft.com/office/drawing/2014/main" id="{3279A708-5363-C894-CA93-52745B819B57}"/>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B93C5164-F551-8094-7358-F9C5AABCAA4F}"/>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24CD2CCB-D747-7FF6-6129-D301BFEB5464}"/>
              </a:ext>
            </a:extLst>
          </p:cNvPr>
          <p:cNvSpPr>
            <a:spLocks noGrp="1"/>
          </p:cNvSpPr>
          <p:nvPr>
            <p:ph type="sldNum" sz="quarter" idx="12"/>
          </p:nvPr>
        </p:nvSpPr>
        <p:spPr/>
        <p:txBody>
          <a:bodyPr/>
          <a:lstStyle/>
          <a:p>
            <a:fld id="{D3060201-1C40-4B39-813D-5CD9493BAEED}" type="slidenum">
              <a:rPr lang="en-US" smtClean="0"/>
              <a:t>39</a:t>
            </a:fld>
            <a:endParaRPr lang="en-US"/>
          </a:p>
        </p:txBody>
      </p:sp>
    </p:spTree>
    <p:extLst>
      <p:ext uri="{BB962C8B-B14F-4D97-AF65-F5344CB8AC3E}">
        <p14:creationId xmlns:p14="http://schemas.microsoft.com/office/powerpoint/2010/main" val="3546749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C04EB-6FA0-E86C-2506-404B173D6FD9}"/>
              </a:ext>
            </a:extLst>
          </p:cNvPr>
          <p:cNvSpPr>
            <a:spLocks noGrp="1"/>
          </p:cNvSpPr>
          <p:nvPr>
            <p:ph type="title"/>
          </p:nvPr>
        </p:nvSpPr>
        <p:spPr/>
        <p:txBody>
          <a:bodyPr/>
          <a:lstStyle/>
          <a:p>
            <a:pPr algn="ctr"/>
            <a:r>
              <a:rPr lang="vi-VN" b="0" i="0">
                <a:solidFill>
                  <a:srgbClr val="121214"/>
                </a:solidFill>
                <a:effectLst/>
                <a:latin typeface="+mj-lt"/>
              </a:rPr>
              <a:t>Exception</a:t>
            </a:r>
            <a:endParaRPr lang="en-US"/>
          </a:p>
        </p:txBody>
      </p:sp>
      <p:sp>
        <p:nvSpPr>
          <p:cNvPr id="3" name="Content Placeholder 2">
            <a:extLst>
              <a:ext uri="{FF2B5EF4-FFF2-40B4-BE49-F238E27FC236}">
                <a16:creationId xmlns:a16="http://schemas.microsoft.com/office/drawing/2014/main" id="{1BB4F3AF-08BF-EDD1-1065-FAD98080756A}"/>
              </a:ext>
            </a:extLst>
          </p:cNvPr>
          <p:cNvSpPr>
            <a:spLocks noGrp="1"/>
          </p:cNvSpPr>
          <p:nvPr>
            <p:ph idx="1"/>
          </p:nvPr>
        </p:nvSpPr>
        <p:spPr/>
        <p:txBody>
          <a:bodyPr>
            <a:noAutofit/>
          </a:bodyPr>
          <a:lstStyle/>
          <a:p>
            <a:r>
              <a:rPr lang="en-US" i="1">
                <a:solidFill>
                  <a:srgbClr val="000000"/>
                </a:solidFill>
                <a:effectLst/>
              </a:rPr>
              <a:t>assert Expression[, Arguments]</a:t>
            </a:r>
            <a:br>
              <a:rPr lang="en-US" i="1">
                <a:solidFill>
                  <a:srgbClr val="000000"/>
                </a:solidFill>
                <a:effectLst/>
              </a:rPr>
            </a:br>
            <a:r>
              <a:rPr lang="en-US" i="1">
                <a:solidFill>
                  <a:srgbClr val="000000"/>
                </a:solidFill>
                <a:effectLst/>
              </a:rPr>
              <a:t>raise [Exception [, args [, traceback]]]</a:t>
            </a:r>
            <a:br>
              <a:rPr lang="en-US" i="1">
                <a:solidFill>
                  <a:srgbClr val="000000"/>
                </a:solidFill>
                <a:effectLst/>
              </a:rPr>
            </a:br>
            <a:r>
              <a:rPr lang="en-US" i="1">
                <a:solidFill>
                  <a:srgbClr val="000000"/>
                </a:solidFill>
                <a:effectLst/>
              </a:rPr>
              <a:t>try:</a:t>
            </a:r>
            <a:br>
              <a:rPr lang="en-US" i="1">
                <a:solidFill>
                  <a:srgbClr val="000000"/>
                </a:solidFill>
                <a:effectLst/>
              </a:rPr>
            </a:br>
            <a:r>
              <a:rPr lang="en-US" i="1">
                <a:solidFill>
                  <a:srgbClr val="000000"/>
                </a:solidFill>
                <a:effectLst/>
              </a:rPr>
              <a:t>	You do your operations here;</a:t>
            </a:r>
            <a:br>
              <a:rPr lang="en-US" i="1">
                <a:solidFill>
                  <a:srgbClr val="000000"/>
                </a:solidFill>
                <a:effectLst/>
              </a:rPr>
            </a:br>
            <a:r>
              <a:rPr lang="en-US" i="1">
                <a:solidFill>
                  <a:srgbClr val="000000"/>
                </a:solidFill>
                <a:effectLst/>
              </a:rPr>
              <a:t>except ExceptionI:</a:t>
            </a:r>
            <a:br>
              <a:rPr lang="en-US" i="1">
                <a:solidFill>
                  <a:srgbClr val="000000"/>
                </a:solidFill>
                <a:effectLst/>
              </a:rPr>
            </a:br>
            <a:r>
              <a:rPr lang="en-US" i="1">
                <a:solidFill>
                  <a:srgbClr val="000000"/>
                </a:solidFill>
                <a:effectLst/>
              </a:rPr>
              <a:t>	If there is ExceptionI, then execute this block.</a:t>
            </a:r>
            <a:br>
              <a:rPr lang="en-US" i="1">
                <a:solidFill>
                  <a:srgbClr val="000000"/>
                </a:solidFill>
                <a:effectLst/>
              </a:rPr>
            </a:br>
            <a:r>
              <a:rPr lang="en-US" i="1">
                <a:solidFill>
                  <a:srgbClr val="000000"/>
                </a:solidFill>
                <a:effectLst/>
              </a:rPr>
              <a:t>except ExceptionII:</a:t>
            </a:r>
            <a:br>
              <a:rPr lang="en-US" i="1">
                <a:solidFill>
                  <a:srgbClr val="000000"/>
                </a:solidFill>
                <a:effectLst/>
              </a:rPr>
            </a:br>
            <a:r>
              <a:rPr lang="en-US" i="1">
                <a:solidFill>
                  <a:srgbClr val="000000"/>
                </a:solidFill>
                <a:effectLst/>
              </a:rPr>
              <a:t>	If there is ExceptionII, then execute this block.</a:t>
            </a:r>
            <a:br>
              <a:rPr lang="en-US" i="1">
                <a:solidFill>
                  <a:srgbClr val="000000"/>
                </a:solidFill>
                <a:effectLst/>
              </a:rPr>
            </a:br>
            <a:r>
              <a:rPr lang="en-US" i="1">
                <a:solidFill>
                  <a:srgbClr val="000000"/>
                </a:solidFill>
                <a:effectLst/>
              </a:rPr>
              <a:t>else:</a:t>
            </a:r>
            <a:br>
              <a:rPr lang="en-US" i="1">
                <a:solidFill>
                  <a:srgbClr val="000000"/>
                </a:solidFill>
                <a:effectLst/>
              </a:rPr>
            </a:br>
            <a:r>
              <a:rPr lang="en-US" i="1">
                <a:solidFill>
                  <a:srgbClr val="000000"/>
                </a:solidFill>
                <a:effectLst/>
              </a:rPr>
              <a:t>	If there is no exception then execute this block.</a:t>
            </a:r>
            <a:br>
              <a:rPr lang="en-US" i="1">
                <a:solidFill>
                  <a:srgbClr val="000000"/>
                </a:solidFill>
                <a:effectLst/>
              </a:rPr>
            </a:br>
            <a:r>
              <a:rPr lang="en-US" i="1">
                <a:solidFill>
                  <a:srgbClr val="000000"/>
                </a:solidFill>
                <a:effectLst/>
              </a:rPr>
              <a:t>finally:</a:t>
            </a:r>
            <a:br>
              <a:rPr lang="en-US" i="1">
                <a:solidFill>
                  <a:srgbClr val="000000"/>
                </a:solidFill>
                <a:effectLst/>
              </a:rPr>
            </a:br>
            <a:r>
              <a:rPr lang="en-US" i="1">
                <a:solidFill>
                  <a:srgbClr val="000000"/>
                </a:solidFill>
                <a:effectLst/>
              </a:rPr>
              <a:t>	This would always be executed.</a:t>
            </a:r>
            <a:r>
              <a:rPr lang="en-US" i="1"/>
              <a:t> </a:t>
            </a:r>
            <a:br>
              <a:rPr lang="en-US" i="1"/>
            </a:br>
            <a:endParaRPr lang="en-US" i="1"/>
          </a:p>
        </p:txBody>
      </p:sp>
      <p:sp>
        <p:nvSpPr>
          <p:cNvPr id="4" name="Date Placeholder 3">
            <a:extLst>
              <a:ext uri="{FF2B5EF4-FFF2-40B4-BE49-F238E27FC236}">
                <a16:creationId xmlns:a16="http://schemas.microsoft.com/office/drawing/2014/main" id="{A096DD2F-BFA6-9A6B-4D02-499A000AE037}"/>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50F8E5CE-4782-7ED2-9F32-69A0F60EFB2B}"/>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24968C98-94BB-6F83-AA70-72E72E8F6E74}"/>
              </a:ext>
            </a:extLst>
          </p:cNvPr>
          <p:cNvSpPr>
            <a:spLocks noGrp="1"/>
          </p:cNvSpPr>
          <p:nvPr>
            <p:ph type="sldNum" sz="quarter" idx="12"/>
          </p:nvPr>
        </p:nvSpPr>
        <p:spPr/>
        <p:txBody>
          <a:bodyPr/>
          <a:lstStyle/>
          <a:p>
            <a:fld id="{D3060201-1C40-4B39-813D-5CD9493BAEED}" type="slidenum">
              <a:rPr lang="en-US" smtClean="0"/>
              <a:t>40</a:t>
            </a:fld>
            <a:endParaRPr lang="en-US"/>
          </a:p>
        </p:txBody>
      </p:sp>
    </p:spTree>
    <p:extLst>
      <p:ext uri="{BB962C8B-B14F-4D97-AF65-F5344CB8AC3E}">
        <p14:creationId xmlns:p14="http://schemas.microsoft.com/office/powerpoint/2010/main" val="34263820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58583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6828207-E867-84EA-4DCB-7F252D495E6F}"/>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Exception</a:t>
            </a:r>
          </a:p>
        </p:txBody>
      </p:sp>
      <p:sp>
        <p:nvSpPr>
          <p:cNvPr id="12" name="Content Placeholder 11">
            <a:extLst>
              <a:ext uri="{FF2B5EF4-FFF2-40B4-BE49-F238E27FC236}">
                <a16:creationId xmlns:a16="http://schemas.microsoft.com/office/drawing/2014/main" id="{8ACA80F5-FD3B-575C-A9D8-93F5D0FBE789}"/>
              </a:ext>
            </a:extLst>
          </p:cNvPr>
          <p:cNvSpPr>
            <a:spLocks noGrp="1"/>
          </p:cNvSpPr>
          <p:nvPr>
            <p:ph idx="1"/>
          </p:nvPr>
        </p:nvSpPr>
        <p:spPr>
          <a:xfrm>
            <a:off x="492371" y="2653800"/>
            <a:ext cx="3084844" cy="3335519"/>
          </a:xfrm>
        </p:spPr>
        <p:txBody>
          <a:bodyPr>
            <a:normAutofit/>
          </a:bodyPr>
          <a:lstStyle/>
          <a:p>
            <a:r>
              <a:rPr lang="en-US" sz="1500">
                <a:solidFill>
                  <a:srgbClr val="FFFFFF"/>
                </a:solidFill>
              </a:rPr>
              <a:t>Ví dụ</a:t>
            </a:r>
          </a:p>
        </p:txBody>
      </p:sp>
      <p:sp>
        <p:nvSpPr>
          <p:cNvPr id="19" name="Rectangle 18">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F9F1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 name="Content Placeholder 7">
            <a:extLst>
              <a:ext uri="{FF2B5EF4-FFF2-40B4-BE49-F238E27FC236}">
                <a16:creationId xmlns:a16="http://schemas.microsoft.com/office/drawing/2014/main" id="{5E037A06-DF9C-17DF-F8E3-F5DBD13EA11F}"/>
              </a:ext>
            </a:extLst>
          </p:cNvPr>
          <p:cNvPicPr>
            <a:picLocks noChangeAspect="1"/>
          </p:cNvPicPr>
          <p:nvPr/>
        </p:nvPicPr>
        <p:blipFill>
          <a:blip r:embed="rId2"/>
          <a:stretch>
            <a:fillRect/>
          </a:stretch>
        </p:blipFill>
        <p:spPr>
          <a:xfrm>
            <a:off x="4742017" y="1049038"/>
            <a:ext cx="6798082" cy="4759923"/>
          </a:xfrm>
          <a:prstGeom prst="rect">
            <a:avLst/>
          </a:prstGeom>
        </p:spPr>
      </p:pic>
      <p:sp>
        <p:nvSpPr>
          <p:cNvPr id="5" name="Footer Placeholder 4">
            <a:extLst>
              <a:ext uri="{FF2B5EF4-FFF2-40B4-BE49-F238E27FC236}">
                <a16:creationId xmlns:a16="http://schemas.microsoft.com/office/drawing/2014/main" id="{BA40AD3A-759E-D99E-DB42-055B201AF74F}"/>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ECFA8350-FC0C-547E-0805-AF38ED3DCFD4}"/>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4E214B8D-A330-3307-6217-FF7390F0D580}"/>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41</a:t>
            </a:fld>
            <a:endParaRPr lang="en-US">
              <a:solidFill>
                <a:schemeClr val="tx2"/>
              </a:solidFill>
            </a:endParaRPr>
          </a:p>
        </p:txBody>
      </p:sp>
    </p:spTree>
    <p:extLst>
      <p:ext uri="{BB962C8B-B14F-4D97-AF65-F5344CB8AC3E}">
        <p14:creationId xmlns:p14="http://schemas.microsoft.com/office/powerpoint/2010/main" val="24271400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51FCA-3CD8-8F18-D11E-D0A446A34135}"/>
              </a:ext>
            </a:extLst>
          </p:cNvPr>
          <p:cNvSpPr>
            <a:spLocks noGrp="1"/>
          </p:cNvSpPr>
          <p:nvPr>
            <p:ph type="title"/>
          </p:nvPr>
        </p:nvSpPr>
        <p:spPr/>
        <p:txBody>
          <a:bodyPr/>
          <a:lstStyle/>
          <a:p>
            <a:pPr algn="ctr"/>
            <a:r>
              <a:rPr lang="vi-VN" sz="4800" b="0" i="0">
                <a:solidFill>
                  <a:srgbClr val="121214"/>
                </a:solidFill>
                <a:effectLst/>
                <a:latin typeface="+mj-lt"/>
              </a:rPr>
              <a:t>Lệnh assert trong Python</a:t>
            </a:r>
            <a:endParaRPr lang="en-US">
              <a:latin typeface="+mj-lt"/>
            </a:endParaRPr>
          </a:p>
        </p:txBody>
      </p:sp>
      <p:sp>
        <p:nvSpPr>
          <p:cNvPr id="3" name="Content Placeholder 2">
            <a:extLst>
              <a:ext uri="{FF2B5EF4-FFF2-40B4-BE49-F238E27FC236}">
                <a16:creationId xmlns:a16="http://schemas.microsoft.com/office/drawing/2014/main" id="{3277B1CB-6F67-86D7-00AA-55469E48E0C6}"/>
              </a:ext>
            </a:extLst>
          </p:cNvPr>
          <p:cNvSpPr>
            <a:spLocks noGrp="1"/>
          </p:cNvSpPr>
          <p:nvPr>
            <p:ph idx="1"/>
          </p:nvPr>
        </p:nvSpPr>
        <p:spPr/>
        <p:txBody>
          <a:bodyPr>
            <a:noAutofit/>
          </a:bodyPr>
          <a:lstStyle/>
          <a:p>
            <a:pPr>
              <a:lnSpc>
                <a:spcPct val="100000"/>
              </a:lnSpc>
              <a:buFont typeface="Wingdings" panose="05000000000000000000" pitchFamily="2" charset="2"/>
              <a:buChar char="v"/>
            </a:pPr>
            <a:r>
              <a:rPr lang="en-US">
                <a:solidFill>
                  <a:schemeClr val="tx1"/>
                </a:solidFill>
              </a:rPr>
              <a:t> </a:t>
            </a:r>
            <a:r>
              <a:rPr lang="vi-VN" b="0" i="0">
                <a:solidFill>
                  <a:schemeClr val="tx1"/>
                </a:solidFill>
                <a:effectLst/>
              </a:rPr>
              <a:t>Khi gặp lệnh assert, Python ước lượng biểu thức đi kèm. Nếu biểu</a:t>
            </a:r>
            <a:r>
              <a:rPr lang="en-US" b="0" i="0">
                <a:solidFill>
                  <a:schemeClr val="tx1"/>
                </a:solidFill>
                <a:effectLst/>
              </a:rPr>
              <a:t> </a:t>
            </a:r>
            <a:r>
              <a:rPr lang="vi-VN" b="0" i="0">
                <a:solidFill>
                  <a:schemeClr val="tx1"/>
                </a:solidFill>
                <a:effectLst/>
              </a:rPr>
              <a:t>thức là </a:t>
            </a:r>
            <a:r>
              <a:rPr lang="en-US">
                <a:solidFill>
                  <a:schemeClr val="tx1"/>
                </a:solidFill>
              </a:rPr>
              <a:t>False</a:t>
            </a:r>
            <a:r>
              <a:rPr lang="vi-VN" b="0" i="0">
                <a:solidFill>
                  <a:schemeClr val="tx1"/>
                </a:solidFill>
                <a:effectLst/>
              </a:rPr>
              <a:t>, thì Python tạo một ngoại lệ là </a:t>
            </a:r>
            <a:r>
              <a:rPr lang="vi-VN" b="1" i="0">
                <a:solidFill>
                  <a:schemeClr val="tx1"/>
                </a:solidFill>
                <a:effectLst/>
              </a:rPr>
              <a:t>AssertionError</a:t>
            </a:r>
            <a:r>
              <a:rPr lang="vi-VN" b="0" i="0">
                <a:solidFill>
                  <a:schemeClr val="tx1"/>
                </a:solidFill>
                <a:effectLst/>
              </a:rPr>
              <a:t>.</a:t>
            </a:r>
            <a:r>
              <a:rPr lang="vi-VN">
                <a:solidFill>
                  <a:schemeClr val="tx1"/>
                </a:solidFill>
              </a:rPr>
              <a:t> </a:t>
            </a:r>
            <a:endParaRPr lang="en-US">
              <a:solidFill>
                <a:schemeClr val="tx1"/>
              </a:solidFill>
            </a:endParaRPr>
          </a:p>
          <a:p>
            <a:pPr>
              <a:lnSpc>
                <a:spcPct val="100000"/>
              </a:lnSpc>
              <a:buFont typeface="Wingdings" panose="05000000000000000000" pitchFamily="2" charset="2"/>
              <a:buChar char="v"/>
            </a:pPr>
            <a:r>
              <a:rPr lang="en-US">
                <a:solidFill>
                  <a:schemeClr val="tx1"/>
                </a:solidFill>
              </a:rPr>
              <a:t>C</a:t>
            </a:r>
            <a:r>
              <a:rPr lang="en-US" b="0" i="0">
                <a:solidFill>
                  <a:schemeClr val="tx1"/>
                </a:solidFill>
                <a:effectLst/>
              </a:rPr>
              <a:t>ú pháp cho lệnh assert:</a:t>
            </a:r>
            <a:br>
              <a:rPr lang="en-US" b="0" i="0">
                <a:solidFill>
                  <a:schemeClr val="tx1"/>
                </a:solidFill>
                <a:effectLst/>
              </a:rPr>
            </a:br>
            <a:r>
              <a:rPr lang="en-US" i="1"/>
              <a:t>assert Expression [, Arguments]</a:t>
            </a:r>
          </a:p>
          <a:p>
            <a:pPr marL="0" indent="0">
              <a:lnSpc>
                <a:spcPct val="100000"/>
              </a:lnSpc>
              <a:buNone/>
            </a:pPr>
            <a:r>
              <a:rPr lang="en-US"/>
              <a:t>Với:</a:t>
            </a:r>
          </a:p>
          <a:p>
            <a:pPr marL="0" indent="0">
              <a:lnSpc>
                <a:spcPct val="100000"/>
              </a:lnSpc>
              <a:buNone/>
            </a:pPr>
            <a:r>
              <a:rPr lang="en-US"/>
              <a:t>E</a:t>
            </a:r>
            <a:r>
              <a:rPr lang="vi-VN"/>
              <a:t>xpression: Điều kiện cần kiểm tra. Nếu điều kiện này là False, một AssertionError sẽ được ném.</a:t>
            </a:r>
          </a:p>
          <a:p>
            <a:pPr marL="0" indent="0">
              <a:lnSpc>
                <a:spcPct val="100000"/>
              </a:lnSpc>
              <a:buNone/>
            </a:pPr>
            <a:r>
              <a:rPr lang="vi-VN"/>
              <a:t>Arguments (tùy chọn): Là các thông tin bổ sung được in ra khi AssertionError xảy ra.</a:t>
            </a:r>
            <a:endParaRPr lang="en-US"/>
          </a:p>
          <a:p>
            <a:pPr marL="0" indent="0">
              <a:lnSpc>
                <a:spcPct val="100000"/>
              </a:lnSpc>
              <a:buNone/>
            </a:pPr>
            <a:br>
              <a:rPr lang="en-US">
                <a:solidFill>
                  <a:schemeClr val="tx1"/>
                </a:solidFill>
              </a:rPr>
            </a:br>
            <a:endParaRPr lang="en-US">
              <a:solidFill>
                <a:schemeClr val="tx1"/>
              </a:solidFill>
            </a:endParaRPr>
          </a:p>
        </p:txBody>
      </p:sp>
      <p:sp>
        <p:nvSpPr>
          <p:cNvPr id="4" name="Date Placeholder 3">
            <a:extLst>
              <a:ext uri="{FF2B5EF4-FFF2-40B4-BE49-F238E27FC236}">
                <a16:creationId xmlns:a16="http://schemas.microsoft.com/office/drawing/2014/main" id="{8C81DDBB-9F9F-6E69-115F-3E6CBB2B50B1}"/>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EBC630DA-6AC6-3173-2C9B-EC2CE44BAF54}"/>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62A91DC7-A116-E3EA-EFEB-EDED68C28745}"/>
              </a:ext>
            </a:extLst>
          </p:cNvPr>
          <p:cNvSpPr>
            <a:spLocks noGrp="1"/>
          </p:cNvSpPr>
          <p:nvPr>
            <p:ph type="sldNum" sz="quarter" idx="12"/>
          </p:nvPr>
        </p:nvSpPr>
        <p:spPr/>
        <p:txBody>
          <a:bodyPr/>
          <a:lstStyle/>
          <a:p>
            <a:fld id="{D3060201-1C40-4B39-813D-5CD9493BAEED}" type="slidenum">
              <a:rPr lang="en-US" smtClean="0"/>
              <a:t>42</a:t>
            </a:fld>
            <a:endParaRPr lang="en-US"/>
          </a:p>
        </p:txBody>
      </p:sp>
    </p:spTree>
    <p:extLst>
      <p:ext uri="{BB962C8B-B14F-4D97-AF65-F5344CB8AC3E}">
        <p14:creationId xmlns:p14="http://schemas.microsoft.com/office/powerpoint/2010/main" val="1371704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9B4056F-1959-4627-A683-77F6C0603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1520130-5A50-345C-4209-CB210107058C}"/>
              </a:ext>
            </a:extLst>
          </p:cNvPr>
          <p:cNvPicPr>
            <a:picLocks noChangeAspect="1"/>
          </p:cNvPicPr>
          <p:nvPr/>
        </p:nvPicPr>
        <p:blipFill>
          <a:blip r:embed="rId2"/>
          <a:stretch>
            <a:fillRect/>
          </a:stretch>
        </p:blipFill>
        <p:spPr>
          <a:xfrm>
            <a:off x="1861974" y="643538"/>
            <a:ext cx="8469152" cy="3557043"/>
          </a:xfrm>
          <a:prstGeom prst="rect">
            <a:avLst/>
          </a:prstGeom>
        </p:spPr>
      </p:pic>
      <p:sp>
        <p:nvSpPr>
          <p:cNvPr id="32" name="Rectangle 31">
            <a:extLst>
              <a:ext uri="{FF2B5EF4-FFF2-40B4-BE49-F238E27FC236}">
                <a16:creationId xmlns:a16="http://schemas.microsoft.com/office/drawing/2014/main" id="{D8D7349B-C9FA-4FCE-A1FF-948F460A3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554906"/>
            <a:ext cx="12188952" cy="2303094"/>
          </a:xfrm>
          <a:prstGeom prst="rect">
            <a:avLst/>
          </a:prstGeom>
          <a:solidFill>
            <a:srgbClr val="5E3F4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3AAC148-9A8B-FD1C-66F2-062C543FC05E}"/>
              </a:ext>
            </a:extLst>
          </p:cNvPr>
          <p:cNvSpPr>
            <a:spLocks noGrp="1"/>
          </p:cNvSpPr>
          <p:nvPr>
            <p:ph type="title"/>
          </p:nvPr>
        </p:nvSpPr>
        <p:spPr>
          <a:xfrm>
            <a:off x="633998" y="4905301"/>
            <a:ext cx="4988879" cy="1554485"/>
          </a:xfrm>
        </p:spPr>
        <p:txBody>
          <a:bodyPr anchor="ctr">
            <a:normAutofit/>
          </a:bodyPr>
          <a:lstStyle/>
          <a:p>
            <a:pPr algn="r"/>
            <a:r>
              <a:rPr lang="vi-VN" sz="4000" b="0" i="0">
                <a:solidFill>
                  <a:srgbClr val="FFFFFF"/>
                </a:solidFill>
                <a:effectLst/>
                <a:latin typeface="+mj-lt"/>
              </a:rPr>
              <a:t>Lệnh assert trong Python</a:t>
            </a:r>
            <a:endParaRPr lang="en-US" sz="4000">
              <a:solidFill>
                <a:srgbClr val="FFFFFF"/>
              </a:solidFill>
            </a:endParaRPr>
          </a:p>
        </p:txBody>
      </p:sp>
      <p:sp>
        <p:nvSpPr>
          <p:cNvPr id="33" name="Rectangle 32">
            <a:extLst>
              <a:ext uri="{FF2B5EF4-FFF2-40B4-BE49-F238E27FC236}">
                <a16:creationId xmlns:a16="http://schemas.microsoft.com/office/drawing/2014/main" id="{4AF746F9-E85F-4BED-9D7E-562262E8B3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554906"/>
            <a:ext cx="12188952" cy="64008"/>
          </a:xfrm>
          <a:prstGeom prst="rect">
            <a:avLst/>
          </a:prstGeom>
          <a:solidFill>
            <a:srgbClr val="FB9F0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0" name="Straight Connector 29">
            <a:extLst>
              <a:ext uri="{FF2B5EF4-FFF2-40B4-BE49-F238E27FC236}">
                <a16:creationId xmlns:a16="http://schemas.microsoft.com/office/drawing/2014/main" id="{55646586-8E5D-4A2B-BDA9-01CE28AC89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0770" y="5247564"/>
            <a:ext cx="0" cy="873457"/>
          </a:xfrm>
          <a:prstGeom prst="line">
            <a:avLst/>
          </a:prstGeom>
          <a:ln w="15875">
            <a:solidFill>
              <a:srgbClr val="FB9F0B"/>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2E455641-1873-6197-A800-E16E61A0706B}"/>
              </a:ext>
            </a:extLst>
          </p:cNvPr>
          <p:cNvSpPr>
            <a:spLocks noGrp="1"/>
          </p:cNvSpPr>
          <p:nvPr>
            <p:ph type="dt" sz="half" idx="10"/>
          </p:nvPr>
        </p:nvSpPr>
        <p:spPr>
          <a:xfrm>
            <a:off x="1097280" y="6459785"/>
            <a:ext cx="2472271"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3" name="Content Placeholder 2">
            <a:extLst>
              <a:ext uri="{FF2B5EF4-FFF2-40B4-BE49-F238E27FC236}">
                <a16:creationId xmlns:a16="http://schemas.microsoft.com/office/drawing/2014/main" id="{575E8175-D7A2-7D8A-8D99-84A527E1A07D}"/>
              </a:ext>
            </a:extLst>
          </p:cNvPr>
          <p:cNvSpPr>
            <a:spLocks noGrp="1"/>
          </p:cNvSpPr>
          <p:nvPr>
            <p:ph idx="1"/>
          </p:nvPr>
        </p:nvSpPr>
        <p:spPr>
          <a:xfrm>
            <a:off x="6064301" y="4905300"/>
            <a:ext cx="5493699" cy="1554485"/>
          </a:xfrm>
        </p:spPr>
        <p:txBody>
          <a:bodyPr anchor="ctr">
            <a:noAutofit/>
          </a:bodyPr>
          <a:lstStyle/>
          <a:p>
            <a:pPr algn="just"/>
            <a:r>
              <a:rPr lang="vi-VN" sz="2000" b="0" i="0">
                <a:solidFill>
                  <a:srgbClr val="FFFFFF"/>
                </a:solidFill>
                <a:effectLst/>
                <a:latin typeface="+mj-lt"/>
              </a:rPr>
              <a:t>Nếu Assertion thất bại, Python sử dụng </a:t>
            </a:r>
            <a:r>
              <a:rPr lang="en-US" sz="2000" i="1">
                <a:solidFill>
                  <a:srgbClr val="FFFFFF"/>
                </a:solidFill>
              </a:rPr>
              <a:t>Arguments</a:t>
            </a:r>
            <a:r>
              <a:rPr lang="vi-VN" sz="2000" b="0" i="0">
                <a:solidFill>
                  <a:srgbClr val="FFFFFF"/>
                </a:solidFill>
                <a:effectLst/>
              </a:rPr>
              <a:t> l</a:t>
            </a:r>
            <a:r>
              <a:rPr lang="vi-VN" sz="2000" b="0" i="0">
                <a:solidFill>
                  <a:srgbClr val="FFFFFF"/>
                </a:solidFill>
                <a:effectLst/>
                <a:latin typeface="+mj-lt"/>
              </a:rPr>
              <a:t>à tham số cho AssertionError. Các ngoại lệ</a:t>
            </a:r>
            <a:r>
              <a:rPr lang="en-US" sz="2000" b="0" i="0">
                <a:solidFill>
                  <a:srgbClr val="FFFFFF"/>
                </a:solidFill>
                <a:effectLst/>
                <a:latin typeface="+mj-lt"/>
              </a:rPr>
              <a:t> </a:t>
            </a:r>
            <a:r>
              <a:rPr lang="vi-VN" sz="2000" b="0" i="0">
                <a:solidFill>
                  <a:srgbClr val="FFFFFF"/>
                </a:solidFill>
                <a:effectLst/>
                <a:latin typeface="+mj-lt"/>
              </a:rPr>
              <a:t>AssertionError có thể được bắt và được xử lý giống như bất kỳ ngoại lệ khác bởi sử dụng lệnh tryexcept, nhưng nếu không được xử lý thì chúng sẽ kết thúc chương trình và sẽ tạo một traceback.</a:t>
            </a:r>
            <a:r>
              <a:rPr lang="vi-VN" sz="2000">
                <a:solidFill>
                  <a:srgbClr val="FFFFFF"/>
                </a:solidFill>
                <a:latin typeface="+mj-lt"/>
              </a:rPr>
              <a:t> </a:t>
            </a:r>
            <a:br>
              <a:rPr lang="vi-VN" sz="2000">
                <a:solidFill>
                  <a:srgbClr val="FFFFFF"/>
                </a:solidFill>
                <a:latin typeface="+mj-lt"/>
              </a:rPr>
            </a:br>
            <a:endParaRPr lang="en-US" sz="2000">
              <a:solidFill>
                <a:srgbClr val="FFFFFF"/>
              </a:solidFill>
              <a:latin typeface="+mj-lt"/>
            </a:endParaRPr>
          </a:p>
        </p:txBody>
      </p:sp>
      <p:sp>
        <p:nvSpPr>
          <p:cNvPr id="5" name="Footer Placeholder 4">
            <a:extLst>
              <a:ext uri="{FF2B5EF4-FFF2-40B4-BE49-F238E27FC236}">
                <a16:creationId xmlns:a16="http://schemas.microsoft.com/office/drawing/2014/main" id="{379A687A-F1AF-D6AD-8A0D-7EAEC01BFD4E}"/>
              </a:ext>
            </a:extLst>
          </p:cNvPr>
          <p:cNvSpPr>
            <a:spLocks noGrp="1"/>
          </p:cNvSpPr>
          <p:nvPr>
            <p:ph type="ftr" sz="quarter" idx="11"/>
          </p:nvPr>
        </p:nvSpPr>
        <p:spPr>
          <a:xfrm>
            <a:off x="3686185" y="6459785"/>
            <a:ext cx="4822804" cy="365125"/>
          </a:xfrm>
        </p:spPr>
        <p:txBody>
          <a:bodyPr>
            <a:normAutofit/>
          </a:bodyPr>
          <a:lstStyle/>
          <a:p>
            <a:pPr>
              <a:spcAft>
                <a:spcPts val="600"/>
              </a:spcAft>
            </a:pPr>
            <a:r>
              <a:rPr lang="en-US"/>
              <a:t>Ngôn ngữ lập trình Python</a:t>
            </a:r>
          </a:p>
        </p:txBody>
      </p:sp>
      <p:sp>
        <p:nvSpPr>
          <p:cNvPr id="6" name="Slide Number Placeholder 5">
            <a:extLst>
              <a:ext uri="{FF2B5EF4-FFF2-40B4-BE49-F238E27FC236}">
                <a16:creationId xmlns:a16="http://schemas.microsoft.com/office/drawing/2014/main" id="{FBE8911E-4509-AF5D-3B35-246334503314}"/>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smtClean="0"/>
              <a:pPr>
                <a:spcAft>
                  <a:spcPts val="600"/>
                </a:spcAft>
              </a:pPr>
              <a:t>43</a:t>
            </a:fld>
            <a:endParaRPr lang="en-US"/>
          </a:p>
        </p:txBody>
      </p:sp>
    </p:spTree>
    <p:extLst>
      <p:ext uri="{BB962C8B-B14F-4D97-AF65-F5344CB8AC3E}">
        <p14:creationId xmlns:p14="http://schemas.microsoft.com/office/powerpoint/2010/main" val="36196157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29A2-F655-B69D-7B73-49FABFD747AD}"/>
              </a:ext>
            </a:extLst>
          </p:cNvPr>
          <p:cNvSpPr>
            <a:spLocks noGrp="1"/>
          </p:cNvSpPr>
          <p:nvPr>
            <p:ph type="title"/>
          </p:nvPr>
        </p:nvSpPr>
        <p:spPr/>
        <p:txBody>
          <a:bodyPr/>
          <a:lstStyle/>
          <a:p>
            <a:pPr algn="ctr"/>
            <a:r>
              <a:rPr lang="en-US"/>
              <a:t>Thao tác với file trong Python</a:t>
            </a:r>
          </a:p>
        </p:txBody>
      </p:sp>
      <p:sp>
        <p:nvSpPr>
          <p:cNvPr id="3" name="Content Placeholder 2">
            <a:extLst>
              <a:ext uri="{FF2B5EF4-FFF2-40B4-BE49-F238E27FC236}">
                <a16:creationId xmlns:a16="http://schemas.microsoft.com/office/drawing/2014/main" id="{6D059A4A-1FC5-656A-49B8-D6F483343EA4}"/>
              </a:ext>
            </a:extLst>
          </p:cNvPr>
          <p:cNvSpPr>
            <a:spLocks noGrp="1"/>
          </p:cNvSpPr>
          <p:nvPr>
            <p:ph idx="1"/>
          </p:nvPr>
        </p:nvSpPr>
        <p:spPr>
          <a:xfrm>
            <a:off x="1097280" y="1845734"/>
            <a:ext cx="10058400" cy="4440766"/>
          </a:xfrm>
        </p:spPr>
        <p:txBody>
          <a:bodyPr>
            <a:normAutofit fontScale="92500" lnSpcReduction="10000"/>
          </a:bodyPr>
          <a:lstStyle/>
          <a:p>
            <a:pPr>
              <a:buFont typeface="Wingdings" panose="05000000000000000000" pitchFamily="2" charset="2"/>
              <a:buChar char="v"/>
            </a:pPr>
            <a:r>
              <a:rPr lang="vi-VN" sz="2900"/>
              <a:t>Cú pháp</a:t>
            </a:r>
            <a:r>
              <a:rPr lang="en-US" sz="2900"/>
              <a:t> mở file:</a:t>
            </a:r>
            <a:endParaRPr lang="vi-VN" sz="2900"/>
          </a:p>
          <a:p>
            <a:r>
              <a:rPr lang="vi-VN" sz="2900" i="1"/>
              <a:t>file object = open(file_name [, access_mode][, buffering])</a:t>
            </a:r>
          </a:p>
          <a:p>
            <a:pPr>
              <a:lnSpc>
                <a:spcPct val="100000"/>
              </a:lnSpc>
            </a:pPr>
            <a:r>
              <a:rPr lang="vi-VN" sz="2400" b="1"/>
              <a:t>Trong đó:</a:t>
            </a:r>
          </a:p>
          <a:p>
            <a:pPr>
              <a:lnSpc>
                <a:spcPct val="100000"/>
              </a:lnSpc>
            </a:pPr>
            <a:r>
              <a:rPr lang="vi-VN" sz="2400"/>
              <a:t>filename: Đối số file_name là một giá trị chuỗi chứa tên của các file mà bạn muốn truy cập.</a:t>
            </a:r>
          </a:p>
          <a:p>
            <a:pPr>
              <a:lnSpc>
                <a:spcPct val="100000"/>
              </a:lnSpc>
            </a:pPr>
            <a:r>
              <a:rPr lang="vi-VN" sz="2400"/>
              <a:t>access_mode: Các access_mode xác định các chế độ của file được mở ra như read, write, append,... Đây là thông số tùy chọn và chế độ truy cập file mặc định là read (r).</a:t>
            </a:r>
          </a:p>
          <a:p>
            <a:pPr>
              <a:lnSpc>
                <a:spcPct val="100000"/>
              </a:lnSpc>
            </a:pPr>
            <a:r>
              <a:rPr lang="vi-VN" sz="2400"/>
              <a:t>buffering: Nếu buffer được thiết lập là 0, nghĩa là sẽ không có trình đệm nào diễn ra. Nếu xác định là 1, thì trình đệm dòng được thực hiện trong khi truy cập một File. Nếu là số nguyên lớn hơn 1, thì hoạt động đệm được thực hiện với kích cỡ bộ đệm đã cho. Nếu là số âm, thì kích cỡ bộ đệm sẽ là mặc định.</a:t>
            </a:r>
            <a:endParaRPr lang="en-US" sz="2400"/>
          </a:p>
        </p:txBody>
      </p:sp>
      <p:sp>
        <p:nvSpPr>
          <p:cNvPr id="4" name="Date Placeholder 3">
            <a:extLst>
              <a:ext uri="{FF2B5EF4-FFF2-40B4-BE49-F238E27FC236}">
                <a16:creationId xmlns:a16="http://schemas.microsoft.com/office/drawing/2014/main" id="{F67BB29C-B363-E762-527E-DE892824D960}"/>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EF75239F-D719-C912-05EE-D7ED9255B10B}"/>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99041817-BE9B-9FB9-513B-7C32EA1F7084}"/>
              </a:ext>
            </a:extLst>
          </p:cNvPr>
          <p:cNvSpPr>
            <a:spLocks noGrp="1"/>
          </p:cNvSpPr>
          <p:nvPr>
            <p:ph type="sldNum" sz="quarter" idx="12"/>
          </p:nvPr>
        </p:nvSpPr>
        <p:spPr/>
        <p:txBody>
          <a:bodyPr/>
          <a:lstStyle/>
          <a:p>
            <a:fld id="{D3060201-1C40-4B39-813D-5CD9493BAEED}" type="slidenum">
              <a:rPr lang="en-US" smtClean="0"/>
              <a:t>44</a:t>
            </a:fld>
            <a:endParaRPr lang="en-US"/>
          </a:p>
        </p:txBody>
      </p:sp>
    </p:spTree>
    <p:extLst>
      <p:ext uri="{BB962C8B-B14F-4D97-AF65-F5344CB8AC3E}">
        <p14:creationId xmlns:p14="http://schemas.microsoft.com/office/powerpoint/2010/main" val="19022211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A55DF8A-E1FA-371D-3B41-D1ECEEF1F772}"/>
              </a:ext>
            </a:extLst>
          </p:cNvPr>
          <p:cNvSpPr>
            <a:spLocks noGrp="1"/>
          </p:cNvSpPr>
          <p:nvPr>
            <p:ph type="title"/>
          </p:nvPr>
        </p:nvSpPr>
        <p:spPr>
          <a:xfrm>
            <a:off x="492370" y="516835"/>
            <a:ext cx="3084844" cy="5772840"/>
          </a:xfrm>
        </p:spPr>
        <p:txBody>
          <a:bodyPr anchor="ctr">
            <a:normAutofit/>
          </a:bodyPr>
          <a:lstStyle/>
          <a:p>
            <a:pPr algn="ctr"/>
            <a:r>
              <a:rPr lang="en-US" sz="3600">
                <a:solidFill>
                  <a:srgbClr val="FFFFFF"/>
                </a:solidFill>
              </a:rPr>
              <a:t>Thuộc tính mở file</a:t>
            </a:r>
          </a:p>
        </p:txBody>
      </p:sp>
      <p:sp>
        <p:nvSpPr>
          <p:cNvPr id="42" name="Rectangle 41">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Date Placeholder 3">
            <a:extLst>
              <a:ext uri="{FF2B5EF4-FFF2-40B4-BE49-F238E27FC236}">
                <a16:creationId xmlns:a16="http://schemas.microsoft.com/office/drawing/2014/main" id="{C00CDB65-A4E5-C76E-2A90-4183F3C9C830}"/>
              </a:ext>
            </a:extLst>
          </p:cNvPr>
          <p:cNvSpPr>
            <a:spLocks noGrp="1"/>
          </p:cNvSpPr>
          <p:nvPr>
            <p:ph type="dt" sz="half" idx="10"/>
          </p:nvPr>
        </p:nvSpPr>
        <p:spPr>
          <a:xfrm>
            <a:off x="492370" y="6459785"/>
            <a:ext cx="1735371"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A6C2CE3C-1D54-AEB5-E4B8-45820D90EE95}"/>
              </a:ext>
            </a:extLst>
          </p:cNvPr>
          <p:cNvSpPr>
            <a:spLocks noGrp="1"/>
          </p:cNvSpPr>
          <p:nvPr>
            <p:ph type="ftr" sz="quarter" idx="11"/>
          </p:nvPr>
        </p:nvSpPr>
        <p:spPr>
          <a:xfrm>
            <a:off x="4742017" y="6459785"/>
            <a:ext cx="5105169" cy="365125"/>
          </a:xfrm>
        </p:spPr>
        <p:txBody>
          <a:bodyPr>
            <a:normAutofit/>
          </a:bodyPr>
          <a:lstStyle/>
          <a:p>
            <a:pPr algn="l">
              <a:spcAft>
                <a:spcPts val="600"/>
              </a:spcAft>
            </a:pPr>
            <a:r>
              <a:rPr lang="en-US">
                <a:solidFill>
                  <a:schemeClr val="tx2"/>
                </a:solidFill>
              </a:rPr>
              <a:t>Ngôn ngữ lập trình Python</a:t>
            </a:r>
          </a:p>
        </p:txBody>
      </p:sp>
      <p:sp>
        <p:nvSpPr>
          <p:cNvPr id="6" name="Slide Number Placeholder 5">
            <a:extLst>
              <a:ext uri="{FF2B5EF4-FFF2-40B4-BE49-F238E27FC236}">
                <a16:creationId xmlns:a16="http://schemas.microsoft.com/office/drawing/2014/main" id="{128B7CCC-66C2-CF7C-3D41-10C49423CF7E}"/>
              </a:ext>
            </a:extLst>
          </p:cNvPr>
          <p:cNvSpPr>
            <a:spLocks noGrp="1"/>
          </p:cNvSpPr>
          <p:nvPr>
            <p:ph type="sldNum" sz="quarter" idx="12"/>
          </p:nvPr>
        </p:nvSpPr>
        <p:spPr>
          <a:xfrm>
            <a:off x="10123055" y="6459785"/>
            <a:ext cx="1089428" cy="365125"/>
          </a:xfrm>
        </p:spPr>
        <p:txBody>
          <a:bodyPr>
            <a:normAutofit/>
          </a:bodyPr>
          <a:lstStyle/>
          <a:p>
            <a:pPr>
              <a:spcAft>
                <a:spcPts val="600"/>
              </a:spcAft>
            </a:pPr>
            <a:fld id="{D3060201-1C40-4B39-813D-5CD9493BAEED}" type="slidenum">
              <a:rPr lang="en-US">
                <a:solidFill>
                  <a:schemeClr val="tx2"/>
                </a:solidFill>
              </a:rPr>
              <a:pPr>
                <a:spcAft>
                  <a:spcPts val="600"/>
                </a:spcAft>
              </a:pPr>
              <a:t>45</a:t>
            </a:fld>
            <a:endParaRPr lang="en-US">
              <a:solidFill>
                <a:schemeClr val="tx2"/>
              </a:solidFill>
            </a:endParaRPr>
          </a:p>
        </p:txBody>
      </p:sp>
      <p:graphicFrame>
        <p:nvGraphicFramePr>
          <p:cNvPr id="22" name="Content Placeholder 6">
            <a:extLst>
              <a:ext uri="{FF2B5EF4-FFF2-40B4-BE49-F238E27FC236}">
                <a16:creationId xmlns:a16="http://schemas.microsoft.com/office/drawing/2014/main" id="{530B34AE-2055-3B27-B11B-EF88E68D8FA3}"/>
              </a:ext>
            </a:extLst>
          </p:cNvPr>
          <p:cNvGraphicFramePr>
            <a:graphicFrameLocks noGrp="1"/>
          </p:cNvGraphicFramePr>
          <p:nvPr>
            <p:ph idx="1"/>
            <p:extLst>
              <p:ext uri="{D42A27DB-BD31-4B8C-83A1-F6EECF244321}">
                <p14:modId xmlns:p14="http://schemas.microsoft.com/office/powerpoint/2010/main" val="224906546"/>
              </p:ext>
            </p:extLst>
          </p:nvPr>
        </p:nvGraphicFramePr>
        <p:xfrm>
          <a:off x="4741863" y="1184841"/>
          <a:ext cx="6797676" cy="4559758"/>
        </p:xfrm>
        <a:graphic>
          <a:graphicData uri="http://schemas.openxmlformats.org/drawingml/2006/table">
            <a:tbl>
              <a:tblPr firstRow="1" firstCol="1" bandRow="1">
                <a:tableStyleId>{3B4B98B0-60AC-42C2-AFA5-B58CD77FA1E5}</a:tableStyleId>
              </a:tblPr>
              <a:tblGrid>
                <a:gridCol w="513569">
                  <a:extLst>
                    <a:ext uri="{9D8B030D-6E8A-4147-A177-3AD203B41FA5}">
                      <a16:colId xmlns:a16="http://schemas.microsoft.com/office/drawing/2014/main" val="95085703"/>
                    </a:ext>
                  </a:extLst>
                </a:gridCol>
                <a:gridCol w="6284107">
                  <a:extLst>
                    <a:ext uri="{9D8B030D-6E8A-4147-A177-3AD203B41FA5}">
                      <a16:colId xmlns:a16="http://schemas.microsoft.com/office/drawing/2014/main" val="1228491731"/>
                    </a:ext>
                  </a:extLst>
                </a:gridCol>
              </a:tblGrid>
              <a:tr h="330603">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r</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tc>
                  <a:txBody>
                    <a:bodyPr/>
                    <a:lstStyle/>
                    <a:p>
                      <a:pPr>
                        <a:lnSpc>
                          <a:spcPct val="115000"/>
                        </a:lnSpc>
                        <a:spcAft>
                          <a:spcPts val="800"/>
                        </a:spcAft>
                      </a:pPr>
                      <a:r>
                        <a:rPr lang="en-US" sz="1700" b="0" kern="100">
                          <a:effectLst/>
                          <a:latin typeface="Times New Roman" panose="02020603050405020304" pitchFamily="18" charset="0"/>
                          <a:cs typeface="Times New Roman" panose="02020603050405020304" pitchFamily="18" charset="0"/>
                        </a:rPr>
                        <a:t>Mở file để đọc</a:t>
                      </a:r>
                      <a:endParaRPr lang="en-US" sz="1700" b="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extLst>
                  <a:ext uri="{0D108BD9-81ED-4DB2-BD59-A6C34878D82A}">
                    <a16:rowId xmlns:a16="http://schemas.microsoft.com/office/drawing/2014/main" val="3074588957"/>
                  </a:ext>
                </a:extLst>
              </a:tr>
              <a:tr h="330603">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r+</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Mở file để đọc và ghi</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extLst>
                  <a:ext uri="{0D108BD9-81ED-4DB2-BD59-A6C34878D82A}">
                    <a16:rowId xmlns:a16="http://schemas.microsoft.com/office/drawing/2014/main" val="954084149"/>
                  </a:ext>
                </a:extLst>
              </a:tr>
              <a:tr h="974638">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w</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Mở file để ghi. </a:t>
                      </a:r>
                      <a:r>
                        <a:rPr lang="en-US" sz="1800" b="0" kern="1200">
                          <a:solidFill>
                            <a:schemeClr val="dk1"/>
                          </a:solidFill>
                          <a:effectLst/>
                          <a:latin typeface="Times New Roman" panose="02020603050405020304" pitchFamily="18" charset="0"/>
                          <a:cs typeface="Times New Roman" panose="02020603050405020304" pitchFamily="18" charset="0"/>
                        </a:rPr>
                        <a:t>Nếu file không tồn tại thì sẽ tạo mới file và ghi nội dung, nếu file đã tồn tại thì sẽ bị cắt bớt (truncate) và ghi đè lên nội dung cũ.</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extLst>
                  <a:ext uri="{0D108BD9-81ED-4DB2-BD59-A6C34878D82A}">
                    <a16:rowId xmlns:a16="http://schemas.microsoft.com/office/drawing/2014/main" val="4182182203"/>
                  </a:ext>
                </a:extLst>
              </a:tr>
              <a:tr h="974638">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w+</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tc>
                  <a:txBody>
                    <a:bodyPr/>
                    <a:lstStyle/>
                    <a:p>
                      <a:pPr>
                        <a:lnSpc>
                          <a:spcPct val="115000"/>
                        </a:lnSpc>
                        <a:spcAft>
                          <a:spcPts val="800"/>
                        </a:spcAft>
                      </a:pPr>
                      <a:r>
                        <a:rPr lang="en-US" sz="1800" b="0" kern="1200">
                          <a:solidFill>
                            <a:schemeClr val="dk1"/>
                          </a:solidFill>
                          <a:effectLst/>
                          <a:latin typeface="Times New Roman" panose="02020603050405020304" pitchFamily="18" charset="0"/>
                          <a:cs typeface="Times New Roman" panose="02020603050405020304" pitchFamily="18" charset="0"/>
                        </a:rPr>
                        <a:t>Mở file để đọc và ghi. Nếu file không tồn tại thì sẽ tạo mới file và ghi nội dung, nếu file đã tồn tại thì sẽ bị cắt bớt (truncate) và ghi đè lên nội dung cũ</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extLst>
                  <a:ext uri="{0D108BD9-81ED-4DB2-BD59-A6C34878D82A}">
                    <a16:rowId xmlns:a16="http://schemas.microsoft.com/office/drawing/2014/main" val="3814970569"/>
                  </a:ext>
                </a:extLst>
              </a:tr>
              <a:tr h="974638">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a</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tc>
                  <a:txBody>
                    <a:bodyPr/>
                    <a:lstStyle/>
                    <a:p>
                      <a:pPr>
                        <a:lnSpc>
                          <a:spcPct val="115000"/>
                        </a:lnSpc>
                        <a:spcAft>
                          <a:spcPts val="800"/>
                        </a:spcAft>
                      </a:pPr>
                      <a:r>
                        <a:rPr lang="en-US" sz="1800" b="0" kern="1200">
                          <a:solidFill>
                            <a:schemeClr val="dk1"/>
                          </a:solidFill>
                          <a:effectLst/>
                          <a:latin typeface="Times New Roman" panose="02020603050405020304" pitchFamily="18" charset="0"/>
                          <a:cs typeface="Times New Roman" panose="02020603050405020304" pitchFamily="18" charset="0"/>
                        </a:rPr>
                        <a:t>Mở file chế độ ghi tiếp. Nếu file đã tồn tại rồi thì nó sẽ ghi tiếp nội dung vào cuối file, nếu file không tồn tại thì tạo một file mới và ghi nội dung vào đó.</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extLst>
                  <a:ext uri="{0D108BD9-81ED-4DB2-BD59-A6C34878D82A}">
                    <a16:rowId xmlns:a16="http://schemas.microsoft.com/office/drawing/2014/main" val="2609898797"/>
                  </a:ext>
                </a:extLst>
              </a:tr>
              <a:tr h="974638">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a+</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tc>
                  <a:txBody>
                    <a:bodyPr/>
                    <a:lstStyle/>
                    <a:p>
                      <a:pPr>
                        <a:lnSpc>
                          <a:spcPct val="115000"/>
                        </a:lnSpc>
                        <a:spcAft>
                          <a:spcPts val="800"/>
                        </a:spcAft>
                      </a:pPr>
                      <a:r>
                        <a:rPr lang="en-US" sz="1800" b="0" kern="1200">
                          <a:solidFill>
                            <a:schemeClr val="dk1"/>
                          </a:solidFill>
                          <a:effectLst/>
                          <a:latin typeface="Times New Roman" panose="02020603050405020304" pitchFamily="18" charset="0"/>
                          <a:cs typeface="Times New Roman" panose="02020603050405020304" pitchFamily="18" charset="0"/>
                        </a:rPr>
                        <a:t>Mở file chế độ đọc và ghi tiếp. Nếu file đã tồn tại rồi thì nó sẽ ghi tiếp nội dung vào cuối file, nếu file không tồn tại thì tạo một file mới và ghi nội dung vào đó.</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78" marR="10678" marT="10678" marB="10678"/>
                </a:tc>
                <a:extLst>
                  <a:ext uri="{0D108BD9-81ED-4DB2-BD59-A6C34878D82A}">
                    <a16:rowId xmlns:a16="http://schemas.microsoft.com/office/drawing/2014/main" val="2532975689"/>
                  </a:ext>
                </a:extLst>
              </a:tr>
            </a:tbl>
          </a:graphicData>
        </a:graphic>
      </p:graphicFrame>
    </p:spTree>
    <p:extLst>
      <p:ext uri="{BB962C8B-B14F-4D97-AF65-F5344CB8AC3E}">
        <p14:creationId xmlns:p14="http://schemas.microsoft.com/office/powerpoint/2010/main" val="3013013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A55DF8A-E1FA-371D-3B41-D1ECEEF1F772}"/>
              </a:ext>
            </a:extLst>
          </p:cNvPr>
          <p:cNvSpPr>
            <a:spLocks noGrp="1"/>
          </p:cNvSpPr>
          <p:nvPr>
            <p:ph type="title"/>
          </p:nvPr>
        </p:nvSpPr>
        <p:spPr>
          <a:xfrm>
            <a:off x="492370" y="516835"/>
            <a:ext cx="3084844" cy="2103875"/>
          </a:xfrm>
        </p:spPr>
        <p:txBody>
          <a:bodyPr>
            <a:normAutofit/>
          </a:bodyPr>
          <a:lstStyle/>
          <a:p>
            <a:pPr algn="ctr"/>
            <a:r>
              <a:rPr lang="en-US" sz="3600">
                <a:solidFill>
                  <a:srgbClr val="FFFFFF"/>
                </a:solidFill>
              </a:rPr>
              <a:t>Thuộc tính mở file</a:t>
            </a:r>
          </a:p>
        </p:txBody>
      </p:sp>
      <p:sp>
        <p:nvSpPr>
          <p:cNvPr id="12" name="Content Placeholder 11">
            <a:extLst>
              <a:ext uri="{FF2B5EF4-FFF2-40B4-BE49-F238E27FC236}">
                <a16:creationId xmlns:a16="http://schemas.microsoft.com/office/drawing/2014/main" id="{32641D66-8DEA-9390-8395-9CB73995F3D0}"/>
              </a:ext>
            </a:extLst>
          </p:cNvPr>
          <p:cNvSpPr>
            <a:spLocks noGrp="1"/>
          </p:cNvSpPr>
          <p:nvPr>
            <p:ph idx="1"/>
          </p:nvPr>
        </p:nvSpPr>
        <p:spPr>
          <a:xfrm>
            <a:off x="492371" y="2653800"/>
            <a:ext cx="3084844" cy="3335519"/>
          </a:xfrm>
        </p:spPr>
        <p:txBody>
          <a:bodyPr>
            <a:normAutofit/>
          </a:bodyPr>
          <a:lstStyle/>
          <a:p>
            <a:endParaRPr lang="en-US" sz="1500">
              <a:solidFill>
                <a:srgbClr val="FFFFFF"/>
              </a:solidFill>
            </a:endParaRPr>
          </a:p>
        </p:txBody>
      </p:sp>
      <p:sp>
        <p:nvSpPr>
          <p:cNvPr id="19" name="Rectangle 18">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Footer Placeholder 4">
            <a:extLst>
              <a:ext uri="{FF2B5EF4-FFF2-40B4-BE49-F238E27FC236}">
                <a16:creationId xmlns:a16="http://schemas.microsoft.com/office/drawing/2014/main" id="{A6C2CE3C-1D54-AEB5-E4B8-45820D90EE95}"/>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C00CDB65-A4E5-C76E-2A90-4183F3C9C830}"/>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128B7CCC-66C2-CF7C-3D41-10C49423CF7E}"/>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46</a:t>
            </a:fld>
            <a:endParaRPr lang="en-US">
              <a:solidFill>
                <a:schemeClr val="tx2"/>
              </a:solidFill>
            </a:endParaRPr>
          </a:p>
        </p:txBody>
      </p:sp>
      <p:graphicFrame>
        <p:nvGraphicFramePr>
          <p:cNvPr id="10" name="Content Placeholder 6">
            <a:extLst>
              <a:ext uri="{FF2B5EF4-FFF2-40B4-BE49-F238E27FC236}">
                <a16:creationId xmlns:a16="http://schemas.microsoft.com/office/drawing/2014/main" id="{530B34AE-2055-3B27-B11B-EF88E68D8FA3}"/>
              </a:ext>
            </a:extLst>
          </p:cNvPr>
          <p:cNvGraphicFramePr>
            <a:graphicFrameLocks/>
          </p:cNvGraphicFramePr>
          <p:nvPr>
            <p:extLst>
              <p:ext uri="{D42A27DB-BD31-4B8C-83A1-F6EECF244321}">
                <p14:modId xmlns:p14="http://schemas.microsoft.com/office/powerpoint/2010/main" val="3140518066"/>
              </p:ext>
            </p:extLst>
          </p:nvPr>
        </p:nvGraphicFramePr>
        <p:xfrm>
          <a:off x="4739668" y="1076844"/>
          <a:ext cx="6696510" cy="4453860"/>
        </p:xfrm>
        <a:graphic>
          <a:graphicData uri="http://schemas.openxmlformats.org/drawingml/2006/table">
            <a:tbl>
              <a:tblPr firstRow="1" firstCol="1" bandRow="1">
                <a:tableStyleId>{3B4B98B0-60AC-42C2-AFA5-B58CD77FA1E5}</a:tableStyleId>
              </a:tblPr>
              <a:tblGrid>
                <a:gridCol w="514491">
                  <a:extLst>
                    <a:ext uri="{9D8B030D-6E8A-4147-A177-3AD203B41FA5}">
                      <a16:colId xmlns:a16="http://schemas.microsoft.com/office/drawing/2014/main" val="95085703"/>
                    </a:ext>
                  </a:extLst>
                </a:gridCol>
                <a:gridCol w="6182019">
                  <a:extLst>
                    <a:ext uri="{9D8B030D-6E8A-4147-A177-3AD203B41FA5}">
                      <a16:colId xmlns:a16="http://schemas.microsoft.com/office/drawing/2014/main" val="1228491731"/>
                    </a:ext>
                  </a:extLst>
                </a:gridCol>
              </a:tblGrid>
              <a:tr h="583931">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rb</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tc>
                  <a:txBody>
                    <a:bodyPr/>
                    <a:lstStyle/>
                    <a:p>
                      <a:pPr>
                        <a:lnSpc>
                          <a:spcPct val="115000"/>
                        </a:lnSpc>
                        <a:spcAft>
                          <a:spcPts val="800"/>
                        </a:spcAft>
                      </a:pPr>
                      <a:r>
                        <a:rPr lang="en-US" sz="1700" b="0" kern="100">
                          <a:effectLst/>
                          <a:latin typeface="Times New Roman" panose="02020603050405020304" pitchFamily="18" charset="0"/>
                          <a:cs typeface="Times New Roman" panose="02020603050405020304" pitchFamily="18" charset="0"/>
                        </a:rPr>
                        <a:t>Mở file trong chế độ đọc cho định dạng nhị phân, đây là chế độ mặc định. Con trỏ tại phần bắt đầu của file</a:t>
                      </a:r>
                      <a:endParaRPr lang="en-US" sz="1700" b="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extLst>
                  <a:ext uri="{0D108BD9-81ED-4DB2-BD59-A6C34878D82A}">
                    <a16:rowId xmlns:a16="http://schemas.microsoft.com/office/drawing/2014/main" val="3074588957"/>
                  </a:ext>
                </a:extLst>
              </a:tr>
              <a:tr h="583931">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rb+</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Mở file để đọc và ghi trong định dạng nhị phân. Con trỏ tại phần bắt đầu của file</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extLst>
                  <a:ext uri="{0D108BD9-81ED-4DB2-BD59-A6C34878D82A}">
                    <a16:rowId xmlns:a16="http://schemas.microsoft.com/office/drawing/2014/main" val="954084149"/>
                  </a:ext>
                </a:extLst>
              </a:tr>
              <a:tr h="583931">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wb</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Mở file trong chế độ ghi trong định dạng nhị phân. Nếu file đã tồn tại, thì ghi đè nội dung của file đó, nếu không thì tạo một file mới</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extLst>
                  <a:ext uri="{0D108BD9-81ED-4DB2-BD59-A6C34878D82A}">
                    <a16:rowId xmlns:a16="http://schemas.microsoft.com/office/drawing/2014/main" val="2609898797"/>
                  </a:ext>
                </a:extLst>
              </a:tr>
              <a:tr h="583931">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wb+</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Mở file để đọc và ghi trong định dạng nhị phân. Nếu file tồn tại thì ghi đè nội dung của nó, nếu file không tồn tại thì tạo một file mới để đọc và ghi</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extLst>
                  <a:ext uri="{0D108BD9-81ED-4DB2-BD59-A6C34878D82A}">
                    <a16:rowId xmlns:a16="http://schemas.microsoft.com/office/drawing/2014/main" val="2532975689"/>
                  </a:ext>
                </a:extLst>
              </a:tr>
              <a:tr h="583931">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ab</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Mở file trong chế độ append trong chế độ nhị phân. Con trỏ là ở cuối file nếu file này đã tồn tại. Nếu file không tồn tại, thì tạo một file mới để ghi</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extLst>
                  <a:ext uri="{0D108BD9-81ED-4DB2-BD59-A6C34878D82A}">
                    <a16:rowId xmlns:a16="http://schemas.microsoft.com/office/drawing/2014/main" val="2988976215"/>
                  </a:ext>
                </a:extLst>
              </a:tr>
              <a:tr h="845400">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ab+</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tc>
                  <a:txBody>
                    <a:bodyPr/>
                    <a:lstStyle/>
                    <a:p>
                      <a:pPr>
                        <a:lnSpc>
                          <a:spcPct val="115000"/>
                        </a:lnSpc>
                        <a:spcAft>
                          <a:spcPts val="800"/>
                        </a:spcAft>
                      </a:pPr>
                      <a:r>
                        <a:rPr lang="en-US" sz="1700" kern="100">
                          <a:effectLst/>
                          <a:latin typeface="Times New Roman" panose="02020603050405020304" pitchFamily="18" charset="0"/>
                          <a:cs typeface="Times New Roman" panose="02020603050405020304" pitchFamily="18" charset="0"/>
                        </a:rPr>
                        <a:t>Mở file trong để đọc và append trong định dạng nhị phân. Con trỏ file tại cuối nếu file đã tồn tại. Nếu không tồn tại thì tạo một file mới để đọc và ghi</a:t>
                      </a:r>
                      <a:endParaRPr lang="en-US" sz="17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10697" marR="10697" marT="10697" marB="10697"/>
                </a:tc>
                <a:extLst>
                  <a:ext uri="{0D108BD9-81ED-4DB2-BD59-A6C34878D82A}">
                    <a16:rowId xmlns:a16="http://schemas.microsoft.com/office/drawing/2014/main" val="3395187876"/>
                  </a:ext>
                </a:extLst>
              </a:tr>
            </a:tbl>
          </a:graphicData>
        </a:graphic>
      </p:graphicFrame>
    </p:spTree>
    <p:extLst>
      <p:ext uri="{BB962C8B-B14F-4D97-AF65-F5344CB8AC3E}">
        <p14:creationId xmlns:p14="http://schemas.microsoft.com/office/powerpoint/2010/main" val="31762927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C8081F-E5F4-60DD-2BB5-1346FB79E101}"/>
              </a:ext>
            </a:extLst>
          </p:cNvPr>
          <p:cNvSpPr>
            <a:spLocks noGrp="1"/>
          </p:cNvSpPr>
          <p:nvPr>
            <p:ph type="title"/>
          </p:nvPr>
        </p:nvSpPr>
        <p:spPr>
          <a:xfrm>
            <a:off x="1097280" y="286603"/>
            <a:ext cx="10058400" cy="1450757"/>
          </a:xfrm>
        </p:spPr>
        <p:txBody>
          <a:bodyPr>
            <a:normAutofit/>
          </a:bodyPr>
          <a:lstStyle/>
          <a:p>
            <a:r>
              <a:rPr lang="en-US"/>
              <a:t>Thao tác với file trong Python</a:t>
            </a:r>
          </a:p>
        </p:txBody>
      </p:sp>
      <p:cxnSp>
        <p:nvCxnSpPr>
          <p:cNvPr id="32" name="Straight Connector 31">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CCB31BB-8333-0350-B680-02DDECA7FE3A}"/>
              </a:ext>
            </a:extLst>
          </p:cNvPr>
          <p:cNvSpPr>
            <a:spLocks noGrp="1"/>
          </p:cNvSpPr>
          <p:nvPr>
            <p:ph idx="1"/>
          </p:nvPr>
        </p:nvSpPr>
        <p:spPr>
          <a:xfrm>
            <a:off x="1097279" y="1845734"/>
            <a:ext cx="6454987" cy="4023360"/>
          </a:xfrm>
        </p:spPr>
        <p:txBody>
          <a:bodyPr>
            <a:normAutofit/>
          </a:bodyPr>
          <a:lstStyle/>
          <a:p>
            <a:pPr>
              <a:buFont typeface="Wingdings" panose="05000000000000000000" pitchFamily="2" charset="2"/>
              <a:buChar char="v"/>
            </a:pPr>
            <a:r>
              <a:rPr lang="en-US" sz="2300" b="1"/>
              <a:t>Cú pháp đóng file:</a:t>
            </a:r>
          </a:p>
          <a:p>
            <a:r>
              <a:rPr lang="en-US" sz="2300" i="1"/>
              <a:t>file.close()</a:t>
            </a:r>
          </a:p>
          <a:p>
            <a:pPr>
              <a:buFont typeface="Wingdings" panose="05000000000000000000" pitchFamily="2" charset="2"/>
              <a:buChar char="v"/>
            </a:pPr>
            <a:r>
              <a:rPr lang="en-US" sz="2300" b="1"/>
              <a:t>Đọc file:</a:t>
            </a:r>
          </a:p>
          <a:p>
            <a:pPr lvl="1">
              <a:buFont typeface="Courier New" panose="02070309020205020404" pitchFamily="49" charset="0"/>
              <a:buChar char="o"/>
            </a:pPr>
            <a:r>
              <a:rPr lang="en-US" sz="2300" b="1"/>
              <a:t>Phương thức read:</a:t>
            </a:r>
          </a:p>
          <a:p>
            <a:pPr marL="0" indent="0">
              <a:buNone/>
            </a:pPr>
            <a:r>
              <a:rPr lang="vi-VN" sz="2300"/>
              <a:t>Cú pháp:</a:t>
            </a:r>
          </a:p>
          <a:p>
            <a:pPr marL="0" indent="0">
              <a:buNone/>
            </a:pPr>
            <a:r>
              <a:rPr lang="vi-VN" sz="2300" i="1"/>
              <a:t>fileObject.read([size])</a:t>
            </a:r>
          </a:p>
          <a:p>
            <a:pPr marL="0" indent="0">
              <a:buNone/>
            </a:pPr>
            <a:r>
              <a:rPr lang="vi-VN" sz="2300"/>
              <a:t>Phương thức này trả về một chuỗi có kích thước bằng size. Nếu không truyền size thì toàn bộ nội dung của file sẽ được đọc.</a:t>
            </a:r>
            <a:endParaRPr lang="en-US" sz="2300"/>
          </a:p>
        </p:txBody>
      </p:sp>
      <p:pic>
        <p:nvPicPr>
          <p:cNvPr id="8" name="Picture 7">
            <a:extLst>
              <a:ext uri="{FF2B5EF4-FFF2-40B4-BE49-F238E27FC236}">
                <a16:creationId xmlns:a16="http://schemas.microsoft.com/office/drawing/2014/main" id="{B946E04B-1B43-F7E4-3440-2B8892039FAA}"/>
              </a:ext>
            </a:extLst>
          </p:cNvPr>
          <p:cNvPicPr>
            <a:picLocks noChangeAspect="1"/>
          </p:cNvPicPr>
          <p:nvPr/>
        </p:nvPicPr>
        <p:blipFill>
          <a:blip r:embed="rId2"/>
          <a:stretch>
            <a:fillRect/>
          </a:stretch>
        </p:blipFill>
        <p:spPr>
          <a:xfrm>
            <a:off x="5984711" y="2834659"/>
            <a:ext cx="5296362" cy="1727811"/>
          </a:xfrm>
          <a:prstGeom prst="rect">
            <a:avLst/>
          </a:prstGeom>
        </p:spPr>
      </p:pic>
      <p:sp>
        <p:nvSpPr>
          <p:cNvPr id="33" name="Rectangle 32">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FFA01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564C3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Date Placeholder 3">
            <a:extLst>
              <a:ext uri="{FF2B5EF4-FFF2-40B4-BE49-F238E27FC236}">
                <a16:creationId xmlns:a16="http://schemas.microsoft.com/office/drawing/2014/main" id="{314FDC0E-67A9-184F-7DBD-8DD203E6D034}"/>
              </a:ext>
            </a:extLst>
          </p:cNvPr>
          <p:cNvSpPr>
            <a:spLocks noGrp="1"/>
          </p:cNvSpPr>
          <p:nvPr>
            <p:ph type="dt" sz="half" idx="10"/>
          </p:nvPr>
        </p:nvSpPr>
        <p:spPr>
          <a:xfrm>
            <a:off x="1097280" y="6459785"/>
            <a:ext cx="2472271"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A4BE8C6B-AE08-3E33-23F5-46BEB602F17D}"/>
              </a:ext>
            </a:extLst>
          </p:cNvPr>
          <p:cNvSpPr>
            <a:spLocks noGrp="1"/>
          </p:cNvSpPr>
          <p:nvPr>
            <p:ph type="ftr" sz="quarter" idx="11"/>
          </p:nvPr>
        </p:nvSpPr>
        <p:spPr>
          <a:xfrm>
            <a:off x="3686185" y="6459785"/>
            <a:ext cx="4822804" cy="365125"/>
          </a:xfrm>
        </p:spPr>
        <p:txBody>
          <a:bodyPr>
            <a:normAutofit/>
          </a:bodyPr>
          <a:lstStyle/>
          <a:p>
            <a:pPr>
              <a:spcAft>
                <a:spcPts val="600"/>
              </a:spcAft>
            </a:pPr>
            <a:r>
              <a:rPr lang="en-US"/>
              <a:t>Ngôn ngữ lập trình Python</a:t>
            </a:r>
          </a:p>
        </p:txBody>
      </p:sp>
      <p:sp>
        <p:nvSpPr>
          <p:cNvPr id="6" name="Slide Number Placeholder 5">
            <a:extLst>
              <a:ext uri="{FF2B5EF4-FFF2-40B4-BE49-F238E27FC236}">
                <a16:creationId xmlns:a16="http://schemas.microsoft.com/office/drawing/2014/main" id="{AD33EFA6-147B-EE55-77E4-213D2BFF6942}"/>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smtClean="0"/>
              <a:pPr>
                <a:spcAft>
                  <a:spcPts val="600"/>
                </a:spcAft>
              </a:pPr>
              <a:t>47</a:t>
            </a:fld>
            <a:endParaRPr lang="en-US"/>
          </a:p>
        </p:txBody>
      </p:sp>
    </p:spTree>
    <p:extLst>
      <p:ext uri="{BB962C8B-B14F-4D97-AF65-F5344CB8AC3E}">
        <p14:creationId xmlns:p14="http://schemas.microsoft.com/office/powerpoint/2010/main" val="24884951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2B6269-7A80-5630-BC6A-3CF2A21F0D4B}"/>
              </a:ext>
            </a:extLst>
          </p:cNvPr>
          <p:cNvSpPr>
            <a:spLocks noGrp="1"/>
          </p:cNvSpPr>
          <p:nvPr>
            <p:ph type="title"/>
          </p:nvPr>
        </p:nvSpPr>
        <p:spPr>
          <a:xfrm>
            <a:off x="1097280" y="286603"/>
            <a:ext cx="10058400" cy="1450757"/>
          </a:xfrm>
        </p:spPr>
        <p:txBody>
          <a:bodyPr>
            <a:normAutofit/>
          </a:bodyPr>
          <a:lstStyle/>
          <a:p>
            <a:r>
              <a:rPr lang="en-US"/>
              <a:t>Đọc file</a:t>
            </a:r>
          </a:p>
        </p:txBody>
      </p:sp>
      <p:cxnSp>
        <p:nvCxnSpPr>
          <p:cNvPr id="41" name="Straight Connector 40">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A3390D5-B61E-71FB-64CF-1D6B244C2BA1}"/>
              </a:ext>
            </a:extLst>
          </p:cNvPr>
          <p:cNvSpPr>
            <a:spLocks noGrp="1"/>
          </p:cNvSpPr>
          <p:nvPr>
            <p:ph idx="1"/>
          </p:nvPr>
        </p:nvSpPr>
        <p:spPr>
          <a:xfrm>
            <a:off x="1097280" y="1845734"/>
            <a:ext cx="4436746" cy="4023360"/>
          </a:xfrm>
        </p:spPr>
        <p:txBody>
          <a:bodyPr>
            <a:normAutofit/>
          </a:bodyPr>
          <a:lstStyle/>
          <a:p>
            <a:pPr>
              <a:lnSpc>
                <a:spcPct val="150000"/>
              </a:lnSpc>
              <a:buFont typeface="Courier New" panose="02070309020205020404" pitchFamily="49" charset="0"/>
              <a:buChar char="o"/>
            </a:pPr>
            <a:r>
              <a:rPr lang="en-US" b="1"/>
              <a:t>Phương thức readline:</a:t>
            </a:r>
          </a:p>
          <a:p>
            <a:pPr>
              <a:lnSpc>
                <a:spcPct val="150000"/>
              </a:lnSpc>
            </a:pPr>
            <a:r>
              <a:rPr lang="vi-VN"/>
              <a:t>Cú pháp:</a:t>
            </a:r>
          </a:p>
          <a:p>
            <a:pPr>
              <a:lnSpc>
                <a:spcPct val="150000"/>
              </a:lnSpc>
            </a:pPr>
            <a:r>
              <a:rPr lang="vi-VN" i="1"/>
              <a:t>fileObject.readline()</a:t>
            </a:r>
          </a:p>
          <a:p>
            <a:pPr>
              <a:lnSpc>
                <a:spcPct val="150000"/>
              </a:lnSpc>
            </a:pPr>
            <a:r>
              <a:rPr lang="vi-VN"/>
              <a:t>Phương thức này cho phép đọc một dòng trong file và trả về chuỗi.</a:t>
            </a:r>
            <a:endParaRPr lang="en-US"/>
          </a:p>
        </p:txBody>
      </p:sp>
      <p:pic>
        <p:nvPicPr>
          <p:cNvPr id="10" name="Picture 9">
            <a:extLst>
              <a:ext uri="{FF2B5EF4-FFF2-40B4-BE49-F238E27FC236}">
                <a16:creationId xmlns:a16="http://schemas.microsoft.com/office/drawing/2014/main" id="{BA459BF1-3D9D-6DF2-4CDD-F45C3B6EC066}"/>
              </a:ext>
            </a:extLst>
          </p:cNvPr>
          <p:cNvPicPr>
            <a:picLocks noChangeAspect="1"/>
          </p:cNvPicPr>
          <p:nvPr/>
        </p:nvPicPr>
        <p:blipFill>
          <a:blip r:embed="rId2"/>
          <a:stretch>
            <a:fillRect/>
          </a:stretch>
        </p:blipFill>
        <p:spPr>
          <a:xfrm>
            <a:off x="5921482" y="2565011"/>
            <a:ext cx="5291001" cy="2490709"/>
          </a:xfrm>
          <a:prstGeom prst="rect">
            <a:avLst/>
          </a:prstGeom>
        </p:spPr>
      </p:pic>
      <p:sp>
        <p:nvSpPr>
          <p:cNvPr id="43" name="Rectangle 42">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FFA00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5" name="Rectangle 44">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4E3C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Date Placeholder 3">
            <a:extLst>
              <a:ext uri="{FF2B5EF4-FFF2-40B4-BE49-F238E27FC236}">
                <a16:creationId xmlns:a16="http://schemas.microsoft.com/office/drawing/2014/main" id="{8EE726D2-4C4C-747E-3F9E-FA2FF7DCF9F2}"/>
              </a:ext>
            </a:extLst>
          </p:cNvPr>
          <p:cNvSpPr>
            <a:spLocks noGrp="1"/>
          </p:cNvSpPr>
          <p:nvPr>
            <p:ph type="dt" sz="half" idx="10"/>
          </p:nvPr>
        </p:nvSpPr>
        <p:spPr>
          <a:xfrm>
            <a:off x="1097280" y="6459785"/>
            <a:ext cx="2472271" cy="365125"/>
          </a:xfrm>
        </p:spPr>
        <p:txBody>
          <a:bodyPr>
            <a:normAutofit/>
          </a:bodyPr>
          <a:lstStyle/>
          <a:p>
            <a:pPr>
              <a:spcAft>
                <a:spcPts val="600"/>
              </a:spcAft>
            </a:pPr>
            <a:fld id="{935EA789-2EE1-4021-98DD-1084CC2D34AE}" type="datetime1">
              <a:rPr lang="en-US" smtClean="0"/>
              <a:pPr>
                <a:spcAft>
                  <a:spcPts val="600"/>
                </a:spcAft>
              </a:pPr>
              <a:t>7/25/2024</a:t>
            </a:fld>
            <a:endParaRPr lang="en-US"/>
          </a:p>
        </p:txBody>
      </p:sp>
      <p:sp>
        <p:nvSpPr>
          <p:cNvPr id="5" name="Footer Placeholder 4">
            <a:extLst>
              <a:ext uri="{FF2B5EF4-FFF2-40B4-BE49-F238E27FC236}">
                <a16:creationId xmlns:a16="http://schemas.microsoft.com/office/drawing/2014/main" id="{50D93A39-032E-682F-928F-7DFCFB43CBE9}"/>
              </a:ext>
            </a:extLst>
          </p:cNvPr>
          <p:cNvSpPr>
            <a:spLocks noGrp="1"/>
          </p:cNvSpPr>
          <p:nvPr>
            <p:ph type="ftr" sz="quarter" idx="11"/>
          </p:nvPr>
        </p:nvSpPr>
        <p:spPr>
          <a:xfrm>
            <a:off x="3686185" y="6459785"/>
            <a:ext cx="4822804" cy="365125"/>
          </a:xfrm>
        </p:spPr>
        <p:txBody>
          <a:bodyPr>
            <a:normAutofit/>
          </a:bodyPr>
          <a:lstStyle/>
          <a:p>
            <a:pPr>
              <a:spcAft>
                <a:spcPts val="600"/>
              </a:spcAft>
            </a:pPr>
            <a:r>
              <a:rPr lang="en-US"/>
              <a:t>Ngôn ngữ lập trình Python</a:t>
            </a:r>
          </a:p>
        </p:txBody>
      </p:sp>
      <p:sp>
        <p:nvSpPr>
          <p:cNvPr id="6" name="Slide Number Placeholder 5">
            <a:extLst>
              <a:ext uri="{FF2B5EF4-FFF2-40B4-BE49-F238E27FC236}">
                <a16:creationId xmlns:a16="http://schemas.microsoft.com/office/drawing/2014/main" id="{B7C16D93-BFF7-7B3B-2562-85BC67545C3F}"/>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pPr>
                <a:spcAft>
                  <a:spcPts val="600"/>
                </a:spcAft>
              </a:pPr>
              <a:t>48</a:t>
            </a:fld>
            <a:endParaRPr lang="en-US"/>
          </a:p>
        </p:txBody>
      </p:sp>
    </p:spTree>
    <p:extLst>
      <p:ext uri="{BB962C8B-B14F-4D97-AF65-F5344CB8AC3E}">
        <p14:creationId xmlns:p14="http://schemas.microsoft.com/office/powerpoint/2010/main" val="28350142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4F3E38"/>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2589BBB-EB9F-4976-CCF9-59A9C95DE8CC}"/>
              </a:ext>
            </a:extLst>
          </p:cNvPr>
          <p:cNvSpPr>
            <a:spLocks noGrp="1"/>
          </p:cNvSpPr>
          <p:nvPr>
            <p:ph type="title"/>
          </p:nvPr>
        </p:nvSpPr>
        <p:spPr>
          <a:xfrm>
            <a:off x="492370" y="516835"/>
            <a:ext cx="3084844" cy="2103875"/>
          </a:xfrm>
        </p:spPr>
        <p:txBody>
          <a:bodyPr>
            <a:normAutofit/>
          </a:bodyPr>
          <a:lstStyle/>
          <a:p>
            <a:r>
              <a:rPr lang="en-US" sz="3600">
                <a:solidFill>
                  <a:srgbClr val="FFFFFF"/>
                </a:solidFill>
              </a:rPr>
              <a:t>Ghi file trong Python</a:t>
            </a:r>
          </a:p>
        </p:txBody>
      </p:sp>
      <p:sp>
        <p:nvSpPr>
          <p:cNvPr id="3" name="Content Placeholder 2">
            <a:extLst>
              <a:ext uri="{FF2B5EF4-FFF2-40B4-BE49-F238E27FC236}">
                <a16:creationId xmlns:a16="http://schemas.microsoft.com/office/drawing/2014/main" id="{F31EE5B5-5A45-30E5-1D7A-20E5D2478089}"/>
              </a:ext>
            </a:extLst>
          </p:cNvPr>
          <p:cNvSpPr>
            <a:spLocks noGrp="1"/>
          </p:cNvSpPr>
          <p:nvPr>
            <p:ph idx="1"/>
          </p:nvPr>
        </p:nvSpPr>
        <p:spPr>
          <a:xfrm>
            <a:off x="492371" y="2653800"/>
            <a:ext cx="3084844" cy="3335519"/>
          </a:xfrm>
        </p:spPr>
        <p:txBody>
          <a:bodyPr>
            <a:normAutofit/>
          </a:bodyPr>
          <a:lstStyle/>
          <a:p>
            <a:pPr algn="just"/>
            <a:r>
              <a:rPr lang="vi-VN" sz="2000">
                <a:solidFill>
                  <a:srgbClr val="FFFFFF"/>
                </a:solidFill>
              </a:rPr>
              <a:t>Cú pháp:</a:t>
            </a:r>
          </a:p>
          <a:p>
            <a:pPr algn="just"/>
            <a:r>
              <a:rPr lang="vi-VN" sz="2000" i="1">
                <a:solidFill>
                  <a:srgbClr val="FFFFFF"/>
                </a:solidFill>
              </a:rPr>
              <a:t>fileObject.write(string)</a:t>
            </a:r>
          </a:p>
          <a:p>
            <a:pPr algn="just"/>
            <a:r>
              <a:rPr lang="vi-VN" sz="2000">
                <a:solidFill>
                  <a:srgbClr val="FFFFFF"/>
                </a:solidFill>
              </a:rPr>
              <a:t>Phương thức này cho phép ghi một chuỗi có nội dung là string vào vị trí của con trỏ trong file.</a:t>
            </a:r>
            <a:endParaRPr lang="en-US" sz="2000">
              <a:solidFill>
                <a:srgbClr val="FFFFFF"/>
              </a:solidFill>
            </a:endParaRPr>
          </a:p>
        </p:txBody>
      </p:sp>
      <p:sp>
        <p:nvSpPr>
          <p:cNvPr id="18" name="Rectangle 17">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F9C0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9" name="Picture 8">
            <a:extLst>
              <a:ext uri="{FF2B5EF4-FFF2-40B4-BE49-F238E27FC236}">
                <a16:creationId xmlns:a16="http://schemas.microsoft.com/office/drawing/2014/main" id="{6CC23C4A-6456-1C93-8BCC-AEB66854A47A}"/>
              </a:ext>
            </a:extLst>
          </p:cNvPr>
          <p:cNvPicPr>
            <a:picLocks noChangeAspect="1"/>
          </p:cNvPicPr>
          <p:nvPr/>
        </p:nvPicPr>
        <p:blipFill>
          <a:blip r:embed="rId2"/>
          <a:stretch>
            <a:fillRect/>
          </a:stretch>
        </p:blipFill>
        <p:spPr>
          <a:xfrm>
            <a:off x="4742017" y="1495520"/>
            <a:ext cx="6798082" cy="3866960"/>
          </a:xfrm>
          <a:prstGeom prst="rect">
            <a:avLst/>
          </a:prstGeom>
        </p:spPr>
      </p:pic>
      <p:sp>
        <p:nvSpPr>
          <p:cNvPr id="5" name="Footer Placeholder 4">
            <a:extLst>
              <a:ext uri="{FF2B5EF4-FFF2-40B4-BE49-F238E27FC236}">
                <a16:creationId xmlns:a16="http://schemas.microsoft.com/office/drawing/2014/main" id="{B13A1EA9-EDD1-3D8C-EEBE-6F7247925B9A}"/>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3C95AD3C-E4B3-14A6-D63F-E27606849781}"/>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00CD2EDF-89EE-3691-8D7A-3743FAB7CAB0}"/>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49</a:t>
            </a:fld>
            <a:endParaRPr lang="en-US">
              <a:solidFill>
                <a:schemeClr val="tx2"/>
              </a:solidFill>
            </a:endParaRPr>
          </a:p>
        </p:txBody>
      </p:sp>
    </p:spTree>
    <p:extLst>
      <p:ext uri="{BB962C8B-B14F-4D97-AF65-F5344CB8AC3E}">
        <p14:creationId xmlns:p14="http://schemas.microsoft.com/office/powerpoint/2010/main" val="15968189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97E24-4F6B-15F1-A17A-80685F69C90C}"/>
              </a:ext>
            </a:extLst>
          </p:cNvPr>
          <p:cNvSpPr>
            <a:spLocks noGrp="1"/>
          </p:cNvSpPr>
          <p:nvPr>
            <p:ph type="title"/>
          </p:nvPr>
        </p:nvSpPr>
        <p:spPr/>
        <p:txBody>
          <a:bodyPr/>
          <a:lstStyle/>
          <a:p>
            <a:pPr algn="ctr"/>
            <a:r>
              <a:rPr lang="en-US"/>
              <a:t>Thay tên file trong Python</a:t>
            </a:r>
          </a:p>
        </p:txBody>
      </p:sp>
      <p:sp>
        <p:nvSpPr>
          <p:cNvPr id="3" name="Content Placeholder 2">
            <a:extLst>
              <a:ext uri="{FF2B5EF4-FFF2-40B4-BE49-F238E27FC236}">
                <a16:creationId xmlns:a16="http://schemas.microsoft.com/office/drawing/2014/main" id="{F9642188-667D-F8E5-F1C8-3CBD0FAD38AE}"/>
              </a:ext>
            </a:extLst>
          </p:cNvPr>
          <p:cNvSpPr>
            <a:spLocks noGrp="1"/>
          </p:cNvSpPr>
          <p:nvPr>
            <p:ph idx="1"/>
          </p:nvPr>
        </p:nvSpPr>
        <p:spPr/>
        <p:txBody>
          <a:bodyPr/>
          <a:lstStyle/>
          <a:p>
            <a:r>
              <a:rPr lang="vi-VN"/>
              <a:t>Phương thức rename() trong module os được sử dụng để thay tên file. Phương thức này nhận hai tham số là tên file cũ và tên file mới.</a:t>
            </a:r>
          </a:p>
          <a:p>
            <a:r>
              <a:rPr lang="vi-VN"/>
              <a:t>- Cú pháp:</a:t>
            </a:r>
          </a:p>
          <a:p>
            <a:r>
              <a:rPr lang="vi-VN" i="1"/>
              <a:t>os.renam</a:t>
            </a:r>
            <a:r>
              <a:rPr lang="en-US" i="1"/>
              <a:t>e</a:t>
            </a:r>
            <a:r>
              <a:rPr lang="vi-VN" i="1"/>
              <a:t>("&lt;tên file hiện tại&gt;", "&lt;tên file mới&gt;")</a:t>
            </a:r>
            <a:endParaRPr lang="en-US" i="1"/>
          </a:p>
        </p:txBody>
      </p:sp>
      <p:sp>
        <p:nvSpPr>
          <p:cNvPr id="4" name="Date Placeholder 3">
            <a:extLst>
              <a:ext uri="{FF2B5EF4-FFF2-40B4-BE49-F238E27FC236}">
                <a16:creationId xmlns:a16="http://schemas.microsoft.com/office/drawing/2014/main" id="{55A54288-F5BC-1296-F6CF-50709301A335}"/>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C36700E4-A034-F57D-FBE2-0263929B411C}"/>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01E4B970-05C6-8230-3B80-B5EFAC1B435D}"/>
              </a:ext>
            </a:extLst>
          </p:cNvPr>
          <p:cNvSpPr>
            <a:spLocks noGrp="1"/>
          </p:cNvSpPr>
          <p:nvPr>
            <p:ph type="sldNum" sz="quarter" idx="12"/>
          </p:nvPr>
        </p:nvSpPr>
        <p:spPr/>
        <p:txBody>
          <a:bodyPr/>
          <a:lstStyle/>
          <a:p>
            <a:fld id="{D3060201-1C40-4B39-813D-5CD9493BAEED}" type="slidenum">
              <a:rPr lang="en-US" smtClean="0"/>
              <a:t>50</a:t>
            </a:fld>
            <a:endParaRPr lang="en-US"/>
          </a:p>
        </p:txBody>
      </p:sp>
      <p:pic>
        <p:nvPicPr>
          <p:cNvPr id="8" name="Picture 7">
            <a:extLst>
              <a:ext uri="{FF2B5EF4-FFF2-40B4-BE49-F238E27FC236}">
                <a16:creationId xmlns:a16="http://schemas.microsoft.com/office/drawing/2014/main" id="{23033E49-E288-0606-88F5-AAE25FC04ADB}"/>
              </a:ext>
            </a:extLst>
          </p:cNvPr>
          <p:cNvPicPr>
            <a:picLocks noChangeAspect="1"/>
          </p:cNvPicPr>
          <p:nvPr/>
        </p:nvPicPr>
        <p:blipFill>
          <a:blip r:embed="rId2"/>
          <a:stretch>
            <a:fillRect/>
          </a:stretch>
        </p:blipFill>
        <p:spPr>
          <a:xfrm>
            <a:off x="1262072" y="4062412"/>
            <a:ext cx="7929927" cy="1281113"/>
          </a:xfrm>
          <a:prstGeom prst="rect">
            <a:avLst/>
          </a:prstGeom>
        </p:spPr>
      </p:pic>
    </p:spTree>
    <p:extLst>
      <p:ext uri="{BB962C8B-B14F-4D97-AF65-F5344CB8AC3E}">
        <p14:creationId xmlns:p14="http://schemas.microsoft.com/office/powerpoint/2010/main" val="25399832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CFF89-C451-9917-A415-266D17A54C81}"/>
              </a:ext>
            </a:extLst>
          </p:cNvPr>
          <p:cNvSpPr>
            <a:spLocks noGrp="1"/>
          </p:cNvSpPr>
          <p:nvPr>
            <p:ph type="title"/>
          </p:nvPr>
        </p:nvSpPr>
        <p:spPr/>
        <p:txBody>
          <a:bodyPr/>
          <a:lstStyle/>
          <a:p>
            <a:pPr algn="ctr"/>
            <a:r>
              <a:rPr lang="en-US"/>
              <a:t>Xóa file</a:t>
            </a:r>
          </a:p>
        </p:txBody>
      </p:sp>
      <p:sp>
        <p:nvSpPr>
          <p:cNvPr id="3" name="Content Placeholder 2">
            <a:extLst>
              <a:ext uri="{FF2B5EF4-FFF2-40B4-BE49-F238E27FC236}">
                <a16:creationId xmlns:a16="http://schemas.microsoft.com/office/drawing/2014/main" id="{5210F59B-0CD4-5D59-DB82-784942D175B0}"/>
              </a:ext>
            </a:extLst>
          </p:cNvPr>
          <p:cNvSpPr>
            <a:spLocks noGrp="1"/>
          </p:cNvSpPr>
          <p:nvPr>
            <p:ph idx="1"/>
          </p:nvPr>
        </p:nvSpPr>
        <p:spPr/>
        <p:txBody>
          <a:bodyPr/>
          <a:lstStyle/>
          <a:p>
            <a:pPr>
              <a:lnSpc>
                <a:spcPct val="150000"/>
              </a:lnSpc>
            </a:pPr>
            <a:r>
              <a:rPr lang="vi-VN"/>
              <a:t>Bạn có thể sử dụng phương thức remove() của module os để xóa các file với tham số là tên file bạn cần xóa</a:t>
            </a:r>
            <a:r>
              <a:rPr lang="en-US"/>
              <a:t>.</a:t>
            </a:r>
            <a:endParaRPr lang="vi-VN"/>
          </a:p>
          <a:p>
            <a:pPr>
              <a:lnSpc>
                <a:spcPct val="150000"/>
              </a:lnSpc>
            </a:pPr>
            <a:r>
              <a:rPr lang="vi-VN"/>
              <a:t>- Cú pháp:</a:t>
            </a:r>
          </a:p>
          <a:p>
            <a:pPr>
              <a:lnSpc>
                <a:spcPct val="150000"/>
              </a:lnSpc>
            </a:pPr>
            <a:r>
              <a:rPr lang="vi-VN" i="1"/>
              <a:t>os.remove("&lt;tên file&gt;")</a:t>
            </a:r>
            <a:endParaRPr lang="en-US" i="1"/>
          </a:p>
        </p:txBody>
      </p:sp>
      <p:sp>
        <p:nvSpPr>
          <p:cNvPr id="4" name="Date Placeholder 3">
            <a:extLst>
              <a:ext uri="{FF2B5EF4-FFF2-40B4-BE49-F238E27FC236}">
                <a16:creationId xmlns:a16="http://schemas.microsoft.com/office/drawing/2014/main" id="{210862D2-52D3-6C99-77AB-D14343EDE46E}"/>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9AA8F032-4B96-603E-6B6F-5236797C1E5B}"/>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6512897B-21C9-C530-2A20-FE1DF90BF6F3}"/>
              </a:ext>
            </a:extLst>
          </p:cNvPr>
          <p:cNvSpPr>
            <a:spLocks noGrp="1"/>
          </p:cNvSpPr>
          <p:nvPr>
            <p:ph type="sldNum" sz="quarter" idx="12"/>
          </p:nvPr>
        </p:nvSpPr>
        <p:spPr/>
        <p:txBody>
          <a:bodyPr/>
          <a:lstStyle/>
          <a:p>
            <a:fld id="{D3060201-1C40-4B39-813D-5CD9493BAEED}" type="slidenum">
              <a:rPr lang="en-US" smtClean="0"/>
              <a:t>51</a:t>
            </a:fld>
            <a:endParaRPr lang="en-US"/>
          </a:p>
        </p:txBody>
      </p:sp>
    </p:spTree>
    <p:extLst>
      <p:ext uri="{BB962C8B-B14F-4D97-AF65-F5344CB8AC3E}">
        <p14:creationId xmlns:p14="http://schemas.microsoft.com/office/powerpoint/2010/main" val="7997715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3D4A5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0E5D6BB-B69F-4227-80FF-6610C42F6A17}"/>
              </a:ext>
            </a:extLst>
          </p:cNvPr>
          <p:cNvSpPr>
            <a:spLocks noGrp="1"/>
          </p:cNvSpPr>
          <p:nvPr>
            <p:ph type="title"/>
          </p:nvPr>
        </p:nvSpPr>
        <p:spPr>
          <a:xfrm>
            <a:off x="492370" y="516835"/>
            <a:ext cx="3084844" cy="2103875"/>
          </a:xfrm>
        </p:spPr>
        <p:txBody>
          <a:bodyPr>
            <a:normAutofit/>
          </a:bodyPr>
          <a:lstStyle/>
          <a:p>
            <a:r>
              <a:rPr lang="en-US" sz="3200">
                <a:solidFill>
                  <a:srgbClr val="FFFFFF"/>
                </a:solidFill>
              </a:rPr>
              <a:t>Thao tác với file trong Python</a:t>
            </a:r>
          </a:p>
        </p:txBody>
      </p:sp>
      <p:sp>
        <p:nvSpPr>
          <p:cNvPr id="12" name="Content Placeholder 11">
            <a:extLst>
              <a:ext uri="{FF2B5EF4-FFF2-40B4-BE49-F238E27FC236}">
                <a16:creationId xmlns:a16="http://schemas.microsoft.com/office/drawing/2014/main" id="{88AA5885-3D30-805F-78AA-98908D00A76C}"/>
              </a:ext>
            </a:extLst>
          </p:cNvPr>
          <p:cNvSpPr>
            <a:spLocks noGrp="1"/>
          </p:cNvSpPr>
          <p:nvPr>
            <p:ph idx="1"/>
          </p:nvPr>
        </p:nvSpPr>
        <p:spPr>
          <a:xfrm>
            <a:off x="492371" y="2653800"/>
            <a:ext cx="3084844" cy="3335519"/>
          </a:xfrm>
        </p:spPr>
        <p:txBody>
          <a:bodyPr>
            <a:normAutofit/>
          </a:bodyPr>
          <a:lstStyle/>
          <a:p>
            <a:r>
              <a:rPr lang="en-US" sz="1500">
                <a:solidFill>
                  <a:srgbClr val="FFFFFF"/>
                </a:solidFill>
              </a:rPr>
              <a:t>Ví dụ</a:t>
            </a:r>
          </a:p>
        </p:txBody>
      </p:sp>
      <p:sp>
        <p:nvSpPr>
          <p:cNvPr id="19" name="Rectangle 18">
            <a:extLst>
              <a:ext uri="{FF2B5EF4-FFF2-40B4-BE49-F238E27FC236}">
                <a16:creationId xmlns:a16="http://schemas.microsoft.com/office/drawing/2014/main" id="{F9DB1FE5-9D46-433B-99D1-2F1B8DC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F9D0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 name="Content Placeholder 7">
            <a:extLst>
              <a:ext uri="{FF2B5EF4-FFF2-40B4-BE49-F238E27FC236}">
                <a16:creationId xmlns:a16="http://schemas.microsoft.com/office/drawing/2014/main" id="{6603D2A1-25F4-EEB6-E9A4-628D4C5611C0}"/>
              </a:ext>
            </a:extLst>
          </p:cNvPr>
          <p:cNvPicPr>
            <a:picLocks noChangeAspect="1"/>
          </p:cNvPicPr>
          <p:nvPr/>
        </p:nvPicPr>
        <p:blipFill>
          <a:blip r:embed="rId2"/>
          <a:stretch>
            <a:fillRect/>
          </a:stretch>
        </p:blipFill>
        <p:spPr>
          <a:xfrm>
            <a:off x="4944048" y="327497"/>
            <a:ext cx="6158777" cy="6203006"/>
          </a:xfrm>
          <a:prstGeom prst="rect">
            <a:avLst/>
          </a:prstGeom>
        </p:spPr>
      </p:pic>
      <p:sp>
        <p:nvSpPr>
          <p:cNvPr id="5" name="Footer Placeholder 4">
            <a:extLst>
              <a:ext uri="{FF2B5EF4-FFF2-40B4-BE49-F238E27FC236}">
                <a16:creationId xmlns:a16="http://schemas.microsoft.com/office/drawing/2014/main" id="{32C1D387-779D-4432-297C-6F76CC1E553C}"/>
              </a:ext>
            </a:extLst>
          </p:cNvPr>
          <p:cNvSpPr>
            <a:spLocks noGrp="1"/>
          </p:cNvSpPr>
          <p:nvPr>
            <p:ph type="ftr" sz="quarter" idx="11"/>
          </p:nvPr>
        </p:nvSpPr>
        <p:spPr>
          <a:xfrm>
            <a:off x="1089175" y="6459785"/>
            <a:ext cx="3757243" cy="365125"/>
          </a:xfrm>
        </p:spPr>
        <p:txBody>
          <a:bodyPr>
            <a:normAutofit/>
          </a:bodyPr>
          <a:lstStyle/>
          <a:p>
            <a:pPr algn="l">
              <a:spcAft>
                <a:spcPts val="600"/>
              </a:spcAft>
            </a:pPr>
            <a:r>
              <a:rPr lang="en-US"/>
              <a:t>Ngôn ngữ lập trình Python</a:t>
            </a:r>
          </a:p>
        </p:txBody>
      </p:sp>
      <p:sp>
        <p:nvSpPr>
          <p:cNvPr id="4" name="Date Placeholder 3">
            <a:extLst>
              <a:ext uri="{FF2B5EF4-FFF2-40B4-BE49-F238E27FC236}">
                <a16:creationId xmlns:a16="http://schemas.microsoft.com/office/drawing/2014/main" id="{A1860A17-C342-4938-735D-3518CBA34A94}"/>
              </a:ext>
            </a:extLst>
          </p:cNvPr>
          <p:cNvSpPr>
            <a:spLocks noGrp="1"/>
          </p:cNvSpPr>
          <p:nvPr>
            <p:ph type="dt" sz="half" idx="10"/>
          </p:nvPr>
        </p:nvSpPr>
        <p:spPr>
          <a:xfrm>
            <a:off x="5364202" y="6459785"/>
            <a:ext cx="1735371" cy="365125"/>
          </a:xfrm>
        </p:spPr>
        <p:txBody>
          <a:bodyPr>
            <a:normAutofit/>
          </a:bodyPr>
          <a:lstStyle/>
          <a:p>
            <a:pPr algn="r">
              <a:spcAft>
                <a:spcPts val="600"/>
              </a:spcAft>
            </a:pPr>
            <a:fld id="{935EA789-2EE1-4021-98DD-1084CC2D34AE}" type="datetime1">
              <a:rPr lang="en-US" smtClean="0"/>
              <a:pPr algn="r">
                <a:spcAft>
                  <a:spcPts val="600"/>
                </a:spcAft>
              </a:pPr>
              <a:t>7/25/2024</a:t>
            </a:fld>
            <a:endParaRPr lang="en-US"/>
          </a:p>
        </p:txBody>
      </p:sp>
      <p:sp>
        <p:nvSpPr>
          <p:cNvPr id="6" name="Slide Number Placeholder 5">
            <a:extLst>
              <a:ext uri="{FF2B5EF4-FFF2-40B4-BE49-F238E27FC236}">
                <a16:creationId xmlns:a16="http://schemas.microsoft.com/office/drawing/2014/main" id="{D70FCB3D-BB8D-0B72-8993-81D8D29E31C4}"/>
              </a:ext>
            </a:extLst>
          </p:cNvPr>
          <p:cNvSpPr>
            <a:spLocks noGrp="1"/>
          </p:cNvSpPr>
          <p:nvPr>
            <p:ph type="sldNum" sz="quarter" idx="12"/>
          </p:nvPr>
        </p:nvSpPr>
        <p:spPr>
          <a:xfrm>
            <a:off x="9900458" y="6459785"/>
            <a:ext cx="1312025" cy="365125"/>
          </a:xfrm>
        </p:spPr>
        <p:txBody>
          <a:bodyPr>
            <a:normAutofit/>
          </a:bodyPr>
          <a:lstStyle/>
          <a:p>
            <a:pPr>
              <a:spcAft>
                <a:spcPts val="600"/>
              </a:spcAft>
            </a:pPr>
            <a:fld id="{D3060201-1C40-4B39-813D-5CD9493BAEED}" type="slidenum">
              <a:rPr lang="en-US">
                <a:solidFill>
                  <a:schemeClr val="tx2"/>
                </a:solidFill>
              </a:rPr>
              <a:pPr>
                <a:spcAft>
                  <a:spcPts val="600"/>
                </a:spcAft>
              </a:pPr>
              <a:t>52</a:t>
            </a:fld>
            <a:endParaRPr lang="en-US">
              <a:solidFill>
                <a:schemeClr val="tx2"/>
              </a:solidFill>
            </a:endParaRPr>
          </a:p>
        </p:txBody>
      </p:sp>
    </p:spTree>
    <p:extLst>
      <p:ext uri="{BB962C8B-B14F-4D97-AF65-F5344CB8AC3E}">
        <p14:creationId xmlns:p14="http://schemas.microsoft.com/office/powerpoint/2010/main" val="20785245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A9E2A-BFF9-E6D0-DA7D-703737C5A2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C97855-3C1D-CCE0-6C36-D0442405109E}"/>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C4B65746-C71F-1BC8-B16C-F7D8E6026D61}"/>
              </a:ext>
            </a:extLst>
          </p:cNvPr>
          <p:cNvSpPr>
            <a:spLocks noGrp="1"/>
          </p:cNvSpPr>
          <p:nvPr>
            <p:ph type="dt" sz="half" idx="10"/>
          </p:nvPr>
        </p:nvSpPr>
        <p:spPr/>
        <p:txBody>
          <a:bodyPr/>
          <a:lstStyle/>
          <a:p>
            <a:fld id="{935EA789-2EE1-4021-98DD-1084CC2D34AE}" type="datetime1">
              <a:rPr lang="en-US" smtClean="0"/>
              <a:t>7/25/2024</a:t>
            </a:fld>
            <a:endParaRPr lang="en-US"/>
          </a:p>
        </p:txBody>
      </p:sp>
      <p:sp>
        <p:nvSpPr>
          <p:cNvPr id="5" name="Footer Placeholder 4">
            <a:extLst>
              <a:ext uri="{FF2B5EF4-FFF2-40B4-BE49-F238E27FC236}">
                <a16:creationId xmlns:a16="http://schemas.microsoft.com/office/drawing/2014/main" id="{92D87D4C-96E2-6BC7-FB4A-52885E4ABF72}"/>
              </a:ext>
            </a:extLst>
          </p:cNvPr>
          <p:cNvSpPr>
            <a:spLocks noGrp="1"/>
          </p:cNvSpPr>
          <p:nvPr>
            <p:ph type="ftr" sz="quarter" idx="11"/>
          </p:nvPr>
        </p:nvSpPr>
        <p:spPr/>
        <p:txBody>
          <a:bodyPr/>
          <a:lstStyle/>
          <a:p>
            <a:r>
              <a:rPr lang="en-US"/>
              <a:t>Ngôn ngữ lập trình Python</a:t>
            </a:r>
          </a:p>
        </p:txBody>
      </p:sp>
      <p:sp>
        <p:nvSpPr>
          <p:cNvPr id="6" name="Slide Number Placeholder 5">
            <a:extLst>
              <a:ext uri="{FF2B5EF4-FFF2-40B4-BE49-F238E27FC236}">
                <a16:creationId xmlns:a16="http://schemas.microsoft.com/office/drawing/2014/main" id="{398A9640-B3DA-C74C-E8D7-DEC46F497AD2}"/>
              </a:ext>
            </a:extLst>
          </p:cNvPr>
          <p:cNvSpPr>
            <a:spLocks noGrp="1"/>
          </p:cNvSpPr>
          <p:nvPr>
            <p:ph type="sldNum" sz="quarter" idx="12"/>
          </p:nvPr>
        </p:nvSpPr>
        <p:spPr/>
        <p:txBody>
          <a:bodyPr/>
          <a:lstStyle/>
          <a:p>
            <a:fld id="{D3060201-1C40-4B39-813D-5CD9493BAEED}" type="slidenum">
              <a:rPr lang="en-US" smtClean="0"/>
              <a:t>53</a:t>
            </a:fld>
            <a:endParaRPr lang="en-US"/>
          </a:p>
        </p:txBody>
      </p:sp>
      <p:sp>
        <p:nvSpPr>
          <p:cNvPr id="7" name="Rectangle 6">
            <a:extLst>
              <a:ext uri="{FF2B5EF4-FFF2-40B4-BE49-F238E27FC236}">
                <a16:creationId xmlns:a16="http://schemas.microsoft.com/office/drawing/2014/main" id="{49A28D0F-25CE-4C17-BD83-9FFCA48C57EB}"/>
              </a:ext>
            </a:extLst>
          </p:cNvPr>
          <p:cNvSpPr/>
          <p:nvPr/>
        </p:nvSpPr>
        <p:spPr>
          <a:xfrm>
            <a:off x="4512586" y="2967335"/>
            <a:ext cx="3166829" cy="923330"/>
          </a:xfrm>
          <a:prstGeom prst="rect">
            <a:avLst/>
          </a:prstGeom>
          <a:noFill/>
        </p:spPr>
        <p:txBody>
          <a:bodyPr wrap="none" lIns="91440" tIns="45720" rIns="91440" bIns="45720">
            <a:spAutoFit/>
          </a:bodyPr>
          <a:lstStyle/>
          <a:p>
            <a:pPr algn="ctr"/>
            <a:r>
              <a:rPr lang="en-US" sz="5400" b="1" cap="none" spc="0">
                <a:ln w="6600">
                  <a:solidFill>
                    <a:schemeClr val="accent2"/>
                  </a:solidFill>
                  <a:prstDash val="solid"/>
                </a:ln>
                <a:solidFill>
                  <a:srgbClr val="FFFFFF"/>
                </a:solidFill>
                <a:effectLst>
                  <a:outerShdw dist="38100" dir="2700000" algn="tl" rotWithShape="0">
                    <a:schemeClr val="accent2"/>
                  </a:outerShdw>
                </a:effectLst>
              </a:rPr>
              <a:t>Thank you</a:t>
            </a:r>
          </a:p>
        </p:txBody>
      </p:sp>
    </p:spTree>
    <p:extLst>
      <p:ext uri="{BB962C8B-B14F-4D97-AF65-F5344CB8AC3E}">
        <p14:creationId xmlns:p14="http://schemas.microsoft.com/office/powerpoint/2010/main" val="280620837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1041</TotalTime>
  <Words>3652</Words>
  <Application>Microsoft Office PowerPoint</Application>
  <PresentationFormat>Widescreen</PresentationFormat>
  <Paragraphs>468</Paragraphs>
  <Slides>53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Aptos</vt:lpstr>
      <vt:lpstr>Arial</vt:lpstr>
      <vt:lpstr>Calibri</vt:lpstr>
      <vt:lpstr>Calibri Light</vt:lpstr>
      <vt:lpstr>Cambria</vt:lpstr>
      <vt:lpstr>Courier New</vt:lpstr>
      <vt:lpstr>Times New Roman</vt:lpstr>
      <vt:lpstr>Wingdings</vt:lpstr>
      <vt:lpstr>Retrospect</vt:lpstr>
      <vt:lpstr>NGÔN NGỮ LẬP TRÌNH PYTHON</vt:lpstr>
      <vt:lpstr>Chương 2: Ngữ nghĩa cú pháp lập trình Python </vt:lpstr>
      <vt:lpstr>Cú pháp ngôn ngữ lập trình Python</vt:lpstr>
      <vt:lpstr>Cú pháp ngôn ngữ lập trình Python</vt:lpstr>
      <vt:lpstr>Cú pháp ngôn ngữ lập trình Python</vt:lpstr>
      <vt:lpstr>Chú thích</vt:lpstr>
      <vt:lpstr>Biến(variables)</vt:lpstr>
      <vt:lpstr>Kiểu Dữ Liệu (Data Type)</vt:lpstr>
      <vt:lpstr>Kiểm Tra Data Type</vt:lpstr>
      <vt:lpstr>Các kiểu dữ liệu trong Python</vt:lpstr>
      <vt:lpstr>Các kiểu dữ liệu trong Python</vt:lpstr>
      <vt:lpstr>Các kiểu dữ liệu trong Python</vt:lpstr>
      <vt:lpstr>Các kiểu dữ liệu trong Python</vt:lpstr>
      <vt:lpstr>Các kiểu dữ liệu trong Python</vt:lpstr>
      <vt:lpstr>Các kiểu dữ liệu trong Python</vt:lpstr>
      <vt:lpstr>Các kiểu dữ liệu trong Python</vt:lpstr>
      <vt:lpstr>Chuyển kiểu dữ liệu</vt:lpstr>
      <vt:lpstr>Chuyển kiểu dữ liệu</vt:lpstr>
      <vt:lpstr>Chuyển kiểu dữ liệu</vt:lpstr>
      <vt:lpstr>Toán tử trong Python</vt:lpstr>
      <vt:lpstr>Toán tử số học trong Python</vt:lpstr>
      <vt:lpstr>Toán tử quan hệ trong Python</vt:lpstr>
      <vt:lpstr>Toán tử gán trong Python</vt:lpstr>
      <vt:lpstr>Toán tử logic trong Python</vt:lpstr>
      <vt:lpstr>Toán tử thao tác bit trong Python</vt:lpstr>
      <vt:lpstr>Toán tử membership trong Python </vt:lpstr>
      <vt:lpstr>Toán tử identify trong Python </vt:lpstr>
      <vt:lpstr>Thứ tự ưu tiên của các toán tử trong Python</vt:lpstr>
      <vt:lpstr>Nhập, xuất trong Python</vt:lpstr>
      <vt:lpstr>Nhập, xuất trong Python</vt:lpstr>
      <vt:lpstr>Câu lệnh điều khiển</vt:lpstr>
      <vt:lpstr>Vòng lặp for</vt:lpstr>
      <vt:lpstr>Vòng lặp while</vt:lpstr>
      <vt:lpstr>Các lệnh điều khiển vòng lặp trong Python</vt:lpstr>
      <vt:lpstr>Các lệnh điều khiển vòng lặp trong Python</vt:lpstr>
      <vt:lpstr>Hàm trong Python</vt:lpstr>
      <vt:lpstr>Module</vt:lpstr>
      <vt:lpstr>Module</vt:lpstr>
      <vt:lpstr>Exception trong Python </vt:lpstr>
      <vt:lpstr>Exception</vt:lpstr>
      <vt:lpstr>Exception</vt:lpstr>
      <vt:lpstr>Lệnh assert trong Python</vt:lpstr>
      <vt:lpstr>Lệnh assert trong Python</vt:lpstr>
      <vt:lpstr>Thao tác với file trong Python</vt:lpstr>
      <vt:lpstr>Thuộc tính mở file</vt:lpstr>
      <vt:lpstr>Thuộc tính mở file</vt:lpstr>
      <vt:lpstr>Thao tác với file trong Python</vt:lpstr>
      <vt:lpstr>Đọc file</vt:lpstr>
      <vt:lpstr>Ghi file trong Python</vt:lpstr>
      <vt:lpstr>Thay tên file trong Python</vt:lpstr>
      <vt:lpstr>Xóa file</vt:lpstr>
      <vt:lpstr>Thao tác với file trong Python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TG - Huỳnh Thanh Việt - 2001202168</dc:creator>
  <cp:lastModifiedBy>TG - Huỳnh Thanh Việt - 2001202168</cp:lastModifiedBy>
  <cp:revision>79</cp:revision>
  <dcterms:created xsi:type="dcterms:W3CDTF">2024-07-15T02:17:35Z</dcterms:created>
  <dcterms:modified xsi:type="dcterms:W3CDTF">2024-07-25T08:58:27Z</dcterms:modified>
</cp:coreProperties>
</file>