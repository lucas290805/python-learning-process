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18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1E8A1-6DA8-4496-BCE8-03ED561CC4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65760"/>
            <a:ext cx="10515600" cy="2890202"/>
          </a:xfrm>
        </p:spPr>
        <p:txBody>
          <a:bodyPr anchor="b">
            <a:normAutofit/>
          </a:bodyPr>
          <a:lstStyle>
            <a:lvl1pPr algn="l">
              <a:defRPr sz="6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B24CCC-3D44-4BB5-AA35-A21607EF69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506150"/>
            <a:ext cx="10515600" cy="248348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80F6-1855-44E9-BA95-5E00A06E7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7/16/2024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D7FFD-570A-4968-B943-AF87BB679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CE6A8-0665-4714-B241-6AFBA8C6F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74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2A8A8-ECDA-4018-ABB4-CC22892BE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0AE7C-51AF-4F0E-B5A3-8C7E1026C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28C09-A717-49AB-B60E-433BC4692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7/16/2024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1A47A-6E5A-4754-8B43-9CE556160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CA1EB-7AC7-4F86-90C0-AA980D887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08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95957-C46F-4F17-BC8C-6507E676E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65760"/>
            <a:ext cx="10515600" cy="382786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9661B-6633-4C8B-8B9C-E514DF851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443817"/>
            <a:ext cx="10515600" cy="164583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274BF-C1CD-4709-B0A0-E9407DBEA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7/16/2024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ADB94-0A5B-4B56-B0B1-1FF5580A4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A668A-35AE-4CDF-AC4C-2BEEA9EE8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869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7F1FD-0E96-4963-9F09-92861572B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9E5F0-B650-4AFF-B90E-23B378684D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40876"/>
            <a:ext cx="5181600" cy="42360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D1747B-302D-476E-8F4F-E4B114C66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0876"/>
            <a:ext cx="5181600" cy="42360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0577D-22F7-4958-BB3D-6C9265EA1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7/16/2024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C5B46-A8FB-4683-9618-3F6E07383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7887BD-93E9-4181-9D7F-940C3E173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55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63D79-FA27-4567-9032-AF722733E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7C1BF-703F-4992-BB0C-EB1E579C7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51823"/>
            <a:ext cx="5157787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2FCE1-6DC0-43B5-8016-89FD4AF5A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54741"/>
            <a:ext cx="5157787" cy="32349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FED7A-67D0-43CC-889A-25F8849647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51823"/>
            <a:ext cx="5183188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31C176-48F2-44EC-B3A2-A144403D57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54741"/>
            <a:ext cx="5183188" cy="32349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9187B8-AC48-4FE7-8658-8A31E3731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7/16/2024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CAB465-E22E-45DC-89C9-406121BCE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F9D1CF-F964-4405-8677-5F9E2A028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375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3453-DD0F-41C0-8F4A-5DC343F5E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4E6313-506F-4456-B3D9-D9655538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7/16/2024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26068-7707-41EC-93EF-A24CAF8FF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9C8A3C-8C01-4039-B47B-57D849758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957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892633-8C77-419D-B24D-2B3D44DBA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7/16/2024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149D59-0A88-4A14-A740-4CCD9B526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3DEF9-802F-444E-92D2-397862EEA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465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23C20-3881-4F15-94F7-9D7B9F9E3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343400" cy="2971800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8F40F-6C2A-48EC-8F16-DA179A1DA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4638" y="457201"/>
            <a:ext cx="5800749" cy="540385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736B7E-D33D-48C7-97AC-5C0D9874F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657600"/>
            <a:ext cx="4343400" cy="2211387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149BC5-FF58-463A-B4FA-F0F912F12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7/16/2024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7072D7-4A2A-407F-A084-6AE8DD001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4C41C-C368-475C-BDC1-DC5B29C78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053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F67B0-865B-44ED-9DFE-36C73B0C8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343400" cy="2971800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3C5CF7-138A-437C-9E0A-FF41799703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61462" y="457201"/>
            <a:ext cx="5793925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17822-7770-4117-96A2-8D2FF0A01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664424"/>
            <a:ext cx="4343400" cy="2204564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295030-39C7-4814-A766-1A3E094EB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7/16/2024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F02CD-DC87-47B6-96C4-F6470B1D8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FF531-02C2-4C1D-A692-704037806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3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926EC-DC54-4882-9D58-F201EA25C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804E7C-4CBA-49AF-B24C-1A1FF51C2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3C727-C0C7-4BBA-9CF5-6C1FAC76B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7/16/2024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03986-C5B4-4956-AC6F-4F36186B8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5F941-E847-4C51-97D6-21066B26E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142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0338D2-D9EE-4B67-97C1-08ABD5745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53848" y="365125"/>
            <a:ext cx="3999952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4B1422-6C1E-4422-80E8-34B0092FBF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626546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8B53C-3084-4BC0-A80E-DB41C04C6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7/16/2024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6BFDE-DC70-4A6E-90B8-337FC4725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3578F-39AE-4F6F-9614-32EF672E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918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6818BD-D734-48A1-8CC0-609D11E55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9D215A-D2A1-4903-A905-F8B06EF41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40875"/>
            <a:ext cx="10515600" cy="4236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2B88A-7A1D-4AA1-8536-28DC13DBA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766A6-3C10-4AB8-86A1-BB1F0CDA7EFE}" type="datetimeFigureOut">
              <a:rPr lang="en-US" smtClean="0"/>
              <a:pPr/>
              <a:t>7/16/2024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FE925-0C4B-4BAE-9799-3A9D46D92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DAD54-E5C5-4D48-8592-BB22F0A85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60201-1C40-4B39-813D-5CD9493BAE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812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78" r:id="rId6"/>
    <p:sldLayoutId id="2147483674" r:id="rId7"/>
    <p:sldLayoutId id="2147483675" r:id="rId8"/>
    <p:sldLayoutId id="2147483676" r:id="rId9"/>
    <p:sldLayoutId id="2147483677" r:id="rId10"/>
    <p:sldLayoutId id="214748367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5400" kern="1200" smtClean="0">
          <a:gradFill>
            <a:gsLst>
              <a:gs pos="100000">
                <a:schemeClr val="tx2"/>
              </a:gs>
              <a:gs pos="0">
                <a:schemeClr val="accent1"/>
              </a:gs>
            </a:gsLst>
            <a:lin ang="0" scaled="1"/>
          </a:gradFill>
          <a:latin typeface="Aharoni" panose="02010803020104030203" pitchFamily="2" charset="-79"/>
          <a:ea typeface="+mn-ea"/>
          <a:cs typeface="Angsana New" panose="02020603050405020304" pitchFamily="18" charset="-34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C37C960-91F5-4F61-B2CD-8A0379207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0879C2-1386-80BF-9707-F9C7494EF5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596644"/>
            <a:ext cx="5500125" cy="3435606"/>
          </a:xfrm>
        </p:spPr>
        <p:txBody>
          <a:bodyPr anchor="b">
            <a:normAutofit/>
          </a:bodyPr>
          <a:lstStyle/>
          <a:p>
            <a:pPr algn="ctr"/>
            <a:r>
              <a:rPr lang="en-US" sz="6000" b="1">
                <a:latin typeface="Times New Roman" panose="02020603050405020304" pitchFamily="18" charset="0"/>
                <a:cs typeface="Times New Roman" panose="02020603050405020304" pitchFamily="18" charset="0"/>
              </a:rPr>
              <a:t>NGÔN NGỮ LẬP TRÌNH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FC4DF1-88F0-52EF-89F2-248332D896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298950"/>
            <a:ext cx="5500125" cy="1962406"/>
          </a:xfrm>
        </p:spPr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Giảng viên	: ThS. Huỳnh Thanh Việt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Email		: vietht@ut.edu.vn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AC6EB04-ECA4-1049-FE6A-05E772F3E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5018" y="3568187"/>
            <a:ext cx="4127063" cy="26516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6006E7-3708-32EA-5876-FAFB19101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018" y="599893"/>
            <a:ext cx="4127063" cy="265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99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CCFFC-56A4-3CA7-E39D-D698100BC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B223B-7941-E231-1957-927054091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000">
                <a:solidFill>
                  <a:srgbClr val="000000"/>
                </a:solidFill>
                <a:ea typeface="Times New Roman" panose="02020603050405020304" pitchFamily="18" charset="0"/>
              </a:rPr>
              <a:t>Tổng quan</a:t>
            </a:r>
            <a:endParaRPr lang="en-US" sz="300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vi-VN" sz="30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Ngữ nghĩa cú pháp lập trình Python</a:t>
            </a:r>
            <a:endParaRPr lang="en-US" sz="300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30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Lập trình hướng đối tượng trong Python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000">
                <a:solidFill>
                  <a:srgbClr val="000000"/>
                </a:solidFill>
                <a:ea typeface="Times New Roman" panose="02020603050405020304" pitchFamily="18" charset="0"/>
              </a:rPr>
              <a:t>Các thư viện hỗ trợ trong Python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000">
                <a:solidFill>
                  <a:srgbClr val="000000"/>
                </a:solidFill>
                <a:ea typeface="Times New Roman" panose="02020603050405020304" pitchFamily="18" charset="0"/>
              </a:rPr>
              <a:t>Các kỹ thuật xử lý cơ bản trong Python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0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Thiết kế giao diện với Tkinter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000">
                <a:solidFill>
                  <a:srgbClr val="000000"/>
                </a:solidFill>
                <a:ea typeface="Times New Roman" panose="02020603050405020304" pitchFamily="18" charset="0"/>
              </a:rPr>
              <a:t>Xây dựng ứng dụng dùng Python</a:t>
            </a:r>
            <a:endParaRPr lang="en-US" sz="30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3000"/>
          </a:p>
        </p:txBody>
      </p:sp>
    </p:spTree>
    <p:extLst>
      <p:ext uri="{BB962C8B-B14F-4D97-AF65-F5344CB8AC3E}">
        <p14:creationId xmlns:p14="http://schemas.microsoft.com/office/powerpoint/2010/main" val="1022687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C423F4-7512-02B5-E6C7-0CDB8B0C89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Chương 1: Tổng quan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867ECCC-9B96-58D6-AB22-E96D4886C6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166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6AFF2-A8AA-979A-15C4-71B14680C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Tổng quan ngôn ngữ lập trình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5BBEC-B90D-1FF3-42C3-2B61813CA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sz="3000">
                <a:solidFill>
                  <a:srgbClr val="000000"/>
                </a:solidFill>
              </a:rPr>
              <a:t>Python là ngôn ngữ lập trình cấp cao, tương tác, thông</a:t>
            </a:r>
            <a:r>
              <a:rPr lang="en-US" sz="3000">
                <a:solidFill>
                  <a:srgbClr val="000000"/>
                </a:solidFill>
              </a:rPr>
              <a:t> </a:t>
            </a:r>
            <a:r>
              <a:rPr lang="vi-VN" sz="3000">
                <a:solidFill>
                  <a:srgbClr val="000000"/>
                </a:solidFill>
              </a:rPr>
              <a:t>dịch, hướng đối tượn</a:t>
            </a:r>
            <a:r>
              <a:rPr lang="en-US" sz="3000">
                <a:solidFill>
                  <a:srgbClr val="000000"/>
                </a:solidFill>
              </a:rPr>
              <a:t>g</a:t>
            </a:r>
          </a:p>
          <a:p>
            <a:r>
              <a:rPr lang="vi-VN" sz="3000">
                <a:solidFill>
                  <a:srgbClr val="000000"/>
                </a:solidFill>
              </a:rPr>
              <a:t>Do Guido van Rossum đề xuất từ 1985 – 1990</a:t>
            </a:r>
            <a:endParaRPr lang="en-US" sz="3000">
              <a:solidFill>
                <a:srgbClr val="000000"/>
              </a:solidFill>
            </a:endParaRPr>
          </a:p>
          <a:p>
            <a:r>
              <a:rPr lang="vi-VN" sz="3000">
                <a:solidFill>
                  <a:srgbClr val="000000"/>
                </a:solidFill>
              </a:rPr>
              <a:t>Mã nguồn Python: giấy phép GNU General Public</a:t>
            </a:r>
            <a:r>
              <a:rPr lang="en-US" sz="3000">
                <a:solidFill>
                  <a:srgbClr val="000000"/>
                </a:solidFill>
              </a:rPr>
              <a:t> </a:t>
            </a:r>
            <a:r>
              <a:rPr lang="vi-VN" sz="3000">
                <a:solidFill>
                  <a:srgbClr val="000000"/>
                </a:solidFill>
              </a:rPr>
              <a:t>License (GPL)</a:t>
            </a:r>
            <a:endParaRPr lang="en-US" sz="3000">
              <a:solidFill>
                <a:srgbClr val="000000"/>
              </a:solidFill>
            </a:endParaRPr>
          </a:p>
          <a:p>
            <a:r>
              <a:rPr lang="vi-VN" sz="3000">
                <a:solidFill>
                  <a:srgbClr val="000000"/>
                </a:solidFill>
              </a:rPr>
              <a:t>Python sẵn dùng trên Unix, Linux, Mac OS, Windows</a:t>
            </a:r>
            <a:br>
              <a:rPr lang="vi-VN" sz="3000">
                <a:solidFill>
                  <a:srgbClr val="000000"/>
                </a:solidFill>
              </a:rPr>
            </a:br>
            <a:endParaRPr lang="en-US" sz="3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799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8E999-CF7B-230C-F52C-F05CAD976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Tổng quan ngôn ngữ lập trình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DDC0F-E36B-E89C-19ED-EC50D7758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000" b="0" i="0">
                <a:solidFill>
                  <a:srgbClr val="000000"/>
                </a:solidFill>
                <a:effectLst/>
              </a:rPr>
              <a:t>Cú pháp đơn giản, d</a:t>
            </a:r>
            <a:r>
              <a:rPr lang="vi-VN" sz="3000" b="0" i="0">
                <a:solidFill>
                  <a:srgbClr val="000000"/>
                </a:solidFill>
                <a:effectLst/>
              </a:rPr>
              <a:t>ễ đọc</a:t>
            </a:r>
            <a:r>
              <a:rPr lang="en-US" sz="3000" b="0" i="0">
                <a:solidFill>
                  <a:srgbClr val="000000"/>
                </a:solidFill>
                <a:effectLst/>
              </a:rPr>
              <a:t>, dễ học</a:t>
            </a:r>
          </a:p>
          <a:p>
            <a:r>
              <a:rPr lang="vi-VN" sz="3000" b="0" i="0">
                <a:solidFill>
                  <a:srgbClr val="000000"/>
                </a:solidFill>
                <a:effectLst/>
              </a:rPr>
              <a:t>Dễ bảo trì (Easy-to-maintain)</a:t>
            </a:r>
            <a:endParaRPr lang="en-US" sz="3000" b="0" i="0">
              <a:solidFill>
                <a:srgbClr val="000000"/>
              </a:solidFill>
              <a:effectLst/>
            </a:endParaRPr>
          </a:p>
          <a:p>
            <a:r>
              <a:rPr lang="vi-VN" sz="3000" b="0" i="0">
                <a:solidFill>
                  <a:srgbClr val="000000"/>
                </a:solidFill>
                <a:effectLst/>
              </a:rPr>
              <a:t>Thư viện chuẩn (standard library): tương thích U</a:t>
            </a:r>
            <a:r>
              <a:rPr lang="en-US" sz="3000" b="0" i="0">
                <a:solidFill>
                  <a:srgbClr val="000000"/>
                </a:solidFill>
                <a:effectLst/>
              </a:rPr>
              <a:t>nix</a:t>
            </a:r>
            <a:r>
              <a:rPr lang="vi-VN" sz="3000" b="0" i="0">
                <a:solidFill>
                  <a:srgbClr val="000000"/>
                </a:solidFill>
                <a:effectLst/>
              </a:rPr>
              <a:t>,</a:t>
            </a:r>
            <a:r>
              <a:rPr lang="en-US" sz="3000" b="0" i="0">
                <a:solidFill>
                  <a:srgbClr val="000000"/>
                </a:solidFill>
                <a:effectLst/>
              </a:rPr>
              <a:t> </a:t>
            </a:r>
            <a:r>
              <a:rPr lang="vi-VN" sz="3000" b="0" i="0">
                <a:solidFill>
                  <a:srgbClr val="000000"/>
                </a:solidFill>
                <a:effectLst/>
              </a:rPr>
              <a:t>Linux, Windows và Mac</a:t>
            </a:r>
            <a:r>
              <a:rPr lang="en-US" sz="3000" b="0" i="0">
                <a:solidFill>
                  <a:srgbClr val="000000"/>
                </a:solidFill>
                <a:effectLst/>
              </a:rPr>
              <a:t> OS</a:t>
            </a:r>
          </a:p>
          <a:p>
            <a:r>
              <a:rPr lang="vi-VN" sz="3000" b="0" i="0">
                <a:solidFill>
                  <a:srgbClr val="000000"/>
                </a:solidFill>
                <a:effectLst/>
              </a:rPr>
              <a:t>Chế độ tương tác: thực thi, kiểm tra, gỡ rối</a:t>
            </a:r>
            <a:endParaRPr lang="en-US" sz="3000" b="0" i="0">
              <a:solidFill>
                <a:srgbClr val="000000"/>
              </a:solidFill>
              <a:effectLst/>
            </a:endParaRPr>
          </a:p>
          <a:p>
            <a:r>
              <a:rPr lang="vi-VN" sz="3000" b="0" i="0">
                <a:solidFill>
                  <a:srgbClr val="000000"/>
                </a:solidFill>
                <a:effectLst/>
              </a:rPr>
              <a:t>Khả năng mở rộng (Extendable)</a:t>
            </a:r>
            <a:endParaRPr lang="en-US" sz="3000" b="0" i="0">
              <a:solidFill>
                <a:srgbClr val="000000"/>
              </a:solidFill>
              <a:effectLst/>
            </a:endParaRPr>
          </a:p>
          <a:p>
            <a:r>
              <a:rPr lang="vi-VN" sz="3000" b="0" i="0">
                <a:solidFill>
                  <a:srgbClr val="000000"/>
                </a:solidFill>
                <a:effectLst/>
              </a:rPr>
              <a:t>Kết nối với các hệ quản trị CSDL</a:t>
            </a:r>
            <a:endParaRPr lang="en-US" sz="3000" b="0" i="0">
              <a:solidFill>
                <a:srgbClr val="000000"/>
              </a:solidFill>
              <a:effectLst/>
            </a:endParaRPr>
          </a:p>
          <a:p>
            <a:r>
              <a:rPr lang="vi-VN" sz="3000" b="0" i="0">
                <a:solidFill>
                  <a:srgbClr val="000000"/>
                </a:solidFill>
                <a:effectLst/>
              </a:rPr>
              <a:t>Quy mô chương trình (Scalable)</a:t>
            </a:r>
            <a:r>
              <a:rPr lang="vi-VN" sz="3000"/>
              <a:t> </a:t>
            </a:r>
            <a:br>
              <a:rPr lang="vi-VN" sz="3000"/>
            </a:br>
            <a:endParaRPr lang="en-US" sz="3000"/>
          </a:p>
        </p:txBody>
      </p:sp>
    </p:spTree>
    <p:extLst>
      <p:ext uri="{BB962C8B-B14F-4D97-AF65-F5344CB8AC3E}">
        <p14:creationId xmlns:p14="http://schemas.microsoft.com/office/powerpoint/2010/main" val="3283548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8E999-CF7B-230C-F52C-F05CAD976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Tổng quan ngôn ngữ lập trình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DDC0F-E36B-E89C-19ED-EC50D7758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b="0" i="0">
                <a:solidFill>
                  <a:srgbClr val="000000"/>
                </a:solidFill>
                <a:effectLst/>
              </a:rPr>
              <a:t>Dùng Python trong các lĩnh vực:</a:t>
            </a:r>
          </a:p>
          <a:p>
            <a:r>
              <a:rPr lang="en-US" sz="3000" b="0" i="0">
                <a:solidFill>
                  <a:srgbClr val="000000"/>
                </a:solidFill>
                <a:effectLst/>
              </a:rPr>
              <a:t>Lập trình web</a:t>
            </a:r>
          </a:p>
          <a:p>
            <a:r>
              <a:rPr lang="en-US" sz="3000">
                <a:solidFill>
                  <a:srgbClr val="000000"/>
                </a:solidFill>
              </a:rPr>
              <a:t>Lập trình game</a:t>
            </a:r>
            <a:endParaRPr lang="en-US" sz="3000" b="0" i="0">
              <a:solidFill>
                <a:srgbClr val="000000"/>
              </a:solidFill>
              <a:effectLst/>
            </a:endParaRPr>
          </a:p>
          <a:p>
            <a:r>
              <a:rPr lang="vi-VN" sz="3000" b="0" i="0">
                <a:solidFill>
                  <a:srgbClr val="000000"/>
                </a:solidFill>
                <a:effectLst/>
              </a:rPr>
              <a:t>Lập trình ứng dụng mạng, nghiên cứu an ninh mạng</a:t>
            </a:r>
            <a:r>
              <a:rPr lang="en-US" sz="3000" b="0" i="0">
                <a:solidFill>
                  <a:srgbClr val="000000"/>
                </a:solidFill>
                <a:effectLst/>
              </a:rPr>
              <a:t>.</a:t>
            </a:r>
          </a:p>
          <a:p>
            <a:r>
              <a:rPr lang="vi-VN" sz="3000" b="0" i="0">
                <a:solidFill>
                  <a:srgbClr val="000000"/>
                </a:solidFill>
                <a:effectLst/>
              </a:rPr>
              <a:t>Máy học và khai thác dữ liệu, xử lý ngôn ngữ tự nhiên</a:t>
            </a:r>
            <a:r>
              <a:rPr lang="en-US" sz="3000" b="0" i="0">
                <a:solidFill>
                  <a:srgbClr val="000000"/>
                </a:solidFill>
                <a:effectLst/>
              </a:rPr>
              <a:t> </a:t>
            </a:r>
            <a:r>
              <a:rPr lang="vi-VN" sz="3000" b="0" i="0">
                <a:solidFill>
                  <a:srgbClr val="000000"/>
                </a:solidFill>
                <a:effectLst/>
              </a:rPr>
              <a:t>trí tuệ nhân tạo</a:t>
            </a:r>
            <a:r>
              <a:rPr lang="en-US" sz="3000" b="0" i="0">
                <a:solidFill>
                  <a:srgbClr val="000000"/>
                </a:solidFill>
                <a:effectLst/>
              </a:rPr>
              <a:t>, k</a:t>
            </a:r>
            <a:r>
              <a:rPr lang="vi-VN" sz="3000" b="0" i="0">
                <a:solidFill>
                  <a:srgbClr val="000000"/>
                </a:solidFill>
                <a:effectLst/>
              </a:rPr>
              <a:t>ỹ thuật đồ họa, xử lý ảnh và thị giác máy tính</a:t>
            </a:r>
            <a:r>
              <a:rPr lang="en-US" sz="3000" b="0" i="0">
                <a:solidFill>
                  <a:srgbClr val="000000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99024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67D7F-13C7-98E9-FBB6-D56E0C942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Trình biên dịch(Compiler)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7F304-1AB6-D5DF-889E-F370506BB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0875"/>
            <a:ext cx="6286500" cy="42360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vi-VN" altLang="zh-CN" sz="2500">
                <a:ea typeface="Cambria" panose="02040503050406030204" pitchFamily="18" charset="0"/>
              </a:rPr>
              <a:t>Chuyển đổi chương trình sang ngôn ngữ máy</a:t>
            </a:r>
            <a:r>
              <a:rPr lang="en-US" altLang="zh-CN" sz="2500">
                <a:ea typeface="Cambria" panose="02040503050406030204" pitchFamily="18" charset="0"/>
              </a:rPr>
              <a:t> </a:t>
            </a:r>
            <a:r>
              <a:rPr lang="vi-VN" altLang="zh-CN" sz="2500">
                <a:ea typeface="Cambria" panose="02040503050406030204" pitchFamily="18" charset="0"/>
              </a:rPr>
              <a:t>và lưu kết quả vào đĩa để có thể thi hành về sau.</a:t>
            </a:r>
          </a:p>
          <a:p>
            <a:pPr marL="0" indent="0">
              <a:buNone/>
            </a:pPr>
            <a:r>
              <a:rPr lang="en-US" altLang="zh-CN" sz="2500">
                <a:ea typeface="Cambria" panose="02040503050406030204" pitchFamily="18" charset="0"/>
              </a:rPr>
              <a:t>Trong đó: </a:t>
            </a:r>
          </a:p>
          <a:p>
            <a:pPr lvl="1"/>
            <a:r>
              <a:rPr lang="vi-VN" altLang="zh-CN" sz="2500">
                <a:ea typeface="Cambria" panose="02040503050406030204" pitchFamily="18" charset="0"/>
              </a:rPr>
              <a:t>Chương trình nguồn </a:t>
            </a:r>
            <a:r>
              <a:rPr lang="vi-VN" altLang="zh-CN" sz="2500">
                <a:solidFill>
                  <a:schemeClr val="accent6">
                    <a:lumMod val="75000"/>
                  </a:schemeClr>
                </a:solidFill>
                <a:ea typeface="Cambria" panose="02040503050406030204" pitchFamily="18" charset="0"/>
              </a:rPr>
              <a:t>(source program) </a:t>
            </a:r>
            <a:r>
              <a:rPr lang="vi-VN" altLang="zh-CN" sz="2500">
                <a:ea typeface="Cambria" panose="02040503050406030204" pitchFamily="18" charset="0"/>
              </a:rPr>
              <a:t>là chương trình ngôn</a:t>
            </a:r>
            <a:r>
              <a:rPr lang="en-US" altLang="zh-CN" sz="2500">
                <a:ea typeface="Cambria" panose="02040503050406030204" pitchFamily="18" charset="0"/>
              </a:rPr>
              <a:t> </a:t>
            </a:r>
            <a:r>
              <a:rPr lang="vi-VN" altLang="zh-CN" sz="2500">
                <a:ea typeface="Cambria" panose="02040503050406030204" pitchFamily="18" charset="0"/>
              </a:rPr>
              <a:t>ngữ cấp cao được chuyển đổi</a:t>
            </a:r>
            <a:endParaRPr lang="en-US" altLang="zh-CN" sz="2500">
              <a:ea typeface="Cambria" panose="02040503050406030204" pitchFamily="18" charset="0"/>
            </a:endParaRPr>
          </a:p>
          <a:p>
            <a:pPr lvl="1"/>
            <a:r>
              <a:rPr lang="vi-VN" altLang="zh-CN" sz="2500">
                <a:ea typeface="Cambria" panose="02040503050406030204" pitchFamily="18" charset="0"/>
              </a:rPr>
              <a:t>Chương trình đối tượng </a:t>
            </a:r>
            <a:r>
              <a:rPr lang="vi-VN" altLang="zh-CN" sz="2500">
                <a:solidFill>
                  <a:schemeClr val="accent6">
                    <a:lumMod val="75000"/>
                  </a:schemeClr>
                </a:solidFill>
                <a:ea typeface="Cambria" panose="02040503050406030204" pitchFamily="18" charset="0"/>
              </a:rPr>
              <a:t>(object program) </a:t>
            </a:r>
            <a:r>
              <a:rPr lang="vi-VN" altLang="zh-CN" sz="2500">
                <a:ea typeface="Cambria" panose="02040503050406030204" pitchFamily="18" charset="0"/>
              </a:rPr>
              <a:t>là chương trình</a:t>
            </a:r>
            <a:r>
              <a:rPr lang="en-US" altLang="zh-CN" sz="2500">
                <a:ea typeface="Cambria" panose="02040503050406030204" pitchFamily="18" charset="0"/>
              </a:rPr>
              <a:t> </a:t>
            </a:r>
            <a:r>
              <a:rPr lang="vi-VN" altLang="zh-CN" sz="2500">
                <a:ea typeface="Cambria" panose="02040503050406030204" pitchFamily="18" charset="0"/>
              </a:rPr>
              <a:t>ngôn ngữ máy được tạo ra.</a:t>
            </a:r>
          </a:p>
          <a:p>
            <a:pPr marL="457200" lvl="1" indent="0">
              <a:buNone/>
            </a:pPr>
            <a:endParaRPr lang="vi-VN" altLang="zh-CN" sz="2500"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vi-VN" altLang="zh-CN" sz="2500"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2500">
              <a:ea typeface="Cambria" panose="02040503050406030204" pitchFamily="18" charset="0"/>
            </a:endParaRPr>
          </a:p>
          <a:p>
            <a:endParaRPr lang="en-US" sz="25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2D69E1-7D90-FDB2-AB06-2A59F56A51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847"/>
          <a:stretch/>
        </p:blipFill>
        <p:spPr>
          <a:xfrm>
            <a:off x="7409199" y="2524125"/>
            <a:ext cx="4223252" cy="25283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34730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C7D38-8F94-D087-463E-00F48395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Trình biên dịch(Compiler)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5CBBD-AB4C-5763-3B6B-AE3EEB7EE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vi-VN" altLang="zh-CN" sz="2500">
                <a:ea typeface="Cambria" panose="02040503050406030204" pitchFamily="18" charset="0"/>
              </a:rPr>
              <a:t>Thực hiện</a:t>
            </a:r>
            <a:endParaRPr lang="en-US" altLang="zh-CN" sz="2500">
              <a:ea typeface="Cambria" panose="02040503050406030204" pitchFamily="18" charset="0"/>
            </a:endParaRPr>
          </a:p>
          <a:p>
            <a:pPr lvl="1"/>
            <a:r>
              <a:rPr lang="vi-VN" altLang="zh-CN" sz="2500">
                <a:ea typeface="Cambria" panose="02040503050406030204" pitchFamily="18" charset="0"/>
              </a:rPr>
              <a:t>Duyệt, kiểm tra cú pháp chương trình</a:t>
            </a:r>
            <a:endParaRPr lang="en-US" altLang="zh-CN" sz="2500">
              <a:ea typeface="Cambria" panose="02040503050406030204" pitchFamily="18" charset="0"/>
            </a:endParaRPr>
          </a:p>
          <a:p>
            <a:pPr lvl="1"/>
            <a:r>
              <a:rPr lang="vi-VN" altLang="zh-CN" sz="2500">
                <a:ea typeface="Cambria" panose="02040503050406030204" pitchFamily="18" charset="0"/>
              </a:rPr>
              <a:t>Kiểm tra logic và đảm bảo các dữ liệu được định nghĩa hợp lý</a:t>
            </a:r>
            <a:endParaRPr lang="en-US" altLang="zh-CN" sz="2500">
              <a:ea typeface="Cambria" panose="02040503050406030204" pitchFamily="18" charset="0"/>
            </a:endParaRPr>
          </a:p>
          <a:p>
            <a:pPr lvl="1"/>
            <a:r>
              <a:rPr lang="vi-VN" altLang="zh-CN" sz="2500">
                <a:ea typeface="Cambria" panose="02040503050406030204" pitchFamily="18" charset="0"/>
              </a:rPr>
              <a:t>Phát hiện và tạo ra một danh sách lỗi cú pháp</a:t>
            </a:r>
          </a:p>
          <a:p>
            <a:pPr marL="0" indent="0">
              <a:buNone/>
            </a:pPr>
            <a:endParaRPr lang="vi-VN" altLang="zh-CN" sz="2500" b="1"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vi-VN" altLang="zh-CN" sz="2500" b="1" i="1">
                <a:ea typeface="Cambria" panose="02040503050406030204" pitchFamily="18" charset="0"/>
              </a:rPr>
              <a:t>Phương pháp dịch này thuận tiện cho các chương</a:t>
            </a:r>
            <a:r>
              <a:rPr lang="en-US" altLang="zh-CN" sz="2500" b="1" i="1">
                <a:ea typeface="Cambria" panose="02040503050406030204" pitchFamily="18" charset="0"/>
              </a:rPr>
              <a:t> </a:t>
            </a:r>
            <a:r>
              <a:rPr lang="vi-VN" altLang="zh-CN" sz="2500" b="1" i="1">
                <a:ea typeface="Cambria" panose="02040503050406030204" pitchFamily="18" charset="0"/>
              </a:rPr>
              <a:t>trình ổn định và cần thực hiện nhiều lần.</a:t>
            </a:r>
            <a:endParaRPr lang="en-US" altLang="zh-CN" sz="2500" b="1" i="1">
              <a:ea typeface="Cambria" panose="02040503050406030204" pitchFamily="18" charset="0"/>
            </a:endParaRPr>
          </a:p>
          <a:p>
            <a:endParaRPr lang="en-US" sz="2500"/>
          </a:p>
        </p:txBody>
      </p:sp>
    </p:spTree>
    <p:extLst>
      <p:ext uri="{BB962C8B-B14F-4D97-AF65-F5344CB8AC3E}">
        <p14:creationId xmlns:p14="http://schemas.microsoft.com/office/powerpoint/2010/main" val="4112411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0AC63-B0AB-88DE-5226-75A28E254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vi-VN" altLang="zh-CN" sz="5000"/>
              <a:t>Trình Thông Dịch (Interpreter)</a:t>
            </a:r>
            <a:endParaRPr lang="en-US" sz="5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F072B-4788-3FDA-8B7A-67DE39D71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vi-VN" altLang="zh-CN" sz="2500">
                <a:ea typeface="Cambria" panose="02040503050406030204" pitchFamily="18" charset="0"/>
              </a:rPr>
              <a:t>Lần lượt dịch và thực hiện từng câu lệnh một.</a:t>
            </a:r>
            <a:endParaRPr lang="en-US" altLang="zh-CN" sz="2500">
              <a:ea typeface="Cambria" panose="020405030504060302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vi-VN" altLang="zh-CN" sz="2500">
                <a:ea typeface="Cambria" panose="02040503050406030204" pitchFamily="18" charset="0"/>
              </a:rPr>
              <a:t>Mỗi lần chạy chương trình là mỗi lần chương trình</a:t>
            </a:r>
            <a:r>
              <a:rPr lang="en-US" altLang="zh-CN" sz="2500">
                <a:ea typeface="Cambria" panose="02040503050406030204" pitchFamily="18" charset="0"/>
              </a:rPr>
              <a:t> </a:t>
            </a:r>
            <a:r>
              <a:rPr lang="vi-VN" altLang="zh-CN" sz="2500">
                <a:ea typeface="Cambria" panose="02040503050406030204" pitchFamily="18" charset="0"/>
              </a:rPr>
              <a:t>nguồn được </a:t>
            </a:r>
            <a:r>
              <a:rPr lang="en-US" altLang="zh-CN" sz="2500">
                <a:ea typeface="Cambria" panose="02040503050406030204" pitchFamily="18" charset="0"/>
              </a:rPr>
              <a:t>t</a:t>
            </a:r>
            <a:r>
              <a:rPr lang="vi-VN" altLang="zh-CN" sz="2500">
                <a:ea typeface="Cambria" panose="02040503050406030204" pitchFamily="18" charset="0"/>
              </a:rPr>
              <a:t>hông dịch sang ngôn ngữ máy.</a:t>
            </a:r>
            <a:endParaRPr lang="en-US" altLang="zh-CN" sz="2500">
              <a:ea typeface="Cambria" panose="020405030504060302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vi-VN" altLang="zh-CN" sz="2500">
                <a:ea typeface="Cambria" panose="02040503050406030204" pitchFamily="18" charset="0"/>
              </a:rPr>
              <a:t>Ưu điểm</a:t>
            </a:r>
            <a:r>
              <a:rPr lang="en-US" altLang="zh-CN" sz="2500">
                <a:ea typeface="Cambria" panose="02040503050406030204" pitchFamily="18" charset="0"/>
              </a:rPr>
              <a:t>: </a:t>
            </a:r>
            <a:r>
              <a:rPr lang="vi-VN" altLang="zh-CN" sz="2500">
                <a:ea typeface="Cambria" panose="02040503050406030204" pitchFamily="18" charset="0"/>
              </a:rPr>
              <a:t>Có thể chạy một chương trình vẫn còn lỗi cú pháp.</a:t>
            </a:r>
            <a:endParaRPr lang="en-US" altLang="zh-CN" sz="2500">
              <a:ea typeface="Cambria" panose="020405030504060302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vi-VN" altLang="zh-CN" sz="2500">
                <a:ea typeface="Cambria" panose="02040503050406030204" pitchFamily="18" charset="0"/>
              </a:rPr>
              <a:t>Nhược điểm</a:t>
            </a:r>
            <a:r>
              <a:rPr lang="en-US" altLang="zh-CN" sz="2500">
                <a:ea typeface="Cambria" panose="02040503050406030204" pitchFamily="18" charset="0"/>
              </a:rPr>
              <a:t>: </a:t>
            </a:r>
            <a:r>
              <a:rPr lang="vi-VN" altLang="zh-CN" sz="2500">
                <a:ea typeface="Cambria" panose="02040503050406030204" pitchFamily="18" charset="0"/>
              </a:rPr>
              <a:t>Chậm hơn các chương trình được biên dịch</a:t>
            </a:r>
            <a:endParaRPr lang="vi-VN" altLang="zh-CN" sz="2500" b="1" i="1">
              <a:ea typeface="Cambria" panose="020405030504060302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500">
              <a:ea typeface="Cambria" panose="02040503050406030204" pitchFamily="18" charset="0"/>
            </a:endParaRPr>
          </a:p>
          <a:p>
            <a:endParaRPr lang="en-US" sz="2500"/>
          </a:p>
        </p:txBody>
      </p:sp>
    </p:spTree>
    <p:extLst>
      <p:ext uri="{BB962C8B-B14F-4D97-AF65-F5344CB8AC3E}">
        <p14:creationId xmlns:p14="http://schemas.microsoft.com/office/powerpoint/2010/main" val="3146036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DCF93-37C6-1697-0B83-510C8A6B3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vi-VN" altLang="zh-CN" sz="5400"/>
              <a:t>Trình Thông Dịch (Interpreter)</a:t>
            </a:r>
            <a:endParaRPr lang="en-US"/>
          </a:p>
        </p:txBody>
      </p:sp>
      <p:pic>
        <p:nvPicPr>
          <p:cNvPr id="4" name="Content Placeholder 3" descr="A diagram of a language&#10;&#10;Description automatically generated">
            <a:extLst>
              <a:ext uri="{FF2B5EF4-FFF2-40B4-BE49-F238E27FC236}">
                <a16:creationId xmlns:a16="http://schemas.microsoft.com/office/drawing/2014/main" id="{EC0CFC0C-DAF7-79A8-6705-FE092B196A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940" t="17989" r="1671" b="5"/>
          <a:stretch/>
        </p:blipFill>
        <p:spPr>
          <a:xfrm>
            <a:off x="2617386" y="2305652"/>
            <a:ext cx="6957227" cy="350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922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376E3-4D3F-B211-D50E-109628DBA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598C8-CDDD-DB96-CA06-7A475EC10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4360C2-EACD-FF6C-1A58-C4AD6FF1EAE4}"/>
              </a:ext>
            </a:extLst>
          </p:cNvPr>
          <p:cNvSpPr/>
          <p:nvPr/>
        </p:nvSpPr>
        <p:spPr>
          <a:xfrm>
            <a:off x="4265851" y="2967335"/>
            <a:ext cx="366029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85816027"/>
      </p:ext>
    </p:extLst>
  </p:cSld>
  <p:clrMapOvr>
    <a:masterClrMapping/>
  </p:clrMapOvr>
</p:sld>
</file>

<file path=ppt/theme/theme1.xml><?xml version="1.0" encoding="utf-8"?>
<a:theme xmlns:a="http://schemas.openxmlformats.org/drawingml/2006/main" name="FadeVTI">
  <a:themeElements>
    <a:clrScheme name="gradient">
      <a:dk1>
        <a:sysClr val="windowText" lastClr="000000"/>
      </a:dk1>
      <a:lt1>
        <a:sysClr val="window" lastClr="FFFFFF"/>
      </a:lt1>
      <a:dk2>
        <a:srgbClr val="203040"/>
      </a:dk2>
      <a:lt2>
        <a:srgbClr val="ECF0F0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DA2A69"/>
      </a:accent6>
      <a:hlink>
        <a:srgbClr val="3E8FF1"/>
      </a:hlink>
      <a:folHlink>
        <a:srgbClr val="939393"/>
      </a:folHlink>
    </a:clrScheme>
    <a:fontScheme name="Custom 49">
      <a:majorFont>
        <a:latin typeface="Aharon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deVTI" id="{1194088A-B135-4437-9FD8-7466BBC13A13}" vid="{B787DE2F-1995-45D8-A8E2-6B5CC521AC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285</TotalTime>
  <Words>479</Words>
  <Application>Microsoft Office PowerPoint</Application>
  <PresentationFormat>Widescreen</PresentationFormat>
  <Paragraphs>52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Aharoni</vt:lpstr>
      <vt:lpstr>Arial</vt:lpstr>
      <vt:lpstr>Avenir Next LT Pro</vt:lpstr>
      <vt:lpstr>Cambria</vt:lpstr>
      <vt:lpstr>Times New Roman</vt:lpstr>
      <vt:lpstr>Wingdings</vt:lpstr>
      <vt:lpstr>FadeVTI</vt:lpstr>
      <vt:lpstr>NGÔN NGỮ LẬP TRÌNH PYTHON</vt:lpstr>
      <vt:lpstr>Nội dung</vt:lpstr>
      <vt:lpstr>Chương 1: Tổng quan</vt:lpstr>
      <vt:lpstr>Tổng quan ngôn ngữ lập trình Python</vt:lpstr>
      <vt:lpstr>Tổng quan ngôn ngữ lập trình Python</vt:lpstr>
      <vt:lpstr>Tổng quan ngôn ngữ lập trình Python</vt:lpstr>
      <vt:lpstr>Trình biên dịch(Compiler)</vt:lpstr>
      <vt:lpstr>Trình biên dịch(Compiler)</vt:lpstr>
      <vt:lpstr>Trình Thông Dịch (Interpreter)</vt:lpstr>
      <vt:lpstr>Trình Thông Dịch (Interpreter)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TG - Huỳnh Thanh Việt - 2001202168</dc:creator>
  <cp:lastModifiedBy>TG - Huỳnh Thanh Việt - 2001202168</cp:lastModifiedBy>
  <cp:revision>4</cp:revision>
  <dcterms:created xsi:type="dcterms:W3CDTF">2024-07-15T02:17:35Z</dcterms:created>
  <dcterms:modified xsi:type="dcterms:W3CDTF">2024-07-15T17:06:51Z</dcterms:modified>
</cp:coreProperties>
</file>